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9" r:id="rId4"/>
    <p:sldId id="313" r:id="rId5"/>
    <p:sldId id="314" r:id="rId6"/>
    <p:sldId id="315" r:id="rId7"/>
    <p:sldId id="316" r:id="rId8"/>
    <p:sldId id="312" r:id="rId9"/>
    <p:sldId id="311" r:id="rId10"/>
    <p:sldId id="306" r:id="rId11"/>
    <p:sldId id="30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804"/>
    <a:srgbClr val="F4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8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43A7E-303A-4EAA-864C-611EED392E65}" type="datetimeFigureOut">
              <a:rPr kumimoji="1" lang="ja-JP" altLang="en-US" smtClean="0"/>
              <a:t>2025/4/29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39EA8-FF6E-487D-8017-26A51A4403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35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197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50D6-A680-315A-BE1D-BC9172A2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FEA44C-8C15-E719-49F6-1365B723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08E053-7330-0B4C-2807-8C0B858E7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3B921-5587-19BC-3E02-07109B72C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68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0B036A8-3716-4984-BEA1-BFA05709FBD0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グラフィックス 11" descr="月毎カレンダー">
            <a:extLst>
              <a:ext uri="{FF2B5EF4-FFF2-40B4-BE49-F238E27FC236}">
                <a16:creationId xmlns:a16="http://schemas.microsoft.com/office/drawing/2014/main" id="{16A5C23C-AC82-4AF1-ABCF-5DCF31229C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3" name="グラフィックス 12" descr="時計">
            <a:extLst>
              <a:ext uri="{FF2B5EF4-FFF2-40B4-BE49-F238E27FC236}">
                <a16:creationId xmlns:a16="http://schemas.microsoft.com/office/drawing/2014/main" id="{B17CE49E-F1A4-4143-9EC2-B5F7EB71DD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A7BEB9-F351-4CB4-AC09-6557D41A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B6A195E-2386-4B3E-8997-DB98D5D1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90559-414D-440F-B60E-2E11609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38EFE1-5047-4120-91D8-B38B928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83690-B423-4AB6-B70A-42FDB82C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9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BF5DC2-C09F-4ABA-8D58-1983792C8256}"/>
              </a:ext>
            </a:extLst>
          </p:cNvPr>
          <p:cNvSpPr/>
          <p:nvPr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C4C8B1-2AF8-4AD4-9335-90DBF3E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033B43-6246-4F8F-8EBC-97DFFE53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CDC6133-E775-4AC7-B0CB-06DA0590B50D}"/>
              </a:ext>
            </a:extLst>
          </p:cNvPr>
          <p:cNvCxnSpPr>
            <a:cxnSpLocks/>
          </p:cNvCxnSpPr>
          <p:nvPr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11DAC5A-3295-4699-B780-85682452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483" y="6380253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/>
              <a:t>Day3</a:t>
            </a:r>
            <a:endParaRPr lang="ja-JP" alt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96B9B820-4BF8-4E49-AE82-B3E19219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811" y="6380253"/>
            <a:ext cx="10324672" cy="477747"/>
          </a:xfrm>
          <a:noFill/>
        </p:spPr>
        <p:txBody>
          <a:bodyPr vert="horz"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2971BC73-1BC4-492F-9655-EE928B5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78961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E2209A-34C2-442B-8860-AD934E3A55A7}"/>
              </a:ext>
            </a:extLst>
          </p:cNvPr>
          <p:cNvSpPr/>
          <p:nvPr userDrawn="1"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A23B75A-ECFC-445D-BF95-D1227263344A}"/>
              </a:ext>
            </a:extLst>
          </p:cNvPr>
          <p:cNvCxnSpPr>
            <a:cxnSpLocks/>
          </p:cNvCxnSpPr>
          <p:nvPr userDrawn="1"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ABC7CE-F688-4A8F-BAF4-FE8FF46C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91292F-7D3C-4B8B-8049-878DE3F8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0AD08-B9D5-4686-AE1E-5008D7F45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42FC32-2173-41D7-A238-5C31D06F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3C2DE7-212B-49F8-8F87-F24BBC55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0B284-F90B-4A8D-B496-EE9CCD66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24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BA9B40-5515-453E-A67A-F1B4D4E1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8302A9B-D2C1-4740-A595-87B27EA2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96EF2C-0AF8-4483-8381-18D47F489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D45F41-0A50-4141-B1FB-85C417B3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319A25-B3C7-4A4C-9DBF-D8EEA0238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B0157E-EEB7-4D33-8037-E7E286F77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8037F7-7442-42BB-BB8C-C310F6E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73174-C29E-4FF4-B05C-9F45D1DD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8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9323D3-D052-407A-AE0F-D8C2F68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D8392C-15E6-4570-AB43-D6B5BF72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9DEACB-116C-4736-97EF-3B57F3E2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4D71C1-D913-4D0E-82AD-25C6F594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29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94BA8F-8DBE-475F-87FE-8ACFAF52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BFF62E-96EE-4231-B1C9-D657627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5E5E13-27C9-46C8-9CFD-7A34CEE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40D56-CEEA-4384-A1F8-D367844F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E818FD-EA9B-4E48-99A9-10D41BF2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E8A80-BFAB-4C55-BB0E-3B1D036B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BB79B4-7E3C-49BA-9702-8601BF27D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25AD8E-F37B-488E-8604-699084B3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955EC4-1391-42FE-9B3D-F421AD4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9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5C4C1-2FE9-4245-91D9-0138ABDB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81DB02F-0ACD-4339-A75B-8603B0E0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05EE95-5C39-4306-BCE1-DEC15EF1B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79E88F-F032-4489-B1F6-D566D7067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384769-9FFF-4ABB-A0C9-9BB2275A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9AC5CA-ADF8-4B9A-A407-0A3FC6B5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1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E9B60-6531-4AE1-87CF-F0CE6851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ABC920-F3A4-4B0A-8A1D-8D79027E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B12F9F-2130-47A7-A03E-1928F4E4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A3FBC-7F96-4247-B1F2-82C0093C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CFDA1-7F5E-4F67-9B7F-AC642ECD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1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D7633-53D5-4CD9-B1F6-6F6F676E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20FCA0-11BB-42EE-BB70-BEC254BB0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533B9-976C-4790-A744-E491A4D80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44A12-C401-4D53-85D8-3F870823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0D075-5891-480B-83A9-24F20CD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9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204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4DF46-83CA-4961-801C-3A24B88A3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tx2"/>
          </a:solidFill>
        </p:spPr>
        <p:txBody>
          <a:bodyPr vert="eaVert" lIns="91440" tIns="45720" rIns="91440" bIns="45720" rtlCol="0" anchor="ctr" anchorCtr="1"/>
          <a:lstStyle>
            <a:lvl1pPr algn="ctr">
              <a:defRPr sz="48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023398-9735-40FB-A1FF-7FF9FE1B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270" y="365125"/>
            <a:ext cx="9998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2B6D4-B4E5-4551-8273-E9016348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5270" y="1825625"/>
            <a:ext cx="9998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5E206F-13E2-416D-8551-770892109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811838"/>
            <a:ext cx="838200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 anchorCtr="1"/>
          <a:lstStyle>
            <a:lvl1pPr algn="l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ja-JP"/>
              <a:t>Day3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7E8EED-E703-4D93-9948-8F9A5AACE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6963"/>
            <a:ext cx="838200" cy="681037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2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38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FE74A-92E8-4E4E-AF1C-A28EB01DD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情報</a:t>
            </a:r>
            <a:br>
              <a:rPr kumimoji="1" lang="ja-JP" altLang="en-US" dirty="0"/>
            </a:br>
            <a:r>
              <a:rPr kumimoji="1" lang="ja-JP" altLang="en-US" dirty="0"/>
              <a:t>科学Ｃ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F62C0-83E8-4BAB-B39E-0A7A68E39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300" dirty="0"/>
              <a:t>横山昌平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E7356E-CCD3-482D-B0A7-45E57E7C8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ja-JP" sz="1550" dirty="0"/>
              <a:t>Computer Science C</a:t>
            </a:r>
            <a:endParaRPr kumimoji="1" lang="ja-JP" altLang="en-US" sz="155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FD8162-4AA4-485E-A91A-6B1886208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ts val="1600"/>
              </a:lnSpc>
            </a:pPr>
            <a:r>
              <a:rPr kumimoji="1" lang="en-US" altLang="ja-JP" dirty="0"/>
              <a:t>LG080A01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B8957ED-CA55-49F7-84D2-0D8EE491D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第１ターム</a:t>
            </a:r>
            <a:r>
              <a:rPr kumimoji="1" lang="ja-JP" altLang="en-US" dirty="0"/>
              <a:t>・水曜日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0E9AF57-5F2F-46AF-BC5E-4847C5465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五時限目</a:t>
            </a:r>
          </a:p>
        </p:txBody>
      </p:sp>
    </p:spTree>
    <p:extLst>
      <p:ext uri="{BB962C8B-B14F-4D97-AF65-F5344CB8AC3E}">
        <p14:creationId xmlns:p14="http://schemas.microsoft.com/office/powerpoint/2010/main" val="261439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8875D5-3151-4F32-B162-8E5885C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DAA8EA-7FBB-4F2E-91EB-63E6329C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年度 講義日程</a:t>
            </a:r>
            <a:endParaRPr kumimoji="1" lang="ja-JP" altLang="en-US" dirty="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B9D9CDA9-57A4-4499-80A3-E4FDBFD7F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07079"/>
              </p:ext>
            </p:extLst>
          </p:nvPr>
        </p:nvGraphicFramePr>
        <p:xfrm>
          <a:off x="1047699" y="1690688"/>
          <a:ext cx="10306101" cy="37084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781655">
                  <a:extLst>
                    <a:ext uri="{9D8B030D-6E8A-4147-A177-3AD203B41FA5}">
                      <a16:colId xmlns:a16="http://schemas.microsoft.com/office/drawing/2014/main" val="2758299451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308317790"/>
                    </a:ext>
                  </a:extLst>
                </a:gridCol>
                <a:gridCol w="4274025">
                  <a:extLst>
                    <a:ext uri="{9D8B030D-6E8A-4147-A177-3AD203B41FA5}">
                      <a16:colId xmlns:a16="http://schemas.microsoft.com/office/drawing/2014/main" val="348952505"/>
                    </a:ext>
                  </a:extLst>
                </a:gridCol>
                <a:gridCol w="4525771">
                  <a:extLst>
                    <a:ext uri="{9D8B030D-6E8A-4147-A177-3AD203B41FA5}">
                      <a16:colId xmlns:a16="http://schemas.microsoft.com/office/drawing/2014/main" val="24784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#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講義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演習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宿題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予習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9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4/16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ガイダンス＆</a:t>
                      </a:r>
                      <a:r>
                        <a:rPr kumimoji="1" lang="en-US" altLang="ja-JP" sz="1600" dirty="0"/>
                        <a:t>Google </a:t>
                      </a:r>
                      <a:r>
                        <a:rPr kumimoji="1" lang="en-US" altLang="ja-JP" sz="1600" dirty="0" err="1"/>
                        <a:t>Colab</a:t>
                      </a:r>
                      <a:r>
                        <a:rPr kumimoji="1" lang="ja-JP" altLang="en-US" sz="1600" dirty="0"/>
                        <a:t>に触ってみる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リテラル／データ構造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0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4/23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リテラル／データ構造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演算子／制御構文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7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4/30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演算子／制御構文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5/07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数値処理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2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5/14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数値処理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可視化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0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可視化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機械学習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機械学習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endParaRPr kumimoji="1" lang="en-US" altLang="ja-JP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6/04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7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6/18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最終レポート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期限</a:t>
                      </a:r>
                      <a:r>
                        <a:rPr kumimoji="1" lang="en-US" altLang="ja-JP" sz="1600" dirty="0"/>
                        <a:t>6</a:t>
                      </a:r>
                      <a:r>
                        <a:rPr kumimoji="1" lang="ja-JP" altLang="en-US" sz="1600" dirty="0"/>
                        <a:t>月末</a:t>
                      </a:r>
                      <a:r>
                        <a:rPr kumimoji="1" lang="en-US" altLang="ja-JP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71788"/>
                  </a:ext>
                </a:extLst>
              </a:tr>
            </a:tbl>
          </a:graphicData>
        </a:graphic>
      </p:graphicFrame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C59E9-E7E3-48FF-903C-F87318E4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2205E-8A53-4437-90B8-E8B58C2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953FC1-7C30-4DA7-BCEC-C1E2ECA25E08}"/>
              </a:ext>
            </a:extLst>
          </p:cNvPr>
          <p:cNvSpPr txBox="1"/>
          <p:nvPr/>
        </p:nvSpPr>
        <p:spPr>
          <a:xfrm>
            <a:off x="1047699" y="5661878"/>
            <a:ext cx="10781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内容は進捗に応じて適宜変更する。</a:t>
            </a:r>
            <a:endParaRPr lang="en-US" altLang="ja-JP" sz="2400" dirty="0"/>
          </a:p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本講義は演習を織り交ぜて行うので</a:t>
            </a:r>
            <a:r>
              <a:rPr lang="en-US" altLang="ja-JP" sz="2400" dirty="0"/>
              <a:t>PC</a:t>
            </a:r>
            <a:r>
              <a:rPr lang="ja-JP" altLang="en-US" sz="2400" dirty="0"/>
              <a:t>を持ってくること。</a:t>
            </a:r>
          </a:p>
        </p:txBody>
      </p:sp>
    </p:spTree>
    <p:extLst>
      <p:ext uri="{BB962C8B-B14F-4D97-AF65-F5344CB8AC3E}">
        <p14:creationId xmlns:p14="http://schemas.microsoft.com/office/powerpoint/2010/main" val="21742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第３回　</a:t>
            </a:r>
            <a:r>
              <a:rPr kumimoji="1" lang="ja-JP" altLang="en-US" sz="2400" dirty="0"/>
              <a:t>演算子／制御構文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617532-72A8-4D77-B75C-DB0447AE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83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AFCEC-8A6E-AA99-A7DD-8CE3C747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情報科学ｃ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8819AB71-0721-4414-265D-70A1C519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予習テキストで学んだ事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02A59D4F-CCF2-27D9-CEF2-CD414083A3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演算子</a:t>
            </a:r>
          </a:p>
          <a:p>
            <a:pPr lvl="1"/>
            <a:r>
              <a:rPr lang="ja-JP" altLang="en-US" dirty="0"/>
              <a:t>代入演算子</a:t>
            </a:r>
            <a:endParaRPr lang="en-US" altLang="ja-JP" dirty="0"/>
          </a:p>
          <a:p>
            <a:pPr lvl="1"/>
            <a:r>
              <a:rPr lang="ja-JP" altLang="en-US" dirty="0"/>
              <a:t>算術演算子</a:t>
            </a:r>
            <a:endParaRPr lang="en-US" altLang="ja-JP" dirty="0"/>
          </a:p>
          <a:p>
            <a:pPr lvl="1"/>
            <a:r>
              <a:rPr lang="ja-JP" altLang="en-US" dirty="0"/>
              <a:t>累算代入演算子</a:t>
            </a:r>
            <a:endParaRPr lang="en-US" altLang="ja-JP" dirty="0"/>
          </a:p>
          <a:p>
            <a:pPr lvl="1"/>
            <a:r>
              <a:rPr lang="ja-JP" altLang="en-US" dirty="0"/>
              <a:t>比較演算子</a:t>
            </a:r>
            <a:endParaRPr lang="en-US" altLang="ja-JP" dirty="0"/>
          </a:p>
          <a:p>
            <a:pPr lvl="1"/>
            <a:r>
              <a:rPr lang="ja-JP" altLang="en-US" dirty="0"/>
              <a:t>ブール演算子</a:t>
            </a:r>
            <a:endParaRPr lang="en-US" altLang="ja-JP" dirty="0"/>
          </a:p>
          <a:p>
            <a:pPr lvl="1"/>
            <a:r>
              <a:rPr lang="ja-JP" altLang="en-US" dirty="0"/>
              <a:t>ビット演算子</a:t>
            </a:r>
            <a:endParaRPr lang="en-US" altLang="ja-JP" dirty="0"/>
          </a:p>
          <a:p>
            <a:pPr lvl="1"/>
            <a:r>
              <a:rPr lang="ja-JP" altLang="en-US" dirty="0"/>
              <a:t>シフト演算子</a:t>
            </a:r>
            <a:endParaRPr lang="en-US" altLang="ja-JP" dirty="0"/>
          </a:p>
          <a:p>
            <a:pPr lvl="1"/>
            <a:r>
              <a:rPr lang="ja-JP" altLang="en-US" dirty="0"/>
              <a:t>三項演算子</a:t>
            </a:r>
            <a:endParaRPr lang="en-US" altLang="ja-JP" dirty="0"/>
          </a:p>
          <a:p>
            <a:pPr lvl="1"/>
            <a:r>
              <a:rPr lang="ja-JP" altLang="en-US" dirty="0"/>
              <a:t>セイウチ演算子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F1EF0F1-51EC-3148-5BB4-A9555422C2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ja-JP" altLang="en-US" dirty="0"/>
              <a:t>制御構文</a:t>
            </a:r>
          </a:p>
          <a:p>
            <a:pPr lvl="2"/>
            <a:r>
              <a:rPr lang="en-US" altLang="ja-JP" dirty="0"/>
              <a:t>if</a:t>
            </a:r>
            <a:r>
              <a:rPr lang="ja-JP" altLang="en-US" dirty="0"/>
              <a:t>文</a:t>
            </a:r>
          </a:p>
          <a:p>
            <a:pPr lvl="2"/>
            <a:r>
              <a:rPr lang="en-US" altLang="ja-JP" dirty="0"/>
              <a:t>match</a:t>
            </a:r>
            <a:r>
              <a:rPr lang="ja-JP" altLang="en-US" dirty="0"/>
              <a:t>文</a:t>
            </a:r>
          </a:p>
          <a:p>
            <a:pPr lvl="2"/>
            <a:r>
              <a:rPr lang="en-US" altLang="ja-JP" dirty="0"/>
              <a:t>while</a:t>
            </a:r>
            <a:r>
              <a:rPr lang="ja-JP" altLang="en-US" dirty="0"/>
              <a:t>文</a:t>
            </a:r>
          </a:p>
          <a:p>
            <a:pPr lvl="2"/>
            <a:r>
              <a:rPr lang="en-US" altLang="ja-JP" dirty="0"/>
              <a:t>for</a:t>
            </a:r>
            <a:r>
              <a:rPr lang="ja-JP" altLang="en-US" dirty="0"/>
              <a:t>文</a:t>
            </a:r>
          </a:p>
          <a:p>
            <a:pPr lvl="2"/>
            <a:r>
              <a:rPr lang="en-US" altLang="ja-JP" dirty="0"/>
              <a:t>try</a:t>
            </a:r>
            <a:r>
              <a:rPr lang="ja-JP" altLang="en-US" dirty="0"/>
              <a:t>文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0906CB-64DC-B653-3209-0F53F1D5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Day3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8E9A5A-087C-397D-9D0C-6A1F49A8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4B824C-A6A9-3B09-2977-9C27FF255836}"/>
              </a:ext>
            </a:extLst>
          </p:cNvPr>
          <p:cNvSpPr txBox="1"/>
          <p:nvPr/>
        </p:nvSpPr>
        <p:spPr>
          <a:xfrm>
            <a:off x="5001208" y="5033816"/>
            <a:ext cx="6774025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ja-JP" altLang="en-US" sz="2800" dirty="0"/>
              <a:t>今日の説明パートは「空の</a:t>
            </a:r>
            <a:r>
              <a:rPr lang="en-US" altLang="ja-JP" sz="2800" dirty="0" err="1"/>
              <a:t>Colab</a:t>
            </a:r>
            <a:r>
              <a:rPr lang="ja-JP" altLang="en-US" sz="2800" dirty="0"/>
              <a:t>ノート」を開いて例示のコードを手元でも書きつつ、説明を聞くとわかりやすいかも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6217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EF75142-0DDC-4EE1-6708-C05F3C1F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情</a:t>
            </a:r>
            <a:r>
              <a:rPr kumimoji="1" lang="ja-JP" altLang="en-US" dirty="0">
                <a:solidFill>
                  <a:srgbClr val="E0E804"/>
                </a:solidFill>
              </a:rPr>
              <a:t>報</a:t>
            </a:r>
            <a:r>
              <a:rPr kumimoji="1" lang="ja-JP" altLang="en-US" dirty="0"/>
              <a:t>科学ｃ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D1589206-7EC5-1567-F91C-B0E6C910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三項演算子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80D128A7-55C1-1CA6-819E-8C5C367A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/>
          </a:p>
          <a:p>
            <a:r>
              <a:rPr lang="ja-JP" altLang="en-US" dirty="0"/>
              <a:t>変数</a:t>
            </a:r>
            <a:r>
              <a:rPr lang="en-US" altLang="ja-JP" dirty="0"/>
              <a:t>x</a:t>
            </a:r>
            <a:r>
              <a:rPr lang="ja-JP" altLang="en-US" dirty="0"/>
              <a:t>が偶数なら</a:t>
            </a:r>
            <a:r>
              <a:rPr lang="en-US" altLang="ja-JP" dirty="0"/>
              <a:t>”even”</a:t>
            </a:r>
            <a:r>
              <a:rPr lang="ja-JP" altLang="en-US" dirty="0"/>
              <a:t>、それ以外なら</a:t>
            </a:r>
            <a:r>
              <a:rPr lang="en-US" altLang="ja-JP" dirty="0"/>
              <a:t>”odd”</a:t>
            </a:r>
            <a:r>
              <a:rPr lang="ja-JP" altLang="en-US" dirty="0"/>
              <a:t>を出力せよ</a:t>
            </a:r>
            <a:endParaRPr lang="en-US" altLang="ja-JP" dirty="0"/>
          </a:p>
          <a:p>
            <a:pPr lvl="1"/>
            <a:r>
              <a:rPr lang="ja-JP" altLang="en-US" dirty="0"/>
              <a:t>初心者</a:t>
            </a:r>
          </a:p>
          <a:p>
            <a:pPr lvl="1"/>
            <a:endParaRPr lang="ja-JP" altLang="en-US" dirty="0"/>
          </a:p>
          <a:p>
            <a:pPr lvl="1"/>
            <a:endParaRPr lang="ja-JP" altLang="en-US" dirty="0"/>
          </a:p>
          <a:p>
            <a:pPr lvl="1"/>
            <a:endParaRPr lang="ja-JP" altLang="en-US" dirty="0"/>
          </a:p>
          <a:p>
            <a:pPr lvl="1"/>
            <a:endParaRPr lang="ja-JP" altLang="en-US" dirty="0"/>
          </a:p>
          <a:p>
            <a:pPr lvl="1"/>
            <a:r>
              <a:rPr lang="ja-JP" altLang="en-US" dirty="0"/>
              <a:t>上級者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BAA102D0-5E8D-DA3F-0FA5-45D5C7B4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EFD125-E436-B4F8-5A09-4CA03976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BE3DD56-3D9D-7368-240D-ADAAD36D575B}"/>
              </a:ext>
            </a:extLst>
          </p:cNvPr>
          <p:cNvSpPr txBox="1"/>
          <p:nvPr/>
        </p:nvSpPr>
        <p:spPr>
          <a:xfrm>
            <a:off x="838200" y="-4207"/>
            <a:ext cx="6139543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E0E804"/>
                </a:solidFill>
                <a:latin typeface="+mj-lt"/>
              </a:rPr>
              <a:t>ちょいと難しいけど知っているとすこしだけ素敵な機能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CB4053-A44C-AC5B-2743-8E4C02701CCF}"/>
              </a:ext>
            </a:extLst>
          </p:cNvPr>
          <p:cNvSpPr txBox="1"/>
          <p:nvPr/>
        </p:nvSpPr>
        <p:spPr>
          <a:xfrm>
            <a:off x="1483567" y="5307682"/>
            <a:ext cx="9870232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ja-JP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ja-JP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"even"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%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"odd"</a:t>
            </a:r>
            <a:r>
              <a:rPr lang="en-US" altLang="ja-JP" b="0" dirty="0">
                <a:effectLst/>
                <a:latin typeface="Courier New" panose="02070309020205020404" pitchFamily="49" charset="0"/>
              </a:rPr>
              <a:t>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1F82040-E3FE-4A11-7281-9E3FBBDB5AC3}"/>
              </a:ext>
            </a:extLst>
          </p:cNvPr>
          <p:cNvSpPr txBox="1"/>
          <p:nvPr/>
        </p:nvSpPr>
        <p:spPr>
          <a:xfrm>
            <a:off x="1483567" y="3314687"/>
            <a:ext cx="9870232" cy="120032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%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ja-JP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ja-JP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"even"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ja-JP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ja-JP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"odd"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CC78B08-8C1D-19F8-766D-51223DDF0B8B}"/>
              </a:ext>
            </a:extLst>
          </p:cNvPr>
          <p:cNvSpPr/>
          <p:nvPr/>
        </p:nvSpPr>
        <p:spPr>
          <a:xfrm>
            <a:off x="3321698" y="5677014"/>
            <a:ext cx="1856792" cy="154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2FEC79B-FF6A-D8B8-202E-3CCDFF31784F}"/>
              </a:ext>
            </a:extLst>
          </p:cNvPr>
          <p:cNvSpPr/>
          <p:nvPr/>
        </p:nvSpPr>
        <p:spPr>
          <a:xfrm>
            <a:off x="5178490" y="5677015"/>
            <a:ext cx="1548881" cy="15461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618751C-44E5-3D91-E768-C59542EF069B}"/>
              </a:ext>
            </a:extLst>
          </p:cNvPr>
          <p:cNvSpPr/>
          <p:nvPr/>
        </p:nvSpPr>
        <p:spPr>
          <a:xfrm>
            <a:off x="2397967" y="5677014"/>
            <a:ext cx="923730" cy="15461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F6F8C21-A3A4-EF9F-63C0-516438EFBD4C}"/>
              </a:ext>
            </a:extLst>
          </p:cNvPr>
          <p:cNvSpPr txBox="1"/>
          <p:nvPr/>
        </p:nvSpPr>
        <p:spPr>
          <a:xfrm>
            <a:off x="3732245" y="5766510"/>
            <a:ext cx="1073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  <a:latin typeface="+mj-ea"/>
                <a:ea typeface="+mj-ea"/>
              </a:rPr>
              <a:t>条件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6E51EE6-D2E1-B3B9-29FD-2BBFF1A27FCE}"/>
              </a:ext>
            </a:extLst>
          </p:cNvPr>
          <p:cNvSpPr txBox="1"/>
          <p:nvPr/>
        </p:nvSpPr>
        <p:spPr>
          <a:xfrm>
            <a:off x="5159828" y="5766510"/>
            <a:ext cx="1567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solidFill>
                  <a:schemeClr val="accent5"/>
                </a:solidFill>
                <a:latin typeface="+mj-ea"/>
                <a:ea typeface="+mj-ea"/>
              </a:rPr>
              <a:t>False</a:t>
            </a:r>
            <a:r>
              <a:rPr kumimoji="1" lang="ja-JP" altLang="en-US" sz="1600" dirty="0">
                <a:solidFill>
                  <a:schemeClr val="accent5"/>
                </a:solidFill>
                <a:latin typeface="+mj-ea"/>
                <a:ea typeface="+mj-ea"/>
              </a:rPr>
              <a:t>なら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F3CF695-9AE0-ED32-216A-95B44E4CF2B4}"/>
              </a:ext>
            </a:extLst>
          </p:cNvPr>
          <p:cNvSpPr txBox="1"/>
          <p:nvPr/>
        </p:nvSpPr>
        <p:spPr>
          <a:xfrm>
            <a:off x="2304662" y="5766510"/>
            <a:ext cx="1073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solidFill>
                  <a:schemeClr val="accent4"/>
                </a:solidFill>
                <a:latin typeface="+mj-lt"/>
              </a:rPr>
              <a:t>Tru</a:t>
            </a:r>
            <a:r>
              <a:rPr kumimoji="1" lang="en-US" altLang="ja-JP" sz="1600" dirty="0">
                <a:solidFill>
                  <a:schemeClr val="accent4"/>
                </a:solidFill>
                <a:latin typeface="+mj-ea"/>
                <a:ea typeface="+mj-ea"/>
              </a:rPr>
              <a:t>e</a:t>
            </a:r>
            <a:r>
              <a:rPr kumimoji="1" lang="ja-JP" altLang="en-US" sz="1600" dirty="0">
                <a:solidFill>
                  <a:schemeClr val="accent4"/>
                </a:solidFill>
                <a:latin typeface="+mj-ea"/>
                <a:ea typeface="+mj-ea"/>
              </a:rPr>
              <a:t>なら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C91DF20-0E11-A14E-DC0F-409F421F6BE3}"/>
              </a:ext>
            </a:extLst>
          </p:cNvPr>
          <p:cNvSpPr txBox="1"/>
          <p:nvPr/>
        </p:nvSpPr>
        <p:spPr>
          <a:xfrm>
            <a:off x="1483567" y="1920670"/>
            <a:ext cx="9870232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altLang="ja-JP" dirty="0">
                <a:solidFill>
                  <a:srgbClr val="116644"/>
                </a:solidFill>
                <a:latin typeface="Courier New" panose="02070309020205020404" pitchFamily="49" charset="0"/>
              </a:rPr>
              <a:t>1192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677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BE0211E-1BF6-9B26-0C37-5CF830A1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D94A93D-F98C-257E-87A9-7C3071E3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セイウチ演算子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C0E4E7-BF5F-822A-3390-F15774845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代入と評価が一度にできる便利な演算子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ある整数がいくつか入ったリストが定義されていたとします。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そのリストを</a:t>
            </a:r>
            <a:r>
              <a:rPr kumimoji="1" lang="en-US" altLang="ja-JP" dirty="0"/>
              <a:t>pop()</a:t>
            </a:r>
            <a:r>
              <a:rPr lang="ja-JP" altLang="en-US" dirty="0"/>
              <a:t>して偶数かチェックします</a:t>
            </a:r>
            <a:r>
              <a:rPr lang="en-US" altLang="ja-JP" dirty="0"/>
              <a:t>(</a:t>
            </a:r>
            <a:r>
              <a:rPr lang="ja-JP" altLang="en-US" dirty="0"/>
              <a:t>リスト長回繰り返し</a:t>
            </a:r>
            <a:r>
              <a:rPr lang="en-US" altLang="ja-JP" dirty="0"/>
              <a:t>)</a:t>
            </a:r>
          </a:p>
          <a:p>
            <a:pPr lvl="1"/>
            <a:r>
              <a:rPr kumimoji="1" lang="ja-JP" altLang="en-US" dirty="0"/>
              <a:t>偶数だったらその数を</a:t>
            </a:r>
            <a:r>
              <a:rPr kumimoji="1" lang="en-US" altLang="ja-JP" dirty="0"/>
              <a:t>print</a:t>
            </a:r>
            <a:r>
              <a:rPr kumimoji="1" lang="ja-JP" altLang="en-US" dirty="0"/>
              <a:t>します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kumimoji="1" lang="ja-JP" altLang="en-US" dirty="0"/>
              <a:t>セイウチ演算子が解決します！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60E2E8-BAC2-0F2F-A900-9DD2E861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41F3CD-B505-4E54-995B-F28FA8F5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831DA0-F647-678F-559F-3D9B7B50FF4B}"/>
              </a:ext>
            </a:extLst>
          </p:cNvPr>
          <p:cNvSpPr txBox="1"/>
          <p:nvPr/>
        </p:nvSpPr>
        <p:spPr>
          <a:xfrm>
            <a:off x="6096000" y="566241"/>
            <a:ext cx="99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dirty="0">
                <a:latin typeface="+mj-ea"/>
                <a:ea typeface="+mj-ea"/>
              </a:rPr>
              <a:t>:=</a:t>
            </a:r>
            <a:endParaRPr kumimoji="1" lang="ja-JP" altLang="en-US" sz="5400" dirty="0">
              <a:latin typeface="+mj-ea"/>
              <a:ea typeface="+mj-ea"/>
            </a:endParaRPr>
          </a:p>
        </p:txBody>
      </p:sp>
      <p:pic>
        <p:nvPicPr>
          <p:cNvPr id="1026" name="Picture 2" descr="セイウチ - Wikipedia">
            <a:extLst>
              <a:ext uri="{FF2B5EF4-FFF2-40B4-BE49-F238E27FC236}">
                <a16:creationId xmlns:a16="http://schemas.microsoft.com/office/drawing/2014/main" id="{9A65E2D3-A2DB-A481-B29E-F82A234BC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6" t="15646" r="43809" b="23402"/>
          <a:stretch/>
        </p:blipFill>
        <p:spPr bwMode="auto">
          <a:xfrm>
            <a:off x="7352857" y="-1"/>
            <a:ext cx="1625948" cy="182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0EB947-4DBF-4406-B3EB-39D72F4D5FF5}"/>
              </a:ext>
            </a:extLst>
          </p:cNvPr>
          <p:cNvSpPr txBox="1"/>
          <p:nvPr/>
        </p:nvSpPr>
        <p:spPr>
          <a:xfrm>
            <a:off x="838200" y="-4207"/>
            <a:ext cx="6139543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E0E804"/>
                </a:solidFill>
                <a:latin typeface="+mj-lt"/>
              </a:rPr>
              <a:t>ちょいと難しいけど知っているとすこしだけ素敵な機能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0C2686-5A2D-2F69-46FD-6E9F8B44C2F3}"/>
              </a:ext>
            </a:extLst>
          </p:cNvPr>
          <p:cNvSpPr txBox="1"/>
          <p:nvPr/>
        </p:nvSpPr>
        <p:spPr>
          <a:xfrm>
            <a:off x="1483567" y="3539629"/>
            <a:ext cx="9870232" cy="120032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ja-JP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ja-JP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)&gt;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ja-JP" alt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ja-JP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.pop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%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  </a:t>
            </a:r>
            <a:r>
              <a:rPr lang="en-US" altLang="ja-JP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ja-JP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どうやって</a:t>
            </a:r>
            <a:r>
              <a:rPr lang="en-US" altLang="ja-JP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pop</a:t>
            </a:r>
            <a:r>
              <a:rPr lang="ja-JP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した値を</a:t>
            </a:r>
            <a:r>
              <a:rPr lang="en-US" altLang="ja-JP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ja-JP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する？</a:t>
            </a:r>
            <a:endParaRPr lang="ja-JP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15970D3-9E91-111E-AC8E-01337045F0A9}"/>
              </a:ext>
            </a:extLst>
          </p:cNvPr>
          <p:cNvSpPr txBox="1"/>
          <p:nvPr/>
        </p:nvSpPr>
        <p:spPr>
          <a:xfrm>
            <a:off x="1483567" y="5211673"/>
            <a:ext cx="9870232" cy="120032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ja-JP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ja-JP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)&gt;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ja-JP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(n := </a:t>
            </a:r>
            <a:r>
              <a:rPr lang="en-US" altLang="ja-JP" b="0" dirty="0" err="1">
                <a:solidFill>
                  <a:srgbClr val="257693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list</a:t>
            </a:r>
            <a:r>
              <a:rPr lang="en-US" altLang="ja-JP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.pop</a:t>
            </a:r>
            <a:r>
              <a:rPr lang="en-US" altLang="ja-JP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())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%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ja-JP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(n)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304597-36D0-2A07-F362-F607E83DB939}"/>
              </a:ext>
            </a:extLst>
          </p:cNvPr>
          <p:cNvSpPr txBox="1"/>
          <p:nvPr/>
        </p:nvSpPr>
        <p:spPr>
          <a:xfrm>
            <a:off x="6354534" y="6094013"/>
            <a:ext cx="508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※while</a:t>
            </a:r>
            <a:r>
              <a:rPr kumimoji="1" lang="ja-JP" altLang="en-US" dirty="0"/>
              <a:t>文の解説で利用した例を簡略化したもの</a:t>
            </a:r>
          </a:p>
        </p:txBody>
      </p:sp>
    </p:spTree>
    <p:extLst>
      <p:ext uri="{BB962C8B-B14F-4D97-AF65-F5344CB8AC3E}">
        <p14:creationId xmlns:p14="http://schemas.microsoft.com/office/powerpoint/2010/main" val="67578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70DA381-A86D-A4A2-8A40-1FF880FF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C8852B2-9765-415E-657B-0B221417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try</a:t>
            </a:r>
            <a:r>
              <a:rPr kumimoji="1" lang="ja-JP" altLang="en-US" dirty="0"/>
              <a:t>文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BA06FB-4A2C-C769-CCE6-5947AFE9E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エラーを味方につける構文</a:t>
            </a:r>
            <a:endParaRPr kumimoji="1" lang="en-US" altLang="ja-JP" dirty="0"/>
          </a:p>
          <a:p>
            <a:pPr lvl="1"/>
            <a:r>
              <a:rPr lang="ja-JP" altLang="en-US" dirty="0"/>
              <a:t>さっきのコードさらに一行削れるのでは？と考えた人は上級者</a:t>
            </a:r>
          </a:p>
          <a:p>
            <a:pPr lvl="1"/>
            <a:endParaRPr kumimoji="1" lang="ja-JP" altLang="en-US" dirty="0"/>
          </a:p>
          <a:p>
            <a:pPr lvl="1"/>
            <a:endParaRPr lang="ja-JP" altLang="en-US" dirty="0"/>
          </a:p>
          <a:p>
            <a:pPr lvl="1"/>
            <a:endParaRPr kumimoji="1" lang="ja-JP" altLang="en-US" dirty="0"/>
          </a:p>
          <a:p>
            <a:pPr lvl="1"/>
            <a:r>
              <a:rPr kumimoji="1" lang="ja-JP" altLang="en-US" dirty="0"/>
              <a:t>空のリストに対する</a:t>
            </a:r>
            <a:r>
              <a:rPr kumimoji="1" lang="en-US" altLang="ja-JP" dirty="0"/>
              <a:t>pop</a:t>
            </a:r>
            <a:r>
              <a:rPr kumimoji="1" lang="ja-JP" altLang="en-US" dirty="0"/>
              <a:t>はエラーを吐いて止まってしまう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r>
              <a:rPr kumimoji="1" lang="en-US" altLang="ja-JP" dirty="0"/>
              <a:t>Try</a:t>
            </a:r>
            <a:r>
              <a:rPr kumimoji="1" lang="ja-JP" altLang="en-US" dirty="0"/>
              <a:t>文でエラーを受ければ良い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486724-9953-6E57-8F6D-E5FE906D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16D336-7D4F-766A-3CAF-55CF837E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85DDFB-0D23-039F-7BC1-A2DC65D539B5}"/>
              </a:ext>
            </a:extLst>
          </p:cNvPr>
          <p:cNvSpPr txBox="1"/>
          <p:nvPr/>
        </p:nvSpPr>
        <p:spPr>
          <a:xfrm>
            <a:off x="1483567" y="2692407"/>
            <a:ext cx="9870232" cy="92333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ja-JP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 := </a:t>
            </a:r>
            <a:r>
              <a:rPr lang="en-US" altLang="ja-JP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.pop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ja-JP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 %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7C4337-668E-C8E6-4A97-8F6614BD6CA3}"/>
              </a:ext>
            </a:extLst>
          </p:cNvPr>
          <p:cNvSpPr txBox="1"/>
          <p:nvPr/>
        </p:nvSpPr>
        <p:spPr>
          <a:xfrm>
            <a:off x="1483567" y="4245194"/>
            <a:ext cx="9870232" cy="36933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ja-JP" b="0" i="0" dirty="0" err="1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IndexError</a:t>
            </a:r>
            <a:r>
              <a:rPr lang="en-US" altLang="ja-JP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: pop from empty list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04110C1-EE86-9CC7-F064-A79AB53DD2F8}"/>
              </a:ext>
            </a:extLst>
          </p:cNvPr>
          <p:cNvSpPr txBox="1"/>
          <p:nvPr/>
        </p:nvSpPr>
        <p:spPr>
          <a:xfrm>
            <a:off x="1483567" y="5071713"/>
            <a:ext cx="9870232" cy="14773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try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 := </a:t>
            </a:r>
            <a:r>
              <a:rPr lang="en-US" altLang="ja-JP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ja-JP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.pop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ja-JP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 %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ja-JP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ja-JP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except</a:t>
            </a:r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r>
              <a:rPr lang="en-US" altLang="ja-JP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ja-JP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None</a:t>
            </a:r>
            <a:r>
              <a:rPr lang="ja-JP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altLang="ja-JP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en-US" altLang="ja-JP" dirty="0">
                <a:solidFill>
                  <a:srgbClr val="008000"/>
                </a:solidFill>
                <a:latin typeface="Courier New" panose="02070309020205020404" pitchFamily="49" charset="0"/>
              </a:rPr>
              <a:t>try</a:t>
            </a:r>
            <a:r>
              <a:rPr lang="ja-JP" alt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の中でエラーが起きるとここに来る。ちなみになにもしない。</a:t>
            </a:r>
            <a:endParaRPr lang="ja-JP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B7A3124-20A1-9A5D-57FA-386349567EDF}"/>
              </a:ext>
            </a:extLst>
          </p:cNvPr>
          <p:cNvSpPr txBox="1"/>
          <p:nvPr/>
        </p:nvSpPr>
        <p:spPr>
          <a:xfrm>
            <a:off x="838200" y="-4207"/>
            <a:ext cx="6139543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E0E804"/>
                </a:solidFill>
                <a:latin typeface="+mj-lt"/>
              </a:rPr>
              <a:t>ちょいと難しいけど知っているとすこしだけ素敵な機能</a:t>
            </a:r>
          </a:p>
        </p:txBody>
      </p:sp>
    </p:spTree>
    <p:extLst>
      <p:ext uri="{BB962C8B-B14F-4D97-AF65-F5344CB8AC3E}">
        <p14:creationId xmlns:p14="http://schemas.microsoft.com/office/powerpoint/2010/main" val="204338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B88A-756A-8C27-B32F-01E68351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18B763-0475-78FE-A8A2-84DB99AF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1643E4A-F817-C4F4-6376-C1A7E11C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第３回　</a:t>
            </a:r>
            <a:r>
              <a:rPr kumimoji="1" lang="ja-JP" altLang="en-US" sz="2400" dirty="0"/>
              <a:t>演算子／制御構文</a:t>
            </a:r>
            <a:r>
              <a:rPr kumimoji="1" lang="ja-JP" altLang="en-US" sz="2400" u="sng" dirty="0"/>
              <a:t>演習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F7172A-BF2F-971C-4C78-E6AF4519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3C0C92-E4BC-74D9-F085-3343F454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7D10DA-4F17-19BF-669E-FFACEE0C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066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3DF0-2AD1-7696-259C-7B8580FC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7FAFD9B-4C0B-9EF1-5FFA-1FF6B189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1611AAF-3D0D-8B64-C9FF-CB319AFE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800" dirty="0"/>
              <a:t>[</a:t>
            </a:r>
            <a:r>
              <a:rPr kumimoji="1" lang="en-US" altLang="ja-JP" sz="2800" dirty="0">
                <a:solidFill>
                  <a:schemeClr val="accent1"/>
                </a:solidFill>
              </a:rPr>
              <a:t>0</a:t>
            </a:r>
            <a:r>
              <a:rPr lang="en-US" altLang="ja-JP" sz="2800" dirty="0">
                <a:solidFill>
                  <a:schemeClr val="accent1"/>
                </a:solidFill>
              </a:rPr>
              <a:t>9</a:t>
            </a:r>
            <a:r>
              <a:rPr kumimoji="1" lang="en-US" altLang="ja-JP" sz="2800" dirty="0"/>
              <a:t>-day03kk] </a:t>
            </a:r>
            <a:br>
              <a:rPr kumimoji="1" lang="ja-JP" altLang="en-US" dirty="0"/>
            </a:br>
            <a:r>
              <a:rPr lang="ja-JP" altLang="en-US" dirty="0"/>
              <a:t>辞書型データを検索・ソートする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A2E979-0E7F-5B1C-1282-C07F86B7E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ja-JP" altLang="en-US" dirty="0"/>
              <a:t>お題</a:t>
            </a:r>
          </a:p>
          <a:p>
            <a:pPr lvl="1"/>
            <a:r>
              <a:rPr lang="ja-JP" altLang="en-US" dirty="0"/>
              <a:t>前回作った辞書型のリストを使います。</a:t>
            </a:r>
          </a:p>
          <a:p>
            <a:pPr lvl="1"/>
            <a:r>
              <a:rPr lang="ja-JP" altLang="en-US" dirty="0"/>
              <a:t>これを</a:t>
            </a:r>
            <a:r>
              <a:rPr lang="en-US" altLang="ja-JP" dirty="0"/>
              <a:t>for</a:t>
            </a:r>
            <a:r>
              <a:rPr lang="ja-JP" altLang="en-US" dirty="0"/>
              <a:t>文や</a:t>
            </a:r>
            <a:r>
              <a:rPr lang="en-US" altLang="ja-JP" dirty="0"/>
              <a:t>while</a:t>
            </a:r>
            <a:r>
              <a:rPr lang="ja-JP" altLang="en-US" dirty="0"/>
              <a:t>文で各要素を見て、検索やソートをする</a:t>
            </a:r>
          </a:p>
          <a:p>
            <a:pPr lvl="1"/>
            <a:r>
              <a:rPr lang="ja-JP" altLang="en-US" dirty="0"/>
              <a:t>与えられキーワードを持つ要素のみ出力する</a:t>
            </a:r>
          </a:p>
          <a:p>
            <a:pPr lvl="1"/>
            <a:r>
              <a:rPr lang="ja-JP" altLang="en-US" dirty="0"/>
              <a:t>与えられた数値以上</a:t>
            </a:r>
            <a:r>
              <a:rPr lang="en-US" altLang="ja-JP" dirty="0"/>
              <a:t>/</a:t>
            </a:r>
            <a:r>
              <a:rPr lang="ja-JP" altLang="en-US" dirty="0"/>
              <a:t>以下の要素のみ出力する</a:t>
            </a:r>
          </a:p>
          <a:p>
            <a:pPr lvl="1"/>
            <a:r>
              <a:rPr lang="ja-JP" altLang="en-US" dirty="0"/>
              <a:t>各要素が持つ数値でソートする</a:t>
            </a:r>
          </a:p>
          <a:p>
            <a:pPr lvl="1"/>
            <a:r>
              <a:rPr lang="ja-JP" altLang="en-US" dirty="0"/>
              <a:t>各要素が持つ文字列でソートする</a:t>
            </a:r>
          </a:p>
          <a:p>
            <a:pPr lvl="1"/>
            <a:r>
              <a:rPr lang="ja-JP" altLang="en-US" dirty="0"/>
              <a:t>などなど・・・・（他、演算子や制御構文を使って何を作っても</a:t>
            </a:r>
            <a:r>
              <a:rPr lang="en-US" altLang="ja-JP" dirty="0"/>
              <a:t>OK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発表：希望者のみ先着順で講義終了時刻まで</a:t>
            </a:r>
          </a:p>
          <a:p>
            <a:pPr lvl="1"/>
            <a:r>
              <a:rPr lang="ja-JP" altLang="en-US" dirty="0"/>
              <a:t>前でノートを表示しながら簡単に説明をしてもらいます</a:t>
            </a:r>
          </a:p>
          <a:p>
            <a:pPr lvl="1"/>
            <a:r>
              <a:rPr lang="ja-JP" altLang="en-US" dirty="0"/>
              <a:t>発表した人は記録して、成績の加点対象にします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6EC982-1A89-389F-C924-7ED8328A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1DE181-3A7C-2141-F754-2D466590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69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ACACB11-2637-2EAD-6375-C6567BD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Homework</a:t>
            </a:r>
            <a:endParaRPr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B7A490D-E625-8DBF-66AE-B1B7095A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Day03</a:t>
            </a:r>
            <a:r>
              <a:rPr lang="ja-JP" altLang="en-US" dirty="0"/>
              <a:t>→</a:t>
            </a:r>
            <a:r>
              <a:rPr lang="en-US" altLang="ja-JP" dirty="0"/>
              <a:t>Day04</a:t>
            </a:r>
            <a:endParaRPr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58D229-46FC-433B-FA5B-4B8ACC13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0993854-A861-7ED5-26C4-60455F5A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68422-74D5-EB25-AB13-5C87B4F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6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46B3-4843-95D6-3739-FBC6433C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5C872CB-5799-28ED-4479-AAA9792C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132B40C-9159-C623-F1C1-505FB396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Day03</a:t>
            </a:r>
            <a:r>
              <a:rPr kumimoji="1" lang="ja-JP" altLang="en-US" dirty="0"/>
              <a:t>の宿題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2824EF-C7BB-4EF4-A76E-6702C6F9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69" y="1825625"/>
            <a:ext cx="9998530" cy="4351338"/>
          </a:xfrm>
        </p:spPr>
        <p:txBody>
          <a:bodyPr>
            <a:normAutofit/>
          </a:bodyPr>
          <a:lstStyle/>
          <a:p>
            <a:r>
              <a:rPr kumimoji="1" lang="ja-JP" altLang="en-US" sz="2800" dirty="0"/>
              <a:t>予習テキストを読む</a:t>
            </a:r>
            <a:endParaRPr kumimoji="1" lang="en-US" altLang="ja-JP" sz="2800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10</a:t>
            </a:r>
            <a:r>
              <a:rPr kumimoji="1" lang="en-US" altLang="ja-JP" dirty="0">
                <a:latin typeface="+mj-lt"/>
              </a:rPr>
              <a:t>-day03tb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lang="ja-JP" altLang="en-US" b="0" i="0" dirty="0">
                <a:effectLst/>
                <a:latin typeface="system-ui"/>
              </a:rPr>
              <a:t>関数とラムダ式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11</a:t>
            </a:r>
            <a:r>
              <a:rPr kumimoji="1" lang="en-US" altLang="ja-JP" dirty="0">
                <a:latin typeface="+mj-lt"/>
              </a:rPr>
              <a:t>-day03tb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lang="ja-JP" altLang="en-US" b="0" i="0" dirty="0">
                <a:effectLst/>
                <a:latin typeface="system-ui"/>
              </a:rPr>
              <a:t>クラスとオブジェクト指向</a:t>
            </a:r>
            <a:endParaRPr kumimoji="1" lang="ja-JP" altLang="en-US" dirty="0"/>
          </a:p>
          <a:p>
            <a:r>
              <a:rPr kumimoji="1" lang="ja-JP" altLang="en-US" sz="2800" dirty="0"/>
              <a:t>知識確認問題を解く</a:t>
            </a:r>
            <a:endParaRPr kumimoji="1" lang="en-US" altLang="ja-JP" sz="2800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12</a:t>
            </a:r>
            <a:r>
              <a:rPr kumimoji="1" lang="en-US" altLang="ja-JP" dirty="0">
                <a:latin typeface="+mj-lt"/>
              </a:rPr>
              <a:t>-day03hw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lang="ja-JP" altLang="en-US" dirty="0"/>
              <a:t>来週までの</a:t>
            </a:r>
            <a:r>
              <a:rPr kumimoji="1" lang="ja-JP" altLang="en-US" dirty="0"/>
              <a:t>宿題</a:t>
            </a:r>
            <a:r>
              <a:rPr lang="en-US" altLang="ja-JP" dirty="0"/>
              <a:t>(</a:t>
            </a:r>
            <a:r>
              <a:rPr lang="ja-JP" altLang="en-US" dirty="0"/>
              <a:t>予習テキストの確認問題</a:t>
            </a:r>
            <a:r>
              <a:rPr lang="en-US" altLang="ja-JP" dirty="0"/>
              <a:t>)</a:t>
            </a:r>
            <a:endParaRPr kumimoji="1" lang="ja-JP" altLang="en-US" dirty="0"/>
          </a:p>
          <a:p>
            <a:pPr lvl="1"/>
            <a:r>
              <a:rPr lang="ja-JP" altLang="en-US" dirty="0"/>
              <a:t>期限：火曜日</a:t>
            </a:r>
            <a:r>
              <a:rPr lang="en-US" altLang="ja-JP" dirty="0"/>
              <a:t>23:59</a:t>
            </a:r>
            <a:endParaRPr lang="ja-JP" altLang="en-US" dirty="0"/>
          </a:p>
          <a:p>
            <a:pPr lvl="1"/>
            <a:endParaRPr kumimoji="1" lang="ja-JP" altLang="en-US" dirty="0"/>
          </a:p>
          <a:p>
            <a:r>
              <a:rPr lang="en-US" altLang="ja-JP" dirty="0"/>
              <a:t>Google</a:t>
            </a:r>
            <a:r>
              <a:rPr lang="ja-JP" altLang="en-US" dirty="0"/>
              <a:t> </a:t>
            </a:r>
            <a:r>
              <a:rPr lang="en-US" altLang="ja-JP" dirty="0"/>
              <a:t>Classroom</a:t>
            </a:r>
            <a:r>
              <a:rPr lang="ja-JP" altLang="en-US" dirty="0"/>
              <a:t>を通じて配布します。</a:t>
            </a:r>
          </a:p>
          <a:p>
            <a:r>
              <a:rPr kumimoji="1" lang="ja-JP" altLang="en-US" dirty="0"/>
              <a:t>宿題の提出も</a:t>
            </a:r>
            <a:r>
              <a:rPr kumimoji="1" lang="en-US" altLang="ja-JP" dirty="0"/>
              <a:t>Google Classroom</a:t>
            </a:r>
            <a:r>
              <a:rPr kumimoji="1" lang="ja-JP" altLang="en-US" dirty="0"/>
              <a:t>に行ってください。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1D3F51-F7C8-B336-586B-E580A5CE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C6A303-9629-7CD3-45E0-A5790AB3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B94267-10FE-D83D-D798-18C1DFE479A1}"/>
              </a:ext>
            </a:extLst>
          </p:cNvPr>
          <p:cNvSpPr txBox="1"/>
          <p:nvPr/>
        </p:nvSpPr>
        <p:spPr>
          <a:xfrm>
            <a:off x="8629650" y="152400"/>
            <a:ext cx="3429000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課題等の命名規則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[</a:t>
            </a:r>
            <a:r>
              <a:rPr lang="ja-JP" altLang="en-US" b="1" dirty="0"/>
              <a:t>連番</a:t>
            </a:r>
            <a:r>
              <a:rPr lang="en-US" altLang="ja-JP" b="1" dirty="0"/>
              <a:t>-</a:t>
            </a:r>
            <a:r>
              <a:rPr lang="ja-JP" altLang="en-US" b="1" dirty="0"/>
              <a:t>講義日ノートタイプ</a:t>
            </a:r>
            <a:r>
              <a:rPr lang="en-US" altLang="ja-JP" b="1" dirty="0"/>
              <a:t>]</a:t>
            </a:r>
            <a:endParaRPr lang="ja-JP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講義日：</a:t>
            </a:r>
            <a:r>
              <a:rPr lang="en-US" altLang="ja-JP" dirty="0"/>
              <a:t>day01</a:t>
            </a:r>
            <a:r>
              <a:rPr lang="ja-JP" altLang="en-US" dirty="0"/>
              <a:t>～</a:t>
            </a:r>
            <a:r>
              <a:rPr lang="en-US" altLang="ja-JP" dirty="0"/>
              <a:t>day09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ノートタイプ：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Kk</a:t>
            </a:r>
            <a:r>
              <a:rPr lang="ja-JP" altLang="en-US" dirty="0"/>
              <a:t>：講義内課題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tb</a:t>
            </a:r>
            <a:r>
              <a:rPr lang="ja-JP" altLang="en-US" dirty="0"/>
              <a:t>：テキストブック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hw</a:t>
            </a:r>
            <a:r>
              <a:rPr lang="ja-JP" altLang="en-US" dirty="0"/>
              <a:t>：宿題</a:t>
            </a:r>
          </a:p>
        </p:txBody>
      </p:sp>
    </p:spTree>
    <p:extLst>
      <p:ext uri="{BB962C8B-B14F-4D97-AF65-F5344CB8AC3E}">
        <p14:creationId xmlns:p14="http://schemas.microsoft.com/office/powerpoint/2010/main" val="81527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情報論理学">
  <a:themeElements>
    <a:clrScheme name="津田塾大学情報科学">
      <a:dk1>
        <a:srgbClr val="353941"/>
      </a:dk1>
      <a:lt1>
        <a:srgbClr val="FFFFFF"/>
      </a:lt1>
      <a:dk2>
        <a:srgbClr val="263F41"/>
      </a:dk2>
      <a:lt2>
        <a:srgbClr val="E0E804"/>
      </a:lt2>
      <a:accent1>
        <a:srgbClr val="CE276C"/>
      </a:accent1>
      <a:accent2>
        <a:srgbClr val="D85514"/>
      </a:accent2>
      <a:accent3>
        <a:srgbClr val="95B00D"/>
      </a:accent3>
      <a:accent4>
        <a:srgbClr val="56B833"/>
      </a:accent4>
      <a:accent5>
        <a:srgbClr val="034AA1"/>
      </a:accent5>
      <a:accent6>
        <a:srgbClr val="510296"/>
      </a:accent6>
      <a:hlink>
        <a:srgbClr val="0563C1"/>
      </a:hlink>
      <a:folHlink>
        <a:srgbClr val="954F72"/>
      </a:folHlink>
    </a:clrScheme>
    <a:fontScheme name="都立大講義">
      <a:majorFont>
        <a:latin typeface="VDL Ｖ７ゴシック EB"/>
        <a:ea typeface="VDL Ｖ７ゴシック EB"/>
        <a:cs typeface=""/>
      </a:majorFont>
      <a:minorFont>
        <a:latin typeface="TBちび丸ゴシックPlusK Pro R"/>
        <a:ea typeface="TBちび丸ゴシックPlusK Pro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情報論理学" id="{9D04152A-154A-442E-A643-BF86048DE20D}" vid="{8058DE17-911C-49AC-A2EB-3BD0BB04877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1">
    <wetp:webextensionref xmlns:r="http://schemas.openxmlformats.org/officeDocument/2006/relationships" r:id="rId1"/>
  </wetp:taskpane>
  <wetp:taskpane dockstate="right" visibility="0" width="525" row="1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64C3975-57B6-47A0-85FF-E5F62F7E67C8}">
  <we:reference id="a19c72e1-6786-40f7-b977-f44d74d31275" version="2.1.0.0" store="EXCatalog" storeType="EXCatalog"/>
  <we:alternateReferences>
    <we:reference id="WA104379279" version="2.1.0.0" store="ja-JP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BB6DD3-8407-4865-923C-51624D4BD5C4}">
  <we:reference id="2d5ec7a8-3235-439f-acf6-ad88ee2f7e85" version="1.0.0.0" store="EXCatalog" storeType="EXCatalog"/>
  <we:alternateReferences>
    <we:reference id="WA104006972" version="1.0.0.0" store="ja-JP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6479</TotalTime>
  <Words>854</Words>
  <Application>Microsoft Office PowerPoint</Application>
  <PresentationFormat>ワイド画面</PresentationFormat>
  <Paragraphs>192</Paragraphs>
  <Slides>11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system-ui</vt:lpstr>
      <vt:lpstr>TBちび丸ゴシックPlusK Pro R</vt:lpstr>
      <vt:lpstr>VDL Ｖ７ゴシック EB</vt:lpstr>
      <vt:lpstr>游ゴシック</vt:lpstr>
      <vt:lpstr>Arial</vt:lpstr>
      <vt:lpstr>Courier New</vt:lpstr>
      <vt:lpstr>情報論理学</vt:lpstr>
      <vt:lpstr>情報 科学Ｃ</vt:lpstr>
      <vt:lpstr>2025年度 講義日程</vt:lpstr>
      <vt:lpstr>情報科学Ｃ</vt:lpstr>
      <vt:lpstr>予習テキストで学んだ事</vt:lpstr>
      <vt:lpstr>三項演算子</vt:lpstr>
      <vt:lpstr>セイウチ演算子</vt:lpstr>
      <vt:lpstr>try文</vt:lpstr>
      <vt:lpstr>情報科学Ｃ</vt:lpstr>
      <vt:lpstr>[09-day03kk]  辞書型データを検索・ソートする</vt:lpstr>
      <vt:lpstr>Homework</vt:lpstr>
      <vt:lpstr>Day03の宿題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横山昌平</dc:creator>
  <cp:lastModifiedBy>横山昌平</cp:lastModifiedBy>
  <cp:revision>109</cp:revision>
  <dcterms:created xsi:type="dcterms:W3CDTF">2020-04-20T04:18:00Z</dcterms:created>
  <dcterms:modified xsi:type="dcterms:W3CDTF">2025-04-29T13:40:07Z</dcterms:modified>
</cp:coreProperties>
</file>