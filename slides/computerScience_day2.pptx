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2"/>
  </p:notesMasterIdLst>
  <p:sldIdLst>
    <p:sldId id="256" r:id="rId2"/>
    <p:sldId id="257" r:id="rId3"/>
    <p:sldId id="269" r:id="rId4"/>
    <p:sldId id="313" r:id="rId5"/>
    <p:sldId id="314" r:id="rId6"/>
    <p:sldId id="315" r:id="rId7"/>
    <p:sldId id="316" r:id="rId8"/>
    <p:sldId id="317" r:id="rId9"/>
    <p:sldId id="318" r:id="rId10"/>
    <p:sldId id="320" r:id="rId11"/>
    <p:sldId id="321" r:id="rId12"/>
    <p:sldId id="322" r:id="rId13"/>
    <p:sldId id="323" r:id="rId14"/>
    <p:sldId id="312" r:id="rId15"/>
    <p:sldId id="308" r:id="rId16"/>
    <p:sldId id="309" r:id="rId17"/>
    <p:sldId id="310" r:id="rId18"/>
    <p:sldId id="311" r:id="rId19"/>
    <p:sldId id="306" r:id="rId20"/>
    <p:sldId id="307" r:id="rId2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5758FB7-9AC5-4552-8A53-C91805E547FA}" styleName="テーマ スタイル 1 - アクセント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FECB4D8-DB02-4DC6-A0A2-4F2EBAE1DC90}" styleName="中間スタイル 1 - アクセント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388" autoAdjust="0"/>
    <p:restoredTop sz="94660"/>
  </p:normalViewPr>
  <p:slideViewPr>
    <p:cSldViewPr snapToGrid="0">
      <p:cViewPr varScale="1">
        <p:scale>
          <a:sx n="82" d="100"/>
          <a:sy n="82" d="100"/>
        </p:scale>
        <p:origin x="84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743A7E-303A-4EAA-864C-611EED392E65}" type="datetimeFigureOut">
              <a:rPr kumimoji="1" lang="ja-JP" altLang="en-US" smtClean="0"/>
              <a:t>2025/4/22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A39EA8-FF6E-487D-8017-26A51A4403B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083543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334262-27A8-490F-AA41-F61BA7DFEBA9}" type="slidenum">
              <a:rPr kumimoji="1" lang="ja-JP" altLang="en-US" smtClean="0"/>
              <a:t>3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5219770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150D6-A680-315A-BE1D-BC9172A24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CFEA44C-8C15-E719-49F6-1365B72337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FD08E053-7330-0B4C-2807-8C0B858E74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9F3B921-5587-19BC-3E02-07109B72C2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334262-27A8-490F-AA41-F61BA7DFEBA9}" type="slidenum">
              <a:rPr kumimoji="1" lang="ja-JP" altLang="en-US" smtClean="0"/>
              <a:t>14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756871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E0E47F28-DF72-47BF-B95C-73F8BC6F067A}"/>
              </a:ext>
            </a:extLst>
          </p:cNvPr>
          <p:cNvSpPr/>
          <p:nvPr/>
        </p:nvSpPr>
        <p:spPr>
          <a:xfrm>
            <a:off x="410960" y="410960"/>
            <a:ext cx="4171308" cy="6036080"/>
          </a:xfrm>
          <a:prstGeom prst="roundRect">
            <a:avLst>
              <a:gd name="adj" fmla="val 312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147F3A06-B3E9-484B-AA0D-25C8CD8D57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0960" y="410960"/>
            <a:ext cx="4171308" cy="2387600"/>
          </a:xfrm>
        </p:spPr>
        <p:txBody>
          <a:bodyPr lIns="432000" anchor="b">
            <a:noAutofit/>
          </a:bodyPr>
          <a:lstStyle>
            <a:lvl1pPr algn="l">
              <a:defRPr sz="7000">
                <a:solidFill>
                  <a:schemeClr val="bg2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A34F182-B301-4833-B201-025D8A7B9C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0960" y="3602038"/>
            <a:ext cx="4170362" cy="733198"/>
          </a:xfrm>
        </p:spPr>
        <p:txBody>
          <a:bodyPr lIns="432000"/>
          <a:lstStyle>
            <a:lvl1pPr marL="0" indent="0" algn="l">
              <a:buNone/>
              <a:defRPr sz="2400">
                <a:solidFill>
                  <a:schemeClr val="bg2"/>
                </a:solidFill>
                <a:latin typeface="+mj-ea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10" name="テキスト プレースホルダー 9">
            <a:extLst>
              <a:ext uri="{FF2B5EF4-FFF2-40B4-BE49-F238E27FC236}">
                <a16:creationId xmlns:a16="http://schemas.microsoft.com/office/drawing/2014/main" id="{5006FDE5-FCBF-4411-9C4A-44645957456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1163" y="2798763"/>
            <a:ext cx="4170362" cy="808037"/>
          </a:xfrm>
        </p:spPr>
        <p:txBody>
          <a:bodyPr lIns="432000" anchor="ctr" anchorCtr="0">
            <a:normAutofit/>
          </a:bodyPr>
          <a:lstStyle>
            <a:lvl1pPr marL="0" indent="0" algn="l">
              <a:buNone/>
              <a:defRPr sz="1400">
                <a:solidFill>
                  <a:schemeClr val="bg2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4" name="テキスト プレースホルダー 13">
            <a:extLst>
              <a:ext uri="{FF2B5EF4-FFF2-40B4-BE49-F238E27FC236}">
                <a16:creationId xmlns:a16="http://schemas.microsoft.com/office/drawing/2014/main" id="{756E6855-DE3B-4846-BF01-2C9E089E998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654074" y="836387"/>
            <a:ext cx="1927248" cy="971550"/>
          </a:xfrm>
        </p:spPr>
        <p:txBody>
          <a:bodyPr rIns="432000">
            <a:normAutofit/>
          </a:bodyPr>
          <a:lstStyle>
            <a:lvl1pPr marL="0" indent="0" algn="r">
              <a:buNone/>
              <a:defRPr lang="fr-FR" altLang="ja-JP" sz="1600" b="0" i="0" smtClean="0">
                <a:solidFill>
                  <a:schemeClr val="bg2"/>
                </a:solidFill>
                <a:effectLst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5" name="テキスト プレースホルダー 13">
            <a:extLst>
              <a:ext uri="{FF2B5EF4-FFF2-40B4-BE49-F238E27FC236}">
                <a16:creationId xmlns:a16="http://schemas.microsoft.com/office/drawing/2014/main" id="{7E3360AC-1BFC-4F0A-8095-C5D5EB8EB0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0960" y="5571316"/>
            <a:ext cx="4170362" cy="252383"/>
          </a:xfrm>
        </p:spPr>
        <p:txBody>
          <a:bodyPr rIns="720000">
            <a:noAutofit/>
          </a:bodyPr>
          <a:lstStyle>
            <a:lvl1pPr marL="0" indent="0" algn="r">
              <a:buNone/>
              <a:defRPr lang="fr-FR" altLang="ja-JP" sz="1600" b="0" i="0" smtClean="0">
                <a:solidFill>
                  <a:schemeClr val="bg2"/>
                </a:solidFill>
                <a:effectLst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pic>
        <p:nvPicPr>
          <p:cNvPr id="17" name="グラフィックス 16" descr="月毎カレンダー">
            <a:extLst>
              <a:ext uri="{FF2B5EF4-FFF2-40B4-BE49-F238E27FC236}">
                <a16:creationId xmlns:a16="http://schemas.microsoft.com/office/drawing/2014/main" id="{5E31A6FF-0DE5-4C60-8E3B-463C3FE845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15846" y="5559521"/>
            <a:ext cx="252382" cy="252382"/>
          </a:xfrm>
          <a:prstGeom prst="rect">
            <a:avLst/>
          </a:prstGeom>
        </p:spPr>
      </p:pic>
      <p:pic>
        <p:nvPicPr>
          <p:cNvPr id="19" name="グラフィックス 18" descr="時計">
            <a:extLst>
              <a:ext uri="{FF2B5EF4-FFF2-40B4-BE49-F238E27FC236}">
                <a16:creationId xmlns:a16="http://schemas.microsoft.com/office/drawing/2014/main" id="{28888EC0-9C0C-4605-B734-4E086ECBDC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15846" y="5899863"/>
            <a:ext cx="264178" cy="264178"/>
          </a:xfrm>
          <a:prstGeom prst="rect">
            <a:avLst/>
          </a:prstGeom>
        </p:spPr>
      </p:pic>
      <p:sp>
        <p:nvSpPr>
          <p:cNvPr id="21" name="テキスト プレースホルダー 13">
            <a:extLst>
              <a:ext uri="{FF2B5EF4-FFF2-40B4-BE49-F238E27FC236}">
                <a16:creationId xmlns:a16="http://schemas.microsoft.com/office/drawing/2014/main" id="{A6FE1081-74EF-4DCD-9B6B-58AE4184E2F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0960" y="5911658"/>
            <a:ext cx="4170362" cy="252383"/>
          </a:xfrm>
        </p:spPr>
        <p:txBody>
          <a:bodyPr rIns="720000">
            <a:noAutofit/>
          </a:bodyPr>
          <a:lstStyle>
            <a:lvl1pPr marL="0" indent="0" algn="r">
              <a:buNone/>
              <a:defRPr lang="fr-FR" altLang="ja-JP" sz="1600" b="0" i="0" smtClean="0">
                <a:solidFill>
                  <a:schemeClr val="bg2"/>
                </a:solidFill>
                <a:effectLst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C0B036A8-3716-4984-BEA1-BFA05709FBD0}"/>
              </a:ext>
            </a:extLst>
          </p:cNvPr>
          <p:cNvSpPr/>
          <p:nvPr userDrawn="1"/>
        </p:nvSpPr>
        <p:spPr>
          <a:xfrm>
            <a:off x="410960" y="410960"/>
            <a:ext cx="4171308" cy="6036080"/>
          </a:xfrm>
          <a:prstGeom prst="roundRect">
            <a:avLst>
              <a:gd name="adj" fmla="val 312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2" name="グラフィックス 11" descr="月毎カレンダー">
            <a:extLst>
              <a:ext uri="{FF2B5EF4-FFF2-40B4-BE49-F238E27FC236}">
                <a16:creationId xmlns:a16="http://schemas.microsoft.com/office/drawing/2014/main" id="{16A5C23C-AC82-4AF1-ABCF-5DCF31229C8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15846" y="5559521"/>
            <a:ext cx="252382" cy="252382"/>
          </a:xfrm>
          <a:prstGeom prst="rect">
            <a:avLst/>
          </a:prstGeom>
        </p:spPr>
      </p:pic>
      <p:pic>
        <p:nvPicPr>
          <p:cNvPr id="13" name="グラフィックス 12" descr="時計">
            <a:extLst>
              <a:ext uri="{FF2B5EF4-FFF2-40B4-BE49-F238E27FC236}">
                <a16:creationId xmlns:a16="http://schemas.microsoft.com/office/drawing/2014/main" id="{B17CE49E-F1A4-4143-9EC2-B5F7EB71DDC5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15846" y="5899863"/>
            <a:ext cx="264178" cy="264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640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5A7BEB9-F351-4CB4-AC09-6557D41A1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情報科学ｃ</a:t>
            </a:r>
            <a:endParaRPr kumimoji="1" lang="ja-JP" altLang="en-US" dirty="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EB6A195E-2386-4B3E-8997-DB98D5D1E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7B90559-414D-440F-B60E-2E11609B0D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138EFE1-5047-4120-91D8-B38B928E2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Day2</a:t>
            </a:r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D083690-B423-4AB6-B70A-42FDB82CF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A0251-0B3B-4C1C-96DC-5D2833458A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76991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77BF5DC2-C09F-4ABA-8D58-1983792C8256}"/>
              </a:ext>
            </a:extLst>
          </p:cNvPr>
          <p:cNvSpPr/>
          <p:nvPr/>
        </p:nvSpPr>
        <p:spPr>
          <a:xfrm rot="5400000">
            <a:off x="1764236" y="1140425"/>
            <a:ext cx="4171308" cy="6036080"/>
          </a:xfrm>
          <a:prstGeom prst="roundRect">
            <a:avLst>
              <a:gd name="adj" fmla="val 312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3C4C8B1-2AF8-4AD4-9335-90DBF3E41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bg2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A033B43-6246-4F8F-8EBC-97DFFE5362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5CDC6133-E775-4AC7-B0CB-06DA0590B50D}"/>
              </a:ext>
            </a:extLst>
          </p:cNvPr>
          <p:cNvCxnSpPr>
            <a:cxnSpLocks/>
          </p:cNvCxnSpPr>
          <p:nvPr/>
        </p:nvCxnSpPr>
        <p:spPr>
          <a:xfrm>
            <a:off x="831850" y="4551452"/>
            <a:ext cx="6036080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日付プレースホルダー 10">
            <a:extLst>
              <a:ext uri="{FF2B5EF4-FFF2-40B4-BE49-F238E27FC236}">
                <a16:creationId xmlns:a16="http://schemas.microsoft.com/office/drawing/2014/main" id="{A11DAC5A-3295-4699-B780-85682452D0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254483" y="6380253"/>
            <a:ext cx="929811" cy="479039"/>
          </a:xfrm>
          <a:noFill/>
        </p:spPr>
        <p:txBody>
          <a:bodyPr/>
          <a:lstStyle>
            <a:lvl1pPr>
              <a:defRPr sz="1200"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lang="en-US" altLang="ja-JP"/>
              <a:t>Day2</a:t>
            </a:r>
            <a:endParaRPr lang="ja-JP" altLang="en-US" dirty="0"/>
          </a:p>
        </p:txBody>
      </p:sp>
      <p:sp>
        <p:nvSpPr>
          <p:cNvPr id="12" name="フッター プレースホルダー 11">
            <a:extLst>
              <a:ext uri="{FF2B5EF4-FFF2-40B4-BE49-F238E27FC236}">
                <a16:creationId xmlns:a16="http://schemas.microsoft.com/office/drawing/2014/main" id="{96B9B820-4BF8-4E49-AE82-B3E19219A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9811" y="6380253"/>
            <a:ext cx="10324672" cy="477747"/>
          </a:xfrm>
          <a:noFill/>
        </p:spPr>
        <p:txBody>
          <a:bodyPr vert="horz"/>
          <a:lstStyle>
            <a:lvl1pPr>
              <a:defRPr sz="1200"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lang="ja-JP" altLang="en-US"/>
              <a:t>情報科学ｃ</a:t>
            </a:r>
            <a:endParaRPr lang="ja-JP" altLang="en-US" dirty="0"/>
          </a:p>
        </p:txBody>
      </p:sp>
      <p:sp>
        <p:nvSpPr>
          <p:cNvPr id="13" name="スライド番号プレースホルダー 12">
            <a:extLst>
              <a:ext uri="{FF2B5EF4-FFF2-40B4-BE49-F238E27FC236}">
                <a16:creationId xmlns:a16="http://schemas.microsoft.com/office/drawing/2014/main" id="{2971BC73-1BC4-492F-9655-EE928B531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1" y="6378961"/>
            <a:ext cx="929811" cy="479039"/>
          </a:xfrm>
          <a:noFill/>
        </p:spPr>
        <p:txBody>
          <a:bodyPr/>
          <a:lstStyle>
            <a:lvl1pPr>
              <a:defRPr sz="1200"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</a:defRPr>
            </a:lvl1pPr>
          </a:lstStyle>
          <a:p>
            <a:fld id="{B4DA0251-0B3B-4C1C-96DC-5D2833458AB2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CBE2209A-34C2-442B-8860-AD934E3A55A7}"/>
              </a:ext>
            </a:extLst>
          </p:cNvPr>
          <p:cNvSpPr/>
          <p:nvPr userDrawn="1"/>
        </p:nvSpPr>
        <p:spPr>
          <a:xfrm rot="5400000">
            <a:off x="1764236" y="1140425"/>
            <a:ext cx="4171308" cy="6036080"/>
          </a:xfrm>
          <a:prstGeom prst="roundRect">
            <a:avLst>
              <a:gd name="adj" fmla="val 312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CA23B75A-ECFC-445D-BF95-D1227263344A}"/>
              </a:ext>
            </a:extLst>
          </p:cNvPr>
          <p:cNvCxnSpPr>
            <a:cxnSpLocks/>
          </p:cNvCxnSpPr>
          <p:nvPr userDrawn="1"/>
        </p:nvCxnSpPr>
        <p:spPr>
          <a:xfrm>
            <a:off x="831850" y="4551452"/>
            <a:ext cx="6036080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5036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9ABC7CE-F688-4A8F-BAF4-FE8FF46CA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情報科学ｃ</a:t>
            </a: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791292F-7D3C-4B8B-8049-878DE3F89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FE0AD08-B9D5-4686-AE1E-5008D7F45E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942FC32-2173-41D7-A238-5C31D06F82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13C2DE7-212B-49F8-8F87-F24BBC55F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Day2</a:t>
            </a:r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3A0B284-F90B-4A8D-B496-EE9CCD660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A0251-0B3B-4C1C-96DC-5D2833458A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15240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96BA9B40-5515-453E-A67A-F1B4D4E1A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情報科学ｃ</a:t>
            </a: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58302A9B-D2C1-4740-A595-87B27EA26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E96EF2C-0AF8-4483-8381-18D47F489C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5D45F41-0A50-4141-B1FB-85C417B3AC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05319A25-B3C7-4A4C-9DBF-D8EEA02388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0DB0157E-EEB7-4D33-8037-E7E286F775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028037F7-7442-42BB-BB8C-C310F6EE0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Day2</a:t>
            </a:r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F7473174-C29E-4FF4-B05C-9F45D1DDE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A0251-0B3B-4C1C-96DC-5D2833458A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20881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39323D3-D052-407A-AE0F-D8C2F6888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情報科学ｃ</a:t>
            </a: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69D8392C-15E6-4570-AB43-D6B5BF72E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C9DEACB-116C-4736-97EF-3B57F3E20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Day2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D4D71C1-D913-4D0E-82AD-25C6F5948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A0251-0B3B-4C1C-96DC-5D2833458A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290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094BA8F-8DBE-475F-87FE-8ACFAF523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情報科学ｃ</a:t>
            </a:r>
          </a:p>
        </p:txBody>
      </p:sp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CBFF62E-96EE-4231-B1C9-D65762717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Day2</a:t>
            </a:r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05E5E13-27C9-46C8-9CFD-7A34CEE82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A0251-0B3B-4C1C-96DC-5D2833458A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80272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440D56-CEEA-4384-A1F8-D367844FD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情報科学ｃ</a:t>
            </a: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C1E818FD-EA9B-4E48-99A9-10D41BF27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D5E8A80-BFAB-4C55-BB0E-3B1D036B1C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EBB79B4-7E3C-49BA-9702-8601BF27D5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825AD8E-F37B-488E-8604-699084B3C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Day2</a:t>
            </a:r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B955EC4-1391-42FE-9B3D-F421AD428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A0251-0B3B-4C1C-96DC-5D2833458A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06965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3B5C4C1-2FE9-4245-91D9-0138ABDB1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情報科学ｃ</a:t>
            </a: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381DB02F-0ACD-4339-A75B-8603B0E0C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A205EE95-5C39-4306-BCE1-DEC15EF1B3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1" lang="ja-JP" altLang="en-US"/>
              <a:t>アイコンをクリックして図を追加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F79E88F-F032-4489-B1F6-D566D70679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4384769-9FFF-4ABB-A0C9-9BB2275AB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Day2</a:t>
            </a:r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19AC5CA-ADF8-4B9A-A407-0A3FC6B56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A0251-0B3B-4C1C-96DC-5D2833458A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95172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08E9B60-6531-4AE1-87CF-F0CE6851D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情報科学ｃ</a:t>
            </a: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9ABC920-F3A4-4B0A-8A1D-8D79027EB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8B12F9F-2130-47A7-A03E-1928F4E40E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F3A3FBC-7F96-4247-B1F2-82C0093CF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Day2</a:t>
            </a:r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F5CFDA1-7F5E-4F67-9B7F-AC642ECDD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A0251-0B3B-4C1C-96DC-5D2833458A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2182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AED7633-53D5-4CD9-B1F6-6F6F676EE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情報科学ｃ</a:t>
            </a:r>
          </a:p>
        </p:txBody>
      </p:sp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7C20FCA0-11BB-42EE-BB70-BEC254BB03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D2533B9-976C-4790-A744-E491A4D809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5344A12-C401-4D53-85D8-3F870823D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Day2</a:t>
            </a:r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F00D075-5891-480B-83A9-24F20CD1C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A0251-0B3B-4C1C-96DC-5D2833458A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71912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E0E47F28-DF72-47BF-B95C-73F8BC6F067A}"/>
              </a:ext>
            </a:extLst>
          </p:cNvPr>
          <p:cNvSpPr/>
          <p:nvPr userDrawn="1"/>
        </p:nvSpPr>
        <p:spPr>
          <a:xfrm>
            <a:off x="410960" y="410960"/>
            <a:ext cx="4171308" cy="6036080"/>
          </a:xfrm>
          <a:prstGeom prst="roundRect">
            <a:avLst>
              <a:gd name="adj" fmla="val 312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147F3A06-B3E9-484B-AA0D-25C8CD8D57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0960" y="410960"/>
            <a:ext cx="4171308" cy="2387600"/>
          </a:xfrm>
        </p:spPr>
        <p:txBody>
          <a:bodyPr lIns="432000" anchor="b">
            <a:noAutofit/>
          </a:bodyPr>
          <a:lstStyle>
            <a:lvl1pPr algn="l">
              <a:defRPr sz="7000">
                <a:solidFill>
                  <a:schemeClr val="bg2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A34F182-B301-4833-B201-025D8A7B9C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0960" y="3602038"/>
            <a:ext cx="4170362" cy="733198"/>
          </a:xfrm>
        </p:spPr>
        <p:txBody>
          <a:bodyPr lIns="432000"/>
          <a:lstStyle>
            <a:lvl1pPr marL="0" indent="0" algn="l">
              <a:buNone/>
              <a:defRPr sz="2400">
                <a:solidFill>
                  <a:schemeClr val="bg2"/>
                </a:solidFill>
                <a:latin typeface="+mj-ea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10" name="テキスト プレースホルダー 9">
            <a:extLst>
              <a:ext uri="{FF2B5EF4-FFF2-40B4-BE49-F238E27FC236}">
                <a16:creationId xmlns:a16="http://schemas.microsoft.com/office/drawing/2014/main" id="{5006FDE5-FCBF-4411-9C4A-44645957456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1163" y="2798763"/>
            <a:ext cx="4170362" cy="808037"/>
          </a:xfrm>
        </p:spPr>
        <p:txBody>
          <a:bodyPr lIns="432000" anchor="ctr" anchorCtr="0">
            <a:normAutofit/>
          </a:bodyPr>
          <a:lstStyle>
            <a:lvl1pPr marL="0" indent="0" algn="l">
              <a:buNone/>
              <a:defRPr sz="1400">
                <a:solidFill>
                  <a:schemeClr val="bg2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ja-JP" altLang="en-US" dirty="0"/>
          </a:p>
        </p:txBody>
      </p:sp>
      <p:sp>
        <p:nvSpPr>
          <p:cNvPr id="14" name="テキスト プレースホルダー 13">
            <a:extLst>
              <a:ext uri="{FF2B5EF4-FFF2-40B4-BE49-F238E27FC236}">
                <a16:creationId xmlns:a16="http://schemas.microsoft.com/office/drawing/2014/main" id="{756E6855-DE3B-4846-BF01-2C9E089E998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654074" y="836387"/>
            <a:ext cx="1927248" cy="971550"/>
          </a:xfrm>
        </p:spPr>
        <p:txBody>
          <a:bodyPr rIns="432000">
            <a:normAutofit/>
          </a:bodyPr>
          <a:lstStyle>
            <a:lvl1pPr marL="0" indent="0" algn="r">
              <a:buNone/>
              <a:defRPr lang="fr-FR" altLang="ja-JP" sz="1600" b="0" i="0" smtClean="0">
                <a:solidFill>
                  <a:schemeClr val="bg2"/>
                </a:solidFill>
                <a:effectLst/>
              </a:defRPr>
            </a:lvl1pPr>
          </a:lstStyle>
          <a:p>
            <a:pPr lvl="0"/>
            <a:endParaRPr kumimoji="1" lang="ja-JP" altLang="en-US" dirty="0"/>
          </a:p>
        </p:txBody>
      </p:sp>
      <p:sp>
        <p:nvSpPr>
          <p:cNvPr id="15" name="テキスト プレースホルダー 13">
            <a:extLst>
              <a:ext uri="{FF2B5EF4-FFF2-40B4-BE49-F238E27FC236}">
                <a16:creationId xmlns:a16="http://schemas.microsoft.com/office/drawing/2014/main" id="{7E3360AC-1BFC-4F0A-8095-C5D5EB8EB0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0960" y="5571316"/>
            <a:ext cx="4170362" cy="252383"/>
          </a:xfrm>
        </p:spPr>
        <p:txBody>
          <a:bodyPr rIns="720000">
            <a:noAutofit/>
          </a:bodyPr>
          <a:lstStyle>
            <a:lvl1pPr marL="0" indent="0" algn="r">
              <a:buNone/>
              <a:defRPr lang="fr-FR" altLang="ja-JP" sz="1600" b="0" i="0" smtClean="0">
                <a:solidFill>
                  <a:schemeClr val="bg2"/>
                </a:solidFill>
                <a:effectLst/>
              </a:defRPr>
            </a:lvl1pPr>
          </a:lstStyle>
          <a:p>
            <a:pPr lvl="0"/>
            <a:endParaRPr kumimoji="1" lang="ja-JP" altLang="en-US" dirty="0"/>
          </a:p>
        </p:txBody>
      </p:sp>
      <p:pic>
        <p:nvPicPr>
          <p:cNvPr id="17" name="グラフィックス 16" descr="月毎カレンダー">
            <a:extLst>
              <a:ext uri="{FF2B5EF4-FFF2-40B4-BE49-F238E27FC236}">
                <a16:creationId xmlns:a16="http://schemas.microsoft.com/office/drawing/2014/main" id="{5E31A6FF-0DE5-4C60-8E3B-463C3FE845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15846" y="5559521"/>
            <a:ext cx="252382" cy="252382"/>
          </a:xfrm>
          <a:prstGeom prst="rect">
            <a:avLst/>
          </a:prstGeom>
        </p:spPr>
      </p:pic>
      <p:pic>
        <p:nvPicPr>
          <p:cNvPr id="19" name="グラフィックス 18" descr="時計">
            <a:extLst>
              <a:ext uri="{FF2B5EF4-FFF2-40B4-BE49-F238E27FC236}">
                <a16:creationId xmlns:a16="http://schemas.microsoft.com/office/drawing/2014/main" id="{28888EC0-9C0C-4605-B734-4E086ECBDC0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15846" y="5899863"/>
            <a:ext cx="264178" cy="264178"/>
          </a:xfrm>
          <a:prstGeom prst="rect">
            <a:avLst/>
          </a:prstGeom>
        </p:spPr>
      </p:pic>
      <p:sp>
        <p:nvSpPr>
          <p:cNvPr id="21" name="テキスト プレースホルダー 13">
            <a:extLst>
              <a:ext uri="{FF2B5EF4-FFF2-40B4-BE49-F238E27FC236}">
                <a16:creationId xmlns:a16="http://schemas.microsoft.com/office/drawing/2014/main" id="{A6FE1081-74EF-4DCD-9B6B-58AE4184E2F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0960" y="5911658"/>
            <a:ext cx="4170362" cy="252383"/>
          </a:xfrm>
        </p:spPr>
        <p:txBody>
          <a:bodyPr rIns="720000">
            <a:noAutofit/>
          </a:bodyPr>
          <a:lstStyle>
            <a:lvl1pPr marL="0" indent="0" algn="r">
              <a:buNone/>
              <a:defRPr lang="fr-FR" altLang="ja-JP" sz="1600" b="0" i="0" smtClean="0">
                <a:solidFill>
                  <a:schemeClr val="bg2"/>
                </a:solidFill>
                <a:effectLst/>
              </a:defRPr>
            </a:lvl1pPr>
          </a:lstStyle>
          <a:p>
            <a:pPr lvl="0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852048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EA4DF46-83CA-4961-801C-3A24B88A31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0"/>
            <a:ext cx="838200" cy="6858000"/>
          </a:xfrm>
          <a:prstGeom prst="rect">
            <a:avLst/>
          </a:prstGeom>
          <a:solidFill>
            <a:schemeClr val="tx2"/>
          </a:solidFill>
        </p:spPr>
        <p:txBody>
          <a:bodyPr vert="eaVert" lIns="91440" tIns="45720" rIns="91440" bIns="45720" rtlCol="0" anchor="ctr" anchorCtr="1"/>
          <a:lstStyle>
            <a:lvl1pPr algn="ctr">
              <a:defRPr sz="4800">
                <a:solidFill>
                  <a:schemeClr val="bg2"/>
                </a:solidFill>
                <a:latin typeface="+mj-ea"/>
                <a:ea typeface="+mj-ea"/>
              </a:defRPr>
            </a:lvl1pPr>
          </a:lstStyle>
          <a:p>
            <a:r>
              <a:rPr lang="ja-JP" altLang="en-US"/>
              <a:t>情報科学ｃ</a:t>
            </a:r>
            <a:endParaRPr lang="ja-JP" altLang="en-US" dirty="0"/>
          </a:p>
        </p:txBody>
      </p:sp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3B023398-9735-40FB-A1FF-7FF9FE1B5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5270" y="365125"/>
            <a:ext cx="999852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442B6D4-B4E5-4551-8273-E901634803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55270" y="1825625"/>
            <a:ext cx="999853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15E206F-13E2-416D-8551-770892109D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5811838"/>
            <a:ext cx="838200" cy="365125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 anchor="ctr" anchorCtr="1"/>
          <a:lstStyle>
            <a:lvl1pPr algn="l">
              <a:defRPr sz="16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altLang="ja-JP"/>
              <a:t>Day2</a:t>
            </a:r>
            <a:endParaRPr lang="ja-JP" alt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87E8EED-E703-4D93-9948-8F9A5AACE3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176963"/>
            <a:ext cx="838200" cy="681037"/>
          </a:xfrm>
          <a:prstGeom prst="rect">
            <a:avLst/>
          </a:prstGeom>
        </p:spPr>
        <p:txBody>
          <a:bodyPr vert="horz" lIns="91440" tIns="45720" rIns="91440" bIns="45720" rtlCol="0" anchor="ctr" anchorCtr="1"/>
          <a:lstStyle>
            <a:lvl1pPr algn="r">
              <a:defRPr sz="2000">
                <a:solidFill>
                  <a:schemeClr val="bg2"/>
                </a:solidFill>
                <a:latin typeface="+mj-ea"/>
                <a:ea typeface="+mj-ea"/>
              </a:defRPr>
            </a:lvl1pPr>
          </a:lstStyle>
          <a:p>
            <a:fld id="{B4DA0251-0B3B-4C1C-96DC-5D2833458AB2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48388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9DFE74A-92E8-4E4E-AF1C-A28EB01DDFB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/>
              <a:t>情報</a:t>
            </a:r>
            <a:br>
              <a:rPr kumimoji="1" lang="ja-JP" altLang="en-US" dirty="0"/>
            </a:br>
            <a:r>
              <a:rPr kumimoji="1" lang="ja-JP" altLang="en-US" dirty="0"/>
              <a:t>科学Ｃ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BFF62C0-83E8-4BAB-B39E-0A7A68E393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kumimoji="1" lang="ja-JP" altLang="en-US" sz="3300" dirty="0"/>
              <a:t>横山昌平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4E7356E-CCD3-482D-B0A7-45E57E7C835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kumimoji="1" lang="en-US" altLang="ja-JP" sz="1550" dirty="0"/>
              <a:t>Computer Science C</a:t>
            </a:r>
            <a:endParaRPr kumimoji="1" lang="ja-JP" altLang="en-US" sz="1550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EFD8162-4AA4-485E-A91A-6B1886208AC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pPr>
              <a:lnSpc>
                <a:spcPts val="1600"/>
              </a:lnSpc>
            </a:pPr>
            <a:r>
              <a:rPr kumimoji="1" lang="en-US" altLang="ja-JP" dirty="0"/>
              <a:t>LG080A01</a:t>
            </a:r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0B8957ED-CA55-49F7-84D2-0D8EE491D6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Autofit/>
          </a:bodyPr>
          <a:lstStyle/>
          <a:p>
            <a:r>
              <a:rPr lang="ja-JP" altLang="en-US" dirty="0"/>
              <a:t>第１ターム</a:t>
            </a:r>
            <a:r>
              <a:rPr kumimoji="1" lang="ja-JP" altLang="en-US" dirty="0"/>
              <a:t>・水曜日</a:t>
            </a:r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E0E9AF57-5F2F-46AF-BC5E-4847C5465F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Autofit/>
          </a:bodyPr>
          <a:lstStyle/>
          <a:p>
            <a:r>
              <a:rPr kumimoji="1" lang="ja-JP" altLang="en-US" dirty="0"/>
              <a:t>五時限目</a:t>
            </a:r>
          </a:p>
        </p:txBody>
      </p:sp>
    </p:spTree>
    <p:extLst>
      <p:ext uri="{BB962C8B-B14F-4D97-AF65-F5344CB8AC3E}">
        <p14:creationId xmlns:p14="http://schemas.microsoft.com/office/powerpoint/2010/main" val="2614396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028875D5-3151-4F32-B162-8E5885CCE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情報科学ｃ</a:t>
            </a:r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ADDAA8EA-7FBB-4F2E-91EB-63E6329C1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2025</a:t>
            </a:r>
            <a:r>
              <a:rPr lang="ja-JP" altLang="en-US" dirty="0"/>
              <a:t>年度 講義日程</a:t>
            </a:r>
            <a:endParaRPr kumimoji="1" lang="ja-JP" altLang="en-US" dirty="0"/>
          </a:p>
        </p:txBody>
      </p:sp>
      <p:graphicFrame>
        <p:nvGraphicFramePr>
          <p:cNvPr id="11" name="表 11">
            <a:extLst>
              <a:ext uri="{FF2B5EF4-FFF2-40B4-BE49-F238E27FC236}">
                <a16:creationId xmlns:a16="http://schemas.microsoft.com/office/drawing/2014/main" id="{B9D9CDA9-57A4-4499-80A3-E4FDBFD7FF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807079"/>
              </p:ext>
            </p:extLst>
          </p:nvPr>
        </p:nvGraphicFramePr>
        <p:xfrm>
          <a:off x="1047699" y="1690688"/>
          <a:ext cx="10306101" cy="3708400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781655">
                  <a:extLst>
                    <a:ext uri="{9D8B030D-6E8A-4147-A177-3AD203B41FA5}">
                      <a16:colId xmlns:a16="http://schemas.microsoft.com/office/drawing/2014/main" val="2758299451"/>
                    </a:ext>
                  </a:extLst>
                </a:gridCol>
                <a:gridCol w="724650">
                  <a:extLst>
                    <a:ext uri="{9D8B030D-6E8A-4147-A177-3AD203B41FA5}">
                      <a16:colId xmlns:a16="http://schemas.microsoft.com/office/drawing/2014/main" val="308317790"/>
                    </a:ext>
                  </a:extLst>
                </a:gridCol>
                <a:gridCol w="4274025">
                  <a:extLst>
                    <a:ext uri="{9D8B030D-6E8A-4147-A177-3AD203B41FA5}">
                      <a16:colId xmlns:a16="http://schemas.microsoft.com/office/drawing/2014/main" val="348952505"/>
                    </a:ext>
                  </a:extLst>
                </a:gridCol>
                <a:gridCol w="4525771">
                  <a:extLst>
                    <a:ext uri="{9D8B030D-6E8A-4147-A177-3AD203B41FA5}">
                      <a16:colId xmlns:a16="http://schemas.microsoft.com/office/drawing/2014/main" val="24784835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#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600" dirty="0"/>
                        <a:t>日時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600" dirty="0"/>
                        <a:t>講義</a:t>
                      </a:r>
                      <a:r>
                        <a:rPr kumimoji="1" lang="en-US" altLang="ja-JP" sz="1600" dirty="0"/>
                        <a:t>(</a:t>
                      </a:r>
                      <a:r>
                        <a:rPr kumimoji="1" lang="ja-JP" altLang="en-US" sz="1600" dirty="0"/>
                        <a:t>演習</a:t>
                      </a:r>
                      <a:r>
                        <a:rPr kumimoji="1" lang="en-US" altLang="ja-JP" sz="1600" dirty="0"/>
                        <a:t>)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600" dirty="0"/>
                        <a:t>宿題</a:t>
                      </a:r>
                      <a:r>
                        <a:rPr kumimoji="1" lang="en-US" altLang="ja-JP" sz="1600" dirty="0"/>
                        <a:t>(</a:t>
                      </a:r>
                      <a:r>
                        <a:rPr kumimoji="1" lang="ja-JP" altLang="en-US" sz="1600" dirty="0"/>
                        <a:t>予習</a:t>
                      </a:r>
                      <a:r>
                        <a:rPr kumimoji="1" lang="en-US" altLang="ja-JP" sz="1600" dirty="0"/>
                        <a:t>)</a:t>
                      </a:r>
                      <a:endParaRPr kumimoji="1" lang="ja-JP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8392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Day 1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4/16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600" dirty="0"/>
                        <a:t>ガイダンス＆</a:t>
                      </a:r>
                      <a:r>
                        <a:rPr kumimoji="1" lang="en-US" altLang="ja-JP" sz="1600" dirty="0"/>
                        <a:t>Google </a:t>
                      </a:r>
                      <a:r>
                        <a:rPr kumimoji="1" lang="en-US" altLang="ja-JP" sz="1600" dirty="0" err="1"/>
                        <a:t>Colab</a:t>
                      </a:r>
                      <a:r>
                        <a:rPr kumimoji="1" lang="ja-JP" altLang="en-US" sz="1600" dirty="0"/>
                        <a:t>に触ってみる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600" dirty="0"/>
                        <a:t>リテラル／データ構造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54049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Day 2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4/23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dirty="0"/>
                        <a:t>リテラル／データ構造</a:t>
                      </a:r>
                      <a:r>
                        <a:rPr kumimoji="1" lang="ja-JP" altLang="en-US" sz="1600" dirty="0">
                          <a:solidFill>
                            <a:schemeClr val="accent5"/>
                          </a:solidFill>
                        </a:rPr>
                        <a:t>演習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600" dirty="0"/>
                        <a:t>演算子／制御構文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18786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Day 3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4/30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dirty="0"/>
                        <a:t>演算子／制御構文</a:t>
                      </a:r>
                      <a:r>
                        <a:rPr kumimoji="1" lang="ja-JP" altLang="en-US" sz="1600" dirty="0">
                          <a:solidFill>
                            <a:schemeClr val="accent5"/>
                          </a:solidFill>
                        </a:rPr>
                        <a:t>演習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dirty="0"/>
                        <a:t>関数／ラムダ式／オブジェクト指向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3283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Day 4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5/07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dirty="0"/>
                        <a:t>関数／ラムダ式／オブジェクト指向</a:t>
                      </a:r>
                      <a:r>
                        <a:rPr kumimoji="1" lang="ja-JP" altLang="en-US" sz="1600" dirty="0">
                          <a:solidFill>
                            <a:schemeClr val="accent5"/>
                          </a:solidFill>
                        </a:rPr>
                        <a:t>演習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600" dirty="0"/>
                        <a:t>数値処理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50232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Day 5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5/14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dirty="0"/>
                        <a:t>数値処理</a:t>
                      </a:r>
                      <a:r>
                        <a:rPr kumimoji="1" lang="ja-JP" altLang="en-US" sz="1600" dirty="0">
                          <a:solidFill>
                            <a:schemeClr val="accent5"/>
                          </a:solidFill>
                        </a:rPr>
                        <a:t>演習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dirty="0"/>
                        <a:t>可視化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36089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Day 6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5/21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dirty="0"/>
                        <a:t>可視化</a:t>
                      </a:r>
                      <a:r>
                        <a:rPr kumimoji="1" lang="ja-JP" altLang="en-US" sz="1600" dirty="0">
                          <a:solidFill>
                            <a:schemeClr val="accent5"/>
                          </a:solidFill>
                        </a:rPr>
                        <a:t>演習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600" dirty="0"/>
                        <a:t>機械学習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81324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Day 7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5/28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dirty="0"/>
                        <a:t>機械学習</a:t>
                      </a:r>
                      <a:r>
                        <a:rPr kumimoji="1" lang="ja-JP" altLang="en-US" sz="1600" dirty="0">
                          <a:solidFill>
                            <a:schemeClr val="accent5"/>
                          </a:solidFill>
                        </a:rPr>
                        <a:t>演習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dirty="0"/>
                        <a:t>ディープラーニング</a:t>
                      </a:r>
                      <a:endParaRPr kumimoji="1" lang="en-US" altLang="ja-JP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57504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Day 8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6/04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dirty="0"/>
                        <a:t>ディープラーニング</a:t>
                      </a:r>
                      <a:r>
                        <a:rPr kumimoji="1" lang="ja-JP" altLang="en-US" sz="1600" dirty="0">
                          <a:solidFill>
                            <a:schemeClr val="accent5"/>
                          </a:solidFill>
                        </a:rPr>
                        <a:t>演習</a:t>
                      </a:r>
                      <a:endParaRPr kumimoji="1" lang="en-US" altLang="ja-JP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600" dirty="0"/>
                        <a:t>(</a:t>
                      </a:r>
                      <a:r>
                        <a:rPr kumimoji="1" lang="ja-JP" altLang="en-US" sz="1600" dirty="0"/>
                        <a:t>生成</a:t>
                      </a:r>
                      <a:r>
                        <a:rPr kumimoji="1" lang="en-US" altLang="ja-JP" sz="1600" dirty="0"/>
                        <a:t>AI)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77703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Day 9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6/18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600" dirty="0"/>
                        <a:t>(</a:t>
                      </a:r>
                      <a:r>
                        <a:rPr kumimoji="1" lang="ja-JP" altLang="en-US" sz="1600" dirty="0"/>
                        <a:t>生成</a:t>
                      </a:r>
                      <a:r>
                        <a:rPr kumimoji="1" lang="en-US" altLang="ja-JP" sz="1600" dirty="0"/>
                        <a:t>AI</a:t>
                      </a:r>
                      <a:r>
                        <a:rPr kumimoji="1" lang="ja-JP" altLang="en-US" sz="1600" dirty="0">
                          <a:solidFill>
                            <a:schemeClr val="accent5"/>
                          </a:solidFill>
                        </a:rPr>
                        <a:t>演習</a:t>
                      </a:r>
                      <a:r>
                        <a:rPr kumimoji="1" lang="en-US" altLang="ja-JP" sz="160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600" dirty="0"/>
                        <a:t>最終レポート</a:t>
                      </a:r>
                      <a:r>
                        <a:rPr kumimoji="1" lang="en-US" altLang="ja-JP" sz="1600" dirty="0"/>
                        <a:t>(</a:t>
                      </a:r>
                      <a:r>
                        <a:rPr kumimoji="1" lang="ja-JP" altLang="en-US" sz="1600" dirty="0"/>
                        <a:t>期限</a:t>
                      </a:r>
                      <a:r>
                        <a:rPr kumimoji="1" lang="en-US" altLang="ja-JP" sz="1600" dirty="0"/>
                        <a:t>6</a:t>
                      </a:r>
                      <a:r>
                        <a:rPr kumimoji="1" lang="ja-JP" altLang="en-US" sz="1600" dirty="0"/>
                        <a:t>月末</a:t>
                      </a:r>
                      <a:r>
                        <a:rPr kumimoji="1" lang="en-US" altLang="ja-JP" sz="160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8971788"/>
                  </a:ext>
                </a:extLst>
              </a:tr>
            </a:tbl>
          </a:graphicData>
        </a:graphic>
      </p:graphicFrame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C8C59E9-E7E3-48FF-903C-F87318E42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Day2</a:t>
            </a:r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F22205E-8A53-4437-90B8-E8B58C218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A0251-0B3B-4C1C-96DC-5D2833458AB2}" type="slidenum">
              <a:rPr kumimoji="1" lang="ja-JP" altLang="en-US" smtClean="0"/>
              <a:t>2</a:t>
            </a:fld>
            <a:endParaRPr kumimoji="1" lang="ja-JP" altLang="en-US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69953FC1-7C30-4DA7-BCEC-C1E2ECA25E08}"/>
              </a:ext>
            </a:extLst>
          </p:cNvPr>
          <p:cNvSpPr txBox="1"/>
          <p:nvPr/>
        </p:nvSpPr>
        <p:spPr>
          <a:xfrm>
            <a:off x="1047699" y="5661878"/>
            <a:ext cx="107813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SzPct val="130000"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ja-JP" altLang="en-US" sz="2400" dirty="0"/>
              <a:t>内容は進捗に応じて適宜変更する。</a:t>
            </a:r>
            <a:endParaRPr lang="en-US" altLang="ja-JP" sz="2400" dirty="0"/>
          </a:p>
          <a:p>
            <a:pPr marL="285750" indent="-285750">
              <a:buSzPct val="130000"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ja-JP" altLang="en-US" sz="2400" dirty="0"/>
              <a:t>本講義は演習を織り交ぜて行うので</a:t>
            </a:r>
            <a:r>
              <a:rPr lang="en-US" altLang="ja-JP" sz="2400" dirty="0"/>
              <a:t>PC</a:t>
            </a:r>
            <a:r>
              <a:rPr lang="ja-JP" altLang="en-US" sz="2400" dirty="0"/>
              <a:t>を持ってくること。</a:t>
            </a:r>
          </a:p>
        </p:txBody>
      </p:sp>
    </p:spTree>
    <p:extLst>
      <p:ext uri="{BB962C8B-B14F-4D97-AF65-F5344CB8AC3E}">
        <p14:creationId xmlns:p14="http://schemas.microsoft.com/office/powerpoint/2010/main" val="2174229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情報科学Ｃ</a:t>
            </a: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第２回　</a:t>
            </a:r>
            <a:r>
              <a:rPr kumimoji="1" lang="ja-JP" altLang="en-US" sz="2400" dirty="0"/>
              <a:t>リテラル／データ構造</a:t>
            </a:r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情報科学ｃ</a:t>
            </a:r>
            <a:endParaRPr kumimoji="1" lang="ja-JP" alt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ja-JP"/>
              <a:t>p.</a:t>
            </a:r>
            <a:fld id="{71584EDF-536B-41D0-946E-780F35A2C473}" type="slidenum">
              <a:rPr lang="ja-JP" altLang="en-US" smtClean="0"/>
              <a:pPr/>
              <a:t>3</a:t>
            </a:fld>
            <a:endParaRPr lang="ja-JP" altLang="en-US" dirty="0"/>
          </a:p>
        </p:txBody>
      </p:sp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91617532-72A8-4D77-B75C-DB0447AED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ja-JP"/>
              <a:t>Day2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08322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FBAFCEC-8A6E-AA99-A7DD-8CE3C747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 dirty="0"/>
              <a:t>情報科学ｃ</a:t>
            </a:r>
          </a:p>
        </p:txBody>
      </p:sp>
      <p:sp>
        <p:nvSpPr>
          <p:cNvPr id="7" name="タイトル 6">
            <a:extLst>
              <a:ext uri="{FF2B5EF4-FFF2-40B4-BE49-F238E27FC236}">
                <a16:creationId xmlns:a16="http://schemas.microsoft.com/office/drawing/2014/main" id="{8819AB71-0721-4414-265D-70A1C519A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予習テキストで学んだ事</a:t>
            </a:r>
          </a:p>
        </p:txBody>
      </p:sp>
      <p:sp>
        <p:nvSpPr>
          <p:cNvPr id="8" name="コンテンツ プレースホルダー 7">
            <a:extLst>
              <a:ext uri="{FF2B5EF4-FFF2-40B4-BE49-F238E27FC236}">
                <a16:creationId xmlns:a16="http://schemas.microsoft.com/office/drawing/2014/main" id="{02A59D4F-CCF2-27D9-CEF2-CD414083A35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ja-JP" altLang="en-US" dirty="0"/>
              <a:t>リテラル</a:t>
            </a:r>
            <a:endParaRPr lang="en-US" altLang="ja-JP" dirty="0"/>
          </a:p>
          <a:p>
            <a:pPr lvl="1"/>
            <a:r>
              <a:rPr lang="en-US" altLang="ja-JP" dirty="0"/>
              <a:t>None</a:t>
            </a:r>
            <a:r>
              <a:rPr lang="ja-JP" altLang="en-US" dirty="0"/>
              <a:t>と</a:t>
            </a:r>
            <a:r>
              <a:rPr lang="en-US" altLang="ja-JP" dirty="0"/>
              <a:t>Bool (True or False)</a:t>
            </a:r>
          </a:p>
          <a:p>
            <a:pPr lvl="1"/>
            <a:r>
              <a:rPr lang="ja-JP" altLang="en-US" dirty="0"/>
              <a:t>文字列</a:t>
            </a:r>
          </a:p>
          <a:p>
            <a:pPr lvl="1"/>
            <a:r>
              <a:rPr lang="ja-JP" altLang="en-US" dirty="0"/>
              <a:t>数値</a:t>
            </a:r>
            <a:endParaRPr lang="en-US" altLang="ja-JP" dirty="0"/>
          </a:p>
          <a:p>
            <a:pPr lvl="2"/>
            <a:r>
              <a:rPr lang="ja-JP" altLang="en-US" dirty="0"/>
              <a:t>整数、少数、複素数</a:t>
            </a:r>
          </a:p>
          <a:p>
            <a:r>
              <a:rPr lang="ja-JP" altLang="en-US" dirty="0"/>
              <a:t>変数</a:t>
            </a:r>
            <a:endParaRPr lang="en-US" altLang="ja-JP" dirty="0"/>
          </a:p>
          <a:p>
            <a:pPr lvl="1"/>
            <a:r>
              <a:rPr lang="ja-JP" altLang="en-US" dirty="0"/>
              <a:t>変数定義</a:t>
            </a:r>
          </a:p>
          <a:p>
            <a:pPr lvl="1"/>
            <a:r>
              <a:rPr lang="ja-JP" altLang="en-US" dirty="0"/>
              <a:t>変数名について</a:t>
            </a:r>
          </a:p>
          <a:p>
            <a:r>
              <a:rPr lang="ja-JP" altLang="en-US" dirty="0"/>
              <a:t>定数</a:t>
            </a:r>
          </a:p>
          <a:p>
            <a:pPr lvl="1"/>
            <a:r>
              <a:rPr lang="en-US" altLang="ja-JP" dirty="0"/>
              <a:t>Python</a:t>
            </a:r>
            <a:r>
              <a:rPr lang="ja-JP" altLang="en-US" dirty="0"/>
              <a:t>には無い！</a:t>
            </a:r>
          </a:p>
          <a:p>
            <a:r>
              <a:rPr lang="ja-JP" altLang="en-US" dirty="0"/>
              <a:t>複合的なデータ型</a:t>
            </a:r>
            <a:endParaRPr lang="en-US" altLang="ja-JP" dirty="0"/>
          </a:p>
          <a:p>
            <a:pPr lvl="1"/>
            <a:r>
              <a:rPr lang="ja-JP" altLang="en-US" dirty="0"/>
              <a:t>日付型</a:t>
            </a:r>
          </a:p>
        </p:txBody>
      </p:sp>
      <p:sp>
        <p:nvSpPr>
          <p:cNvPr id="9" name="コンテンツ プレースホルダー 8">
            <a:extLst>
              <a:ext uri="{FF2B5EF4-FFF2-40B4-BE49-F238E27FC236}">
                <a16:creationId xmlns:a16="http://schemas.microsoft.com/office/drawing/2014/main" id="{4F1EF0F1-51EC-3148-5BB4-A9555422C2A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ja-JP" altLang="en-US" dirty="0"/>
              <a:t>データ構造</a:t>
            </a:r>
          </a:p>
          <a:p>
            <a:pPr lvl="1"/>
            <a:r>
              <a:rPr lang="ja-JP" altLang="en-US" dirty="0"/>
              <a:t>リスト</a:t>
            </a:r>
            <a:endParaRPr lang="en-US" altLang="ja-JP" dirty="0"/>
          </a:p>
          <a:p>
            <a:pPr lvl="2"/>
            <a:r>
              <a:rPr lang="ja-JP" altLang="en-US" dirty="0"/>
              <a:t>要素の操作</a:t>
            </a:r>
            <a:endParaRPr lang="en-US" altLang="ja-JP" dirty="0"/>
          </a:p>
          <a:p>
            <a:pPr lvl="2"/>
            <a:r>
              <a:rPr lang="ja-JP" altLang="en-US" dirty="0"/>
              <a:t>多次元リスト</a:t>
            </a:r>
          </a:p>
          <a:p>
            <a:pPr lvl="1"/>
            <a:r>
              <a:rPr lang="ja-JP" altLang="en-US" dirty="0"/>
              <a:t>タプル</a:t>
            </a:r>
          </a:p>
          <a:p>
            <a:pPr lvl="1"/>
            <a:r>
              <a:rPr lang="ja-JP" altLang="en-US" dirty="0"/>
              <a:t>セット</a:t>
            </a:r>
          </a:p>
          <a:p>
            <a:pPr lvl="1"/>
            <a:r>
              <a:rPr lang="ja-JP" altLang="en-US" dirty="0"/>
              <a:t>辞書</a:t>
            </a:r>
            <a:endParaRPr lang="en-US" altLang="ja-JP" dirty="0"/>
          </a:p>
          <a:p>
            <a:pPr lvl="1"/>
            <a:r>
              <a:rPr lang="en-US" altLang="ja-JP" dirty="0"/>
              <a:t>JSON</a:t>
            </a:r>
            <a:endParaRPr lang="ja-JP" altLang="en-US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E0906CB-64DC-B653-3209-0F53F1D58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ja-JP"/>
              <a:t>Day2</a:t>
            </a:r>
            <a:endParaRPr lang="ja-JP" alt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98E9A5A-087C-397D-9D0C-6A1F49A89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A0251-0B3B-4C1C-96DC-5D2833458AB2}" type="slidenum">
              <a:rPr lang="ja-JP" altLang="en-US" smtClean="0"/>
              <a:pPr/>
              <a:t>4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462172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E0F3099F-804A-9FF0-8B7F-A35BD430B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情報科学ｃ</a:t>
            </a:r>
          </a:p>
        </p:txBody>
      </p:sp>
      <p:sp>
        <p:nvSpPr>
          <p:cNvPr id="11" name="タイトル 10">
            <a:extLst>
              <a:ext uri="{FF2B5EF4-FFF2-40B4-BE49-F238E27FC236}">
                <a16:creationId xmlns:a16="http://schemas.microsoft.com/office/drawing/2014/main" id="{B3F98BB1-7C57-EFAB-FFF3-6EA17486C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None</a:t>
            </a:r>
            <a:r>
              <a:rPr lang="ja-JP" altLang="en-US" dirty="0"/>
              <a:t>とブール</a:t>
            </a:r>
          </a:p>
        </p:txBody>
      </p:sp>
      <p:sp>
        <p:nvSpPr>
          <p:cNvPr id="12" name="コンテンツ プレースホルダー 11">
            <a:extLst>
              <a:ext uri="{FF2B5EF4-FFF2-40B4-BE49-F238E27FC236}">
                <a16:creationId xmlns:a16="http://schemas.microsoft.com/office/drawing/2014/main" id="{B9401BAA-5C21-2015-A443-5B728F5155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/>
              <a:t>None</a:t>
            </a:r>
            <a:r>
              <a:rPr lang="ja-JP" altLang="en-US" dirty="0"/>
              <a:t>は何もない事を表す特殊なリテラル</a:t>
            </a:r>
            <a:endParaRPr lang="en-US" altLang="ja-JP" dirty="0"/>
          </a:p>
          <a:p>
            <a:pPr lvl="1"/>
            <a:r>
              <a:rPr lang="ja-JP" altLang="en-US" dirty="0"/>
              <a:t>他のほとんどの言語では</a:t>
            </a:r>
            <a:r>
              <a:rPr lang="en-US" altLang="ja-JP" dirty="0"/>
              <a:t>NULL</a:t>
            </a:r>
            <a:r>
              <a:rPr lang="ja-JP" altLang="en-US" dirty="0"/>
              <a:t>と表現されています</a:t>
            </a:r>
            <a:endParaRPr lang="en-US" altLang="ja-JP" dirty="0"/>
          </a:p>
          <a:p>
            <a:r>
              <a:rPr lang="ja-JP" altLang="en-US" dirty="0"/>
              <a:t>ブールとは</a:t>
            </a:r>
            <a:r>
              <a:rPr lang="en-US" altLang="ja-JP" dirty="0"/>
              <a:t>True</a:t>
            </a:r>
            <a:r>
              <a:rPr lang="ja-JP" altLang="en-US" dirty="0"/>
              <a:t>もしくは</a:t>
            </a:r>
            <a:r>
              <a:rPr lang="en-US" altLang="ja-JP" dirty="0"/>
              <a:t>False</a:t>
            </a:r>
            <a:r>
              <a:rPr lang="ja-JP" altLang="en-US" dirty="0"/>
              <a:t>を取るデータ型</a:t>
            </a:r>
          </a:p>
          <a:p>
            <a:r>
              <a:rPr lang="en-US" altLang="ja-JP" dirty="0"/>
              <a:t>None</a:t>
            </a:r>
            <a:r>
              <a:rPr lang="ja-JP" altLang="en-US" dirty="0"/>
              <a:t>と</a:t>
            </a:r>
            <a:r>
              <a:rPr lang="en-US" altLang="ja-JP" dirty="0"/>
              <a:t>True</a:t>
            </a:r>
            <a:r>
              <a:rPr lang="ja-JP" altLang="en-US" dirty="0"/>
              <a:t>と</a:t>
            </a:r>
            <a:r>
              <a:rPr lang="en-US" altLang="ja-JP" dirty="0"/>
              <a:t>False</a:t>
            </a:r>
            <a:r>
              <a:rPr lang="ja-JP" altLang="en-US" dirty="0"/>
              <a:t>の使い道を考えてみよう</a:t>
            </a:r>
          </a:p>
          <a:p>
            <a:r>
              <a:rPr lang="ja-JP" altLang="en-US" dirty="0"/>
              <a:t>例</a:t>
            </a:r>
          </a:p>
          <a:p>
            <a:pPr lvl="1"/>
            <a:r>
              <a:rPr lang="ja-JP" altLang="en-US" dirty="0"/>
              <a:t>女性なら</a:t>
            </a:r>
            <a:r>
              <a:rPr lang="en-US" altLang="ja-JP" dirty="0"/>
              <a:t>True</a:t>
            </a:r>
            <a:r>
              <a:rPr lang="ja-JP" altLang="en-US" dirty="0"/>
              <a:t>、男性なら</a:t>
            </a:r>
            <a:r>
              <a:rPr lang="en-US" altLang="ja-JP" dirty="0"/>
              <a:t>False</a:t>
            </a:r>
            <a:r>
              <a:rPr lang="ja-JP" altLang="en-US" dirty="0"/>
              <a:t>をとる</a:t>
            </a:r>
            <a:r>
              <a:rPr lang="en-US" altLang="ja-JP" dirty="0" err="1"/>
              <a:t>isFemale</a:t>
            </a:r>
            <a:r>
              <a:rPr lang="ja-JP" altLang="en-US" dirty="0"/>
              <a:t>という変数を考える</a:t>
            </a:r>
          </a:p>
          <a:p>
            <a:pPr lvl="1"/>
            <a:r>
              <a:rPr lang="ja-JP" altLang="en-US" dirty="0"/>
              <a:t>昨今、性別を</a:t>
            </a:r>
            <a:r>
              <a:rPr lang="en-US" altLang="ja-JP" dirty="0"/>
              <a:t>『</a:t>
            </a:r>
            <a:r>
              <a:rPr lang="ja-JP" altLang="en-US" dirty="0"/>
              <a:t>答えたくない</a:t>
            </a:r>
            <a:r>
              <a:rPr lang="en-US" altLang="ja-JP" dirty="0"/>
              <a:t>』</a:t>
            </a:r>
            <a:r>
              <a:rPr lang="ja-JP" altLang="en-US" dirty="0"/>
              <a:t>という選択肢があるものがある</a:t>
            </a:r>
          </a:p>
          <a:p>
            <a:pPr lvl="1"/>
            <a:r>
              <a:rPr lang="ja-JP" altLang="en-US" dirty="0"/>
              <a:t>では、こうすればどうだろうか？</a:t>
            </a:r>
          </a:p>
          <a:p>
            <a:pPr lvl="1"/>
            <a:r>
              <a:rPr lang="ja-JP" altLang="en-US" dirty="0"/>
              <a:t>女性なら</a:t>
            </a:r>
            <a:r>
              <a:rPr lang="en-US" altLang="ja-JP" dirty="0"/>
              <a:t>True</a:t>
            </a:r>
            <a:r>
              <a:rPr lang="ja-JP" altLang="en-US" dirty="0"/>
              <a:t>、男性なら</a:t>
            </a:r>
            <a:r>
              <a:rPr lang="en-US" altLang="ja-JP" dirty="0"/>
              <a:t>False</a:t>
            </a:r>
            <a:r>
              <a:rPr lang="ja-JP" altLang="en-US" dirty="0"/>
              <a:t>、答えたくない場合は</a:t>
            </a:r>
            <a:r>
              <a:rPr lang="en-US" altLang="ja-JP" dirty="0"/>
              <a:t>None</a:t>
            </a:r>
            <a:endParaRPr lang="ja-JP" altLang="en-US" dirty="0"/>
          </a:p>
          <a:p>
            <a:pPr lvl="1"/>
            <a:endParaRPr lang="en-US" altLang="ja-JP" dirty="0"/>
          </a:p>
          <a:p>
            <a:endParaRPr lang="en-US" altLang="ja-JP" dirty="0"/>
          </a:p>
          <a:p>
            <a:endParaRPr lang="ja-JP" altLang="en-US" dirty="0"/>
          </a:p>
        </p:txBody>
      </p:sp>
      <p:sp>
        <p:nvSpPr>
          <p:cNvPr id="6" name="日付プレースホルダー 5">
            <a:extLst>
              <a:ext uri="{FF2B5EF4-FFF2-40B4-BE49-F238E27FC236}">
                <a16:creationId xmlns:a16="http://schemas.microsoft.com/office/drawing/2014/main" id="{56B83F50-EBF5-B5F4-7694-2E9FF2BDC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Day2</a:t>
            </a:r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84873B6-0B61-BBDD-9518-D5AFF7E66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A0251-0B3B-4C1C-96DC-5D2833458AB2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18820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54E5EAB4-46F2-C291-AFDD-322A44936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情報科学ｃ</a:t>
            </a:r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8952F3B2-7495-342D-9047-35413D4F0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文字列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6EE3FA9-1E82-ED23-0AE1-EC568182DC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ソースコード内で文字列は直打ちできません。</a:t>
            </a:r>
          </a:p>
          <a:p>
            <a:r>
              <a:rPr kumimoji="1" lang="ja-JP" altLang="en-US" dirty="0"/>
              <a:t>ブラケットで囲みます。</a:t>
            </a:r>
          </a:p>
          <a:p>
            <a:r>
              <a:rPr lang="en-US" altLang="ja-JP" dirty="0"/>
              <a:t>Python</a:t>
            </a:r>
            <a:r>
              <a:rPr lang="ja-JP" altLang="en-US" dirty="0"/>
              <a:t>ではブラケットに使う文字は「</a:t>
            </a:r>
            <a:r>
              <a:rPr lang="en-US" altLang="ja-JP" dirty="0"/>
              <a:t>”</a:t>
            </a:r>
            <a:r>
              <a:rPr lang="ja-JP" altLang="en-US" dirty="0"/>
              <a:t>」と「</a:t>
            </a:r>
            <a:r>
              <a:rPr lang="en-US" altLang="ja-JP" dirty="0"/>
              <a:t>’</a:t>
            </a:r>
            <a:r>
              <a:rPr lang="ja-JP" altLang="en-US" dirty="0"/>
              <a:t>」。</a:t>
            </a:r>
            <a:endParaRPr lang="en-US" altLang="ja-JP" dirty="0"/>
          </a:p>
          <a:p>
            <a:endParaRPr lang="en-US" altLang="ja-JP" sz="3600" dirty="0"/>
          </a:p>
          <a:p>
            <a:r>
              <a:rPr lang="ja-JP" altLang="en-US" dirty="0"/>
              <a:t>では文字列中に「</a:t>
            </a:r>
            <a:r>
              <a:rPr lang="en-US" altLang="ja-JP" dirty="0"/>
              <a:t>”</a:t>
            </a:r>
            <a:r>
              <a:rPr lang="ja-JP" altLang="en-US" dirty="0"/>
              <a:t>」や「</a:t>
            </a:r>
            <a:r>
              <a:rPr lang="en-US" altLang="ja-JP" dirty="0"/>
              <a:t>’</a:t>
            </a:r>
            <a:r>
              <a:rPr lang="ja-JP" altLang="en-US" dirty="0"/>
              <a:t>」を使いたいときは？</a:t>
            </a:r>
          </a:p>
          <a:p>
            <a:pPr lvl="1"/>
            <a:r>
              <a:rPr lang="ja-JP" altLang="en-US" b="1" u="sng" dirty="0">
                <a:solidFill>
                  <a:schemeClr val="accent1"/>
                </a:solidFill>
              </a:rPr>
              <a:t>エスケープシーケンス</a:t>
            </a:r>
            <a:r>
              <a:rPr lang="ja-JP" altLang="en-US" dirty="0"/>
              <a:t>をつかう。</a:t>
            </a:r>
            <a:endParaRPr lang="en-US" altLang="ja-JP" dirty="0"/>
          </a:p>
          <a:p>
            <a:endParaRPr lang="en-US" altLang="ja-JP" dirty="0"/>
          </a:p>
          <a:p>
            <a:endParaRPr lang="ja-JP" altLang="en-US" dirty="0"/>
          </a:p>
          <a:p>
            <a:endParaRPr lang="en-US" altLang="ja-JP" dirty="0"/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FB87344-FDD8-2E85-2E76-F76801C60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Day2</a:t>
            </a:r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2D18F20-4BD7-76D8-DC6A-E32D1FF4C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A0251-0B3B-4C1C-96DC-5D2833458AB2}" type="slidenum">
              <a:rPr kumimoji="1" lang="ja-JP" altLang="en-US" smtClean="0"/>
              <a:t>6</a:t>
            </a:fld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E81E3F7-B448-DADC-62DB-014234E979FA}"/>
              </a:ext>
            </a:extLst>
          </p:cNvPr>
          <p:cNvSpPr txBox="1"/>
          <p:nvPr/>
        </p:nvSpPr>
        <p:spPr>
          <a:xfrm>
            <a:off x="1355267" y="3312367"/>
            <a:ext cx="9998531" cy="646331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kumimoji="1" lang="en-US" altLang="ja-JP" dirty="0"/>
              <a:t>'Hello World’</a:t>
            </a:r>
          </a:p>
          <a:p>
            <a:r>
              <a:rPr kumimoji="1" lang="en-US" altLang="ja-JP" dirty="0"/>
              <a:t>“Hello World”</a:t>
            </a:r>
            <a:endParaRPr kumimoji="1" lang="ja-JP" altLang="en-US" dirty="0"/>
          </a:p>
        </p:txBody>
      </p: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F7789C1C-8039-60E6-A95B-64EC12E11B16}"/>
              </a:ext>
            </a:extLst>
          </p:cNvPr>
          <p:cNvGrpSpPr/>
          <p:nvPr/>
        </p:nvGrpSpPr>
        <p:grpSpPr>
          <a:xfrm>
            <a:off x="2304662" y="4875697"/>
            <a:ext cx="2789853" cy="1872282"/>
            <a:chOff x="6755364" y="4514416"/>
            <a:chExt cx="2789853" cy="1862048"/>
          </a:xfrm>
        </p:grpSpPr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42C38920-094F-4AC9-E997-666DA338B228}"/>
                </a:ext>
              </a:extLst>
            </p:cNvPr>
            <p:cNvSpPr txBox="1"/>
            <p:nvPr/>
          </p:nvSpPr>
          <p:spPr>
            <a:xfrm>
              <a:off x="6755364" y="4514416"/>
              <a:ext cx="2789853" cy="1862048"/>
            </a:xfrm>
            <a:prstGeom prst="rect">
              <a:avLst/>
            </a:prstGeom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kumimoji="1" lang="en-US" altLang="ja-JP" sz="11500" dirty="0"/>
                <a:t>\</a:t>
              </a:r>
              <a:endParaRPr kumimoji="1" lang="ja-JP" altLang="en-US" sz="11500" dirty="0"/>
            </a:p>
          </p:txBody>
        </p:sp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568E4013-A984-77F1-FD83-487C10E303BE}"/>
                </a:ext>
              </a:extLst>
            </p:cNvPr>
            <p:cNvSpPr txBox="1"/>
            <p:nvPr/>
          </p:nvSpPr>
          <p:spPr>
            <a:xfrm>
              <a:off x="7613781" y="5260774"/>
              <a:ext cx="19314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ja-JP" altLang="en-US" dirty="0">
                  <a:solidFill>
                    <a:schemeClr val="bg1"/>
                  </a:solidFill>
                </a:rPr>
                <a:t>～ほにゃらら～</a:t>
              </a:r>
              <a:endParaRPr kumimoji="1" lang="ja-JP" altLang="en-US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58978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E853ADCE-12AA-4070-9306-D9AD730FE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情報科学ｃ</a:t>
            </a:r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BF09CEB2-446B-0FF0-DE43-8856198CE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エスケープシーケンス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2644396-B84F-438C-50C5-E350D5ED4E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5269" y="1718218"/>
            <a:ext cx="9998530" cy="4855093"/>
          </a:xfrm>
        </p:spPr>
        <p:txBody>
          <a:bodyPr/>
          <a:lstStyle/>
          <a:p>
            <a:r>
              <a:rPr lang="ja-JP" altLang="en-US" dirty="0"/>
              <a:t>「</a:t>
            </a:r>
            <a:r>
              <a:rPr lang="en-US" altLang="ja-JP" dirty="0"/>
              <a:t>\</a:t>
            </a:r>
            <a:r>
              <a:rPr lang="ja-JP" altLang="en-US" dirty="0"/>
              <a:t>」とそれに続く文字からなる文字列</a:t>
            </a:r>
            <a:endParaRPr lang="en-US" altLang="ja-JP" dirty="0"/>
          </a:p>
          <a:p>
            <a:r>
              <a:rPr kumimoji="1" lang="ja-JP" altLang="en-US" dirty="0"/>
              <a:t>代表的なエスケープシーケンス</a:t>
            </a:r>
            <a:endParaRPr kumimoji="1" lang="en-US" altLang="ja-JP" dirty="0"/>
          </a:p>
          <a:p>
            <a:pPr lvl="1"/>
            <a:endParaRPr lang="en-US" altLang="ja-JP" dirty="0"/>
          </a:p>
          <a:p>
            <a:pPr lvl="1"/>
            <a:endParaRPr kumimoji="1" lang="en-US" altLang="ja-JP" dirty="0"/>
          </a:p>
          <a:p>
            <a:pPr lvl="1"/>
            <a:endParaRPr lang="en-US" altLang="ja-JP" dirty="0"/>
          </a:p>
          <a:p>
            <a:pPr lvl="1"/>
            <a:r>
              <a:rPr lang="en-US" altLang="ja-JP" dirty="0"/>
              <a:t>ASCII</a:t>
            </a:r>
            <a:r>
              <a:rPr lang="ja-JP" altLang="en-US" dirty="0"/>
              <a:t>コード直打ちの時にも使える</a:t>
            </a:r>
            <a:endParaRPr lang="en-US" altLang="ja-JP" dirty="0"/>
          </a:p>
          <a:p>
            <a:pPr lvl="1"/>
            <a:endParaRPr lang="en-US" altLang="ja-JP" dirty="0"/>
          </a:p>
          <a:p>
            <a:pPr lvl="1"/>
            <a:endParaRPr lang="en-US" altLang="ja-JP" dirty="0"/>
          </a:p>
          <a:p>
            <a:pPr lvl="1"/>
            <a:endParaRPr lang="en-US" altLang="ja-JP" dirty="0"/>
          </a:p>
          <a:p>
            <a:pPr lvl="1"/>
            <a:r>
              <a:rPr lang="en-US" altLang="ja-JP" dirty="0"/>
              <a:t>UNICODE</a:t>
            </a:r>
            <a:r>
              <a:rPr lang="ja-JP" altLang="en-US" dirty="0"/>
              <a:t>直打ちの時にも使える</a:t>
            </a:r>
            <a:endParaRPr lang="en-US" altLang="ja-JP" dirty="0"/>
          </a:p>
          <a:p>
            <a:pPr lvl="1"/>
            <a:endParaRPr kumimoji="1" lang="ja-JP" altLang="en-US" dirty="0"/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AC9AB05-EB8C-755B-0CDD-6CBEF031A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Day2</a:t>
            </a:r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DA7D7CF-5B0F-681F-4229-43BA5CD60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A0251-0B3B-4C1C-96DC-5D2833458AB2}" type="slidenum">
              <a:rPr kumimoji="1" lang="ja-JP" altLang="en-US" smtClean="0"/>
              <a:t>7</a:t>
            </a:fld>
            <a:endParaRPr kumimoji="1" lang="ja-JP" altLang="en-US"/>
          </a:p>
        </p:txBody>
      </p:sp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8B179D9C-24DD-5DF1-57E5-397FCDB23A0A}"/>
              </a:ext>
            </a:extLst>
          </p:cNvPr>
          <p:cNvGrpSpPr/>
          <p:nvPr/>
        </p:nvGrpSpPr>
        <p:grpSpPr>
          <a:xfrm>
            <a:off x="1896836" y="2659169"/>
            <a:ext cx="1710223" cy="1015663"/>
            <a:chOff x="2288721" y="3065153"/>
            <a:chExt cx="1710223" cy="1015663"/>
          </a:xfrm>
        </p:grpSpPr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8FB05705-0BD8-AD53-D3C4-A6E499F9166D}"/>
                </a:ext>
              </a:extLst>
            </p:cNvPr>
            <p:cNvSpPr txBox="1"/>
            <p:nvPr/>
          </p:nvSpPr>
          <p:spPr>
            <a:xfrm>
              <a:off x="2995128" y="3065153"/>
              <a:ext cx="1003816" cy="1015663"/>
            </a:xfrm>
            <a:prstGeom prst="rect">
              <a:avLst/>
            </a:prstGeom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kumimoji="1" lang="en-US" altLang="ja-JP" sz="6000" dirty="0"/>
                <a:t>\n</a:t>
              </a:r>
              <a:endParaRPr kumimoji="1" lang="ja-JP" altLang="en-US" sz="6000" dirty="0"/>
            </a:p>
          </p:txBody>
        </p:sp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92461BDF-08B4-0F57-63D3-1CE9BEE92E2D}"/>
                </a:ext>
              </a:extLst>
            </p:cNvPr>
            <p:cNvSpPr txBox="1"/>
            <p:nvPr/>
          </p:nvSpPr>
          <p:spPr>
            <a:xfrm>
              <a:off x="2288721" y="3388318"/>
              <a:ext cx="17102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dirty="0"/>
                <a:t>改行</a:t>
              </a:r>
            </a:p>
          </p:txBody>
        </p:sp>
      </p:grpSp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EF7549BE-901F-D3EA-E579-89B6DCD63C09}"/>
              </a:ext>
            </a:extLst>
          </p:cNvPr>
          <p:cNvGrpSpPr/>
          <p:nvPr/>
        </p:nvGrpSpPr>
        <p:grpSpPr>
          <a:xfrm>
            <a:off x="3861999" y="2659169"/>
            <a:ext cx="1710223" cy="1015663"/>
            <a:chOff x="5306397" y="3065153"/>
            <a:chExt cx="1710223" cy="1015663"/>
          </a:xfrm>
        </p:grpSpPr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8384B58F-F385-E582-30A6-311B582EA1F4}"/>
                </a:ext>
              </a:extLst>
            </p:cNvPr>
            <p:cNvSpPr txBox="1"/>
            <p:nvPr/>
          </p:nvSpPr>
          <p:spPr>
            <a:xfrm>
              <a:off x="6012804" y="3065153"/>
              <a:ext cx="1003816" cy="1015663"/>
            </a:xfrm>
            <a:prstGeom prst="rect">
              <a:avLst/>
            </a:prstGeom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kumimoji="1" lang="en-US" altLang="ja-JP" sz="6000" dirty="0"/>
                <a:t>\t</a:t>
              </a:r>
              <a:endParaRPr kumimoji="1" lang="ja-JP" altLang="en-US" sz="6000" dirty="0"/>
            </a:p>
          </p:txBody>
        </p:sp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37146B04-66A8-403B-60E9-CAACB09F575D}"/>
                </a:ext>
              </a:extLst>
            </p:cNvPr>
            <p:cNvSpPr txBox="1"/>
            <p:nvPr/>
          </p:nvSpPr>
          <p:spPr>
            <a:xfrm>
              <a:off x="5306397" y="3388318"/>
              <a:ext cx="17102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ja-JP" altLang="en-US" dirty="0"/>
                <a:t>タブ</a:t>
              </a:r>
              <a:endParaRPr kumimoji="1" lang="ja-JP" altLang="en-US" dirty="0"/>
            </a:p>
          </p:txBody>
        </p:sp>
      </p:grp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09957051-6EAE-418D-FF75-5BC2829365F6}"/>
              </a:ext>
            </a:extLst>
          </p:cNvPr>
          <p:cNvGrpSpPr/>
          <p:nvPr/>
        </p:nvGrpSpPr>
        <p:grpSpPr>
          <a:xfrm>
            <a:off x="7792325" y="2659169"/>
            <a:ext cx="1710223" cy="1015663"/>
            <a:chOff x="5306397" y="3065153"/>
            <a:chExt cx="1710223" cy="1015663"/>
          </a:xfrm>
        </p:grpSpPr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FAC8EBCB-47FF-6672-219C-E71AB01F9197}"/>
                </a:ext>
              </a:extLst>
            </p:cNvPr>
            <p:cNvSpPr txBox="1"/>
            <p:nvPr/>
          </p:nvSpPr>
          <p:spPr>
            <a:xfrm>
              <a:off x="6012804" y="3065153"/>
              <a:ext cx="1003816" cy="1015663"/>
            </a:xfrm>
            <a:prstGeom prst="rect">
              <a:avLst/>
            </a:prstGeom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kumimoji="1" lang="en-US" altLang="ja-JP" sz="6000" dirty="0"/>
                <a:t>\’</a:t>
              </a:r>
              <a:endParaRPr kumimoji="1" lang="ja-JP" altLang="en-US" sz="6000" dirty="0"/>
            </a:p>
          </p:txBody>
        </p: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13698688-63AB-DD2E-1A31-2E94DCF01676}"/>
                </a:ext>
              </a:extLst>
            </p:cNvPr>
            <p:cNvSpPr txBox="1"/>
            <p:nvPr/>
          </p:nvSpPr>
          <p:spPr>
            <a:xfrm>
              <a:off x="5306397" y="3388318"/>
              <a:ext cx="17102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dirty="0"/>
                <a:t>　</a:t>
              </a:r>
              <a:r>
                <a:rPr kumimoji="1" lang="en-US" altLang="ja-JP" b="1" dirty="0"/>
                <a:t>‘</a:t>
              </a:r>
              <a:endParaRPr kumimoji="1" lang="ja-JP" altLang="en-US" b="1" dirty="0"/>
            </a:p>
          </p:txBody>
        </p:sp>
      </p:grpSp>
      <p:grpSp>
        <p:nvGrpSpPr>
          <p:cNvPr id="24" name="グループ化 23">
            <a:extLst>
              <a:ext uri="{FF2B5EF4-FFF2-40B4-BE49-F238E27FC236}">
                <a16:creationId xmlns:a16="http://schemas.microsoft.com/office/drawing/2014/main" id="{D34EBE26-1852-A208-3035-5109FA22A49C}"/>
              </a:ext>
            </a:extLst>
          </p:cNvPr>
          <p:cNvGrpSpPr/>
          <p:nvPr/>
        </p:nvGrpSpPr>
        <p:grpSpPr>
          <a:xfrm>
            <a:off x="9757489" y="2659169"/>
            <a:ext cx="1710223" cy="1015663"/>
            <a:chOff x="5306397" y="3065153"/>
            <a:chExt cx="1710223" cy="1015663"/>
          </a:xfrm>
        </p:grpSpPr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id="{545966C9-2ED1-A8F5-0E2D-14F5F9138596}"/>
                </a:ext>
              </a:extLst>
            </p:cNvPr>
            <p:cNvSpPr txBox="1"/>
            <p:nvPr/>
          </p:nvSpPr>
          <p:spPr>
            <a:xfrm>
              <a:off x="6012804" y="3065153"/>
              <a:ext cx="1003816" cy="1015663"/>
            </a:xfrm>
            <a:prstGeom prst="rect">
              <a:avLst/>
            </a:prstGeom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kumimoji="1" lang="en-US" altLang="ja-JP" sz="6000" dirty="0"/>
                <a:t>\”</a:t>
              </a:r>
              <a:endParaRPr kumimoji="1" lang="ja-JP" altLang="en-US" sz="6000" dirty="0"/>
            </a:p>
          </p:txBody>
        </p:sp>
        <p:sp>
          <p:nvSpPr>
            <p:cNvPr id="26" name="テキスト ボックス 25">
              <a:extLst>
                <a:ext uri="{FF2B5EF4-FFF2-40B4-BE49-F238E27FC236}">
                  <a16:creationId xmlns:a16="http://schemas.microsoft.com/office/drawing/2014/main" id="{1CDCD35E-83F2-0BCA-B1B0-8B5B0F231606}"/>
                </a:ext>
              </a:extLst>
            </p:cNvPr>
            <p:cNvSpPr txBox="1"/>
            <p:nvPr/>
          </p:nvSpPr>
          <p:spPr>
            <a:xfrm>
              <a:off x="5306397" y="3388318"/>
              <a:ext cx="17102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dirty="0"/>
                <a:t>　</a:t>
              </a:r>
              <a:r>
                <a:rPr kumimoji="1" lang="en-US" altLang="ja-JP" b="1" dirty="0"/>
                <a:t>“</a:t>
              </a:r>
              <a:endParaRPr kumimoji="1" lang="ja-JP" altLang="en-US" b="1" dirty="0"/>
            </a:p>
          </p:txBody>
        </p:sp>
      </p:grp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D6D68A6A-A87B-2C48-20CA-031F058E7A5E}"/>
              </a:ext>
            </a:extLst>
          </p:cNvPr>
          <p:cNvGrpSpPr/>
          <p:nvPr/>
        </p:nvGrpSpPr>
        <p:grpSpPr>
          <a:xfrm>
            <a:off x="5827162" y="2659169"/>
            <a:ext cx="1710223" cy="1015663"/>
            <a:chOff x="5306397" y="3065153"/>
            <a:chExt cx="1710223" cy="1015663"/>
          </a:xfrm>
        </p:grpSpPr>
        <p:sp>
          <p:nvSpPr>
            <p:cNvPr id="28" name="テキスト ボックス 27">
              <a:extLst>
                <a:ext uri="{FF2B5EF4-FFF2-40B4-BE49-F238E27FC236}">
                  <a16:creationId xmlns:a16="http://schemas.microsoft.com/office/drawing/2014/main" id="{84654BCE-FB15-8089-5337-96037AF68C04}"/>
                </a:ext>
              </a:extLst>
            </p:cNvPr>
            <p:cNvSpPr txBox="1"/>
            <p:nvPr/>
          </p:nvSpPr>
          <p:spPr>
            <a:xfrm>
              <a:off x="6012804" y="3065153"/>
              <a:ext cx="1003816" cy="1015663"/>
            </a:xfrm>
            <a:prstGeom prst="rect">
              <a:avLst/>
            </a:prstGeom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ja-JP" sz="6000" dirty="0"/>
                <a:t>\\</a:t>
              </a:r>
              <a:endParaRPr kumimoji="1" lang="ja-JP" altLang="en-US" sz="6000" dirty="0"/>
            </a:p>
          </p:txBody>
        </p:sp>
        <p:sp>
          <p:nvSpPr>
            <p:cNvPr id="29" name="テキスト ボックス 28">
              <a:extLst>
                <a:ext uri="{FF2B5EF4-FFF2-40B4-BE49-F238E27FC236}">
                  <a16:creationId xmlns:a16="http://schemas.microsoft.com/office/drawing/2014/main" id="{2041B94B-1965-A8BC-D311-A2E2341E03AA}"/>
                </a:ext>
              </a:extLst>
            </p:cNvPr>
            <p:cNvSpPr txBox="1"/>
            <p:nvPr/>
          </p:nvSpPr>
          <p:spPr>
            <a:xfrm>
              <a:off x="5306397" y="3388318"/>
              <a:ext cx="17102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dirty="0"/>
                <a:t>　￥</a:t>
              </a:r>
              <a:endParaRPr kumimoji="1" lang="ja-JP" altLang="en-US" b="1" dirty="0"/>
            </a:p>
          </p:txBody>
        </p:sp>
      </p:grp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1B4946A0-B0A8-D6E1-F7E7-E3D3AD2E8497}"/>
              </a:ext>
            </a:extLst>
          </p:cNvPr>
          <p:cNvSpPr txBox="1"/>
          <p:nvPr/>
        </p:nvSpPr>
        <p:spPr>
          <a:xfrm>
            <a:off x="2248679" y="4310688"/>
            <a:ext cx="4357394" cy="1015663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kumimoji="1" lang="en-US" altLang="ja-JP" sz="6000" dirty="0"/>
              <a:t>print("\x2B")</a:t>
            </a:r>
            <a:endParaRPr kumimoji="1" lang="ja-JP" altLang="en-US" sz="6000" dirty="0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7655831A-EA18-9670-CADF-D114850704FA}"/>
              </a:ext>
            </a:extLst>
          </p:cNvPr>
          <p:cNvSpPr txBox="1"/>
          <p:nvPr/>
        </p:nvSpPr>
        <p:spPr>
          <a:xfrm>
            <a:off x="1896836" y="4974520"/>
            <a:ext cx="28990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+</a:t>
            </a:r>
            <a:endParaRPr kumimoji="1" lang="ja-JP" altLang="en-US" dirty="0"/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C3400C0D-9D4F-446A-E716-FB610CC67D2C}"/>
              </a:ext>
            </a:extLst>
          </p:cNvPr>
          <p:cNvSpPr txBox="1"/>
          <p:nvPr/>
        </p:nvSpPr>
        <p:spPr>
          <a:xfrm>
            <a:off x="6820679" y="4301357"/>
            <a:ext cx="4357394" cy="1015663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kumimoji="1" lang="en-US" altLang="ja-JP" sz="6000" dirty="0"/>
              <a:t>print("\53")</a:t>
            </a:r>
            <a:endParaRPr kumimoji="1" lang="ja-JP" altLang="en-US" sz="6000" dirty="0"/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0EB8ED7F-E5D6-3077-4782-71848914A48C}"/>
              </a:ext>
            </a:extLst>
          </p:cNvPr>
          <p:cNvSpPr txBox="1"/>
          <p:nvPr/>
        </p:nvSpPr>
        <p:spPr>
          <a:xfrm>
            <a:off x="2239349" y="4264521"/>
            <a:ext cx="7277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16</a:t>
            </a:r>
            <a:r>
              <a:rPr lang="ja-JP" alt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進</a:t>
            </a:r>
            <a:endParaRPr kumimoji="1" lang="ja-JP" altLang="en-US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43A3AF4A-FD60-8BAC-190B-38070198D1B0}"/>
              </a:ext>
            </a:extLst>
          </p:cNvPr>
          <p:cNvSpPr txBox="1"/>
          <p:nvPr/>
        </p:nvSpPr>
        <p:spPr>
          <a:xfrm>
            <a:off x="6802021" y="4264521"/>
            <a:ext cx="7277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ja-JP" alt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進</a:t>
            </a:r>
            <a:endParaRPr kumimoji="1" lang="ja-JP" altLang="en-US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EAC77CA0-7E3C-9555-F517-525F7A794340}"/>
              </a:ext>
            </a:extLst>
          </p:cNvPr>
          <p:cNvSpPr txBox="1"/>
          <p:nvPr/>
        </p:nvSpPr>
        <p:spPr>
          <a:xfrm>
            <a:off x="2239349" y="5813068"/>
            <a:ext cx="7371183" cy="1015663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kumimoji="1" lang="en-US" altLang="ja-JP" sz="6000" dirty="0"/>
              <a:t>print("\\U00002764")</a:t>
            </a:r>
            <a:endParaRPr kumimoji="1" lang="ja-JP" altLang="en-US" sz="6000" dirty="0"/>
          </a:p>
        </p:txBody>
      </p:sp>
    </p:spTree>
    <p:extLst>
      <p:ext uri="{BB962C8B-B14F-4D97-AF65-F5344CB8AC3E}">
        <p14:creationId xmlns:p14="http://schemas.microsoft.com/office/powerpoint/2010/main" val="1518465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B86DA8F1-4027-3E56-5492-F2B7F0585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情報科学ｃ</a:t>
            </a:r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BAD6D6EE-DBE5-5767-D8C4-88FCD8ED7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ヒアドキュメント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CF04DF9-2087-D9A9-AFE1-782DD84E84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複数行の文字列を</a:t>
            </a:r>
            <a:r>
              <a:rPr kumimoji="1" lang="ja-JP" altLang="en-US" dirty="0">
                <a:solidFill>
                  <a:schemeClr val="accent5"/>
                </a:solidFill>
              </a:rPr>
              <a:t>エスケープシーケンス</a:t>
            </a:r>
            <a:r>
              <a:rPr kumimoji="1" lang="ja-JP" altLang="en-US" dirty="0"/>
              <a:t>を使わずに表現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48DF4D2-D973-1641-3670-73A35C215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Day2</a:t>
            </a:r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FC94FF4-B586-F090-E09D-897BB5EB0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A0251-0B3B-4C1C-96DC-5D2833458AB2}" type="slidenum">
              <a:rPr kumimoji="1" lang="ja-JP" altLang="en-US" smtClean="0"/>
              <a:t>8</a:t>
            </a:fld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03D0939-CC94-94EE-ECB8-F792C0CA7F8F}"/>
              </a:ext>
            </a:extLst>
          </p:cNvPr>
          <p:cNvSpPr txBox="1"/>
          <p:nvPr/>
        </p:nvSpPr>
        <p:spPr>
          <a:xfrm>
            <a:off x="1355267" y="2472611"/>
            <a:ext cx="9998531" cy="369332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kumimoji="1" lang="en-US" altLang="ja-JP" dirty="0"/>
              <a:t>“</a:t>
            </a:r>
            <a:r>
              <a:rPr kumimoji="1" lang="ja-JP" altLang="en-US" dirty="0"/>
              <a:t>古池や</a:t>
            </a:r>
            <a:r>
              <a:rPr kumimoji="1" lang="en-US" altLang="ja-JP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\n\t</a:t>
            </a:r>
            <a:r>
              <a:rPr lang="ja-JP" altLang="en-US" b="0" i="0" dirty="0">
                <a:solidFill>
                  <a:srgbClr val="EEF0FF"/>
                </a:solidFill>
                <a:effectLst/>
                <a:latin typeface="Arial" panose="020B0604020202020204" pitchFamily="34" charset="0"/>
              </a:rPr>
              <a:t>蛙 飛び込む</a:t>
            </a:r>
            <a:r>
              <a:rPr lang="en-US" altLang="ja-JP" b="0" i="0" dirty="0"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</a:rPr>
              <a:t>\n\t\t</a:t>
            </a:r>
            <a:r>
              <a:rPr lang="ja-JP" altLang="en-US" b="0" i="0" dirty="0">
                <a:solidFill>
                  <a:srgbClr val="EEF0FF"/>
                </a:solidFill>
                <a:effectLst/>
                <a:latin typeface="Arial" panose="020B0604020202020204" pitchFamily="34" charset="0"/>
              </a:rPr>
              <a:t>水の音</a:t>
            </a:r>
            <a:r>
              <a:rPr lang="en-US" altLang="ja-JP" b="0" i="0" dirty="0">
                <a:solidFill>
                  <a:srgbClr val="EEF0FF"/>
                </a:solidFill>
                <a:effectLst/>
                <a:latin typeface="Arial" panose="020B0604020202020204" pitchFamily="34" charset="0"/>
              </a:rPr>
              <a:t>”</a:t>
            </a:r>
            <a:endParaRPr lang="en-US" altLang="ja-JP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855E2F0-2383-43AE-9BF0-B331A1F99ABB}"/>
              </a:ext>
            </a:extLst>
          </p:cNvPr>
          <p:cNvSpPr txBox="1"/>
          <p:nvPr/>
        </p:nvSpPr>
        <p:spPr>
          <a:xfrm>
            <a:off x="1355267" y="4460031"/>
            <a:ext cx="9998531" cy="1200329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kumimoji="1" lang="en-US" altLang="ja-JP" dirty="0"/>
              <a:t>'''</a:t>
            </a:r>
            <a:r>
              <a:rPr kumimoji="1" lang="ja-JP" altLang="en-US" dirty="0"/>
              <a:t>古池や</a:t>
            </a:r>
            <a:endParaRPr kumimoji="1" lang="en-US" altLang="ja-JP" dirty="0"/>
          </a:p>
          <a:p>
            <a:r>
              <a:rPr lang="en-US" altLang="ja-JP" b="0" i="0" dirty="0">
                <a:solidFill>
                  <a:srgbClr val="EEF0FF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ja-JP" altLang="en-US" b="0" i="0" dirty="0">
                <a:solidFill>
                  <a:srgbClr val="EEF0FF"/>
                </a:solidFill>
                <a:effectLst/>
                <a:latin typeface="Arial" panose="020B0604020202020204" pitchFamily="34" charset="0"/>
              </a:rPr>
              <a:t>蛙 飛び込む</a:t>
            </a:r>
            <a:endParaRPr kumimoji="1" lang="en-US" altLang="ja-JP" dirty="0"/>
          </a:p>
          <a:p>
            <a:pPr lvl="2"/>
            <a:r>
              <a:rPr lang="en-US" altLang="ja-JP" b="0" i="0" dirty="0">
                <a:solidFill>
                  <a:srgbClr val="EEF0FF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ja-JP" altLang="en-US" b="0" i="0" dirty="0">
                <a:solidFill>
                  <a:srgbClr val="EEF0FF"/>
                </a:solidFill>
                <a:effectLst/>
                <a:latin typeface="Arial" panose="020B0604020202020204" pitchFamily="34" charset="0"/>
              </a:rPr>
              <a:t>水の音</a:t>
            </a:r>
            <a:endParaRPr lang="en-US" altLang="ja-JP" dirty="0"/>
          </a:p>
          <a:p>
            <a:r>
              <a:rPr kumimoji="1" lang="en-US" altLang="ja-JP" dirty="0"/>
              <a:t>'''</a:t>
            </a:r>
            <a:endParaRPr kumimoji="1" lang="ja-JP" altLang="en-US" dirty="0"/>
          </a:p>
        </p:txBody>
      </p:sp>
      <p:sp>
        <p:nvSpPr>
          <p:cNvPr id="9" name="矢印: 下 8">
            <a:extLst>
              <a:ext uri="{FF2B5EF4-FFF2-40B4-BE49-F238E27FC236}">
                <a16:creationId xmlns:a16="http://schemas.microsoft.com/office/drawing/2014/main" id="{4855A6C0-4915-5E1A-5350-45682ED90402}"/>
              </a:ext>
            </a:extLst>
          </p:cNvPr>
          <p:cNvSpPr/>
          <p:nvPr/>
        </p:nvSpPr>
        <p:spPr>
          <a:xfrm>
            <a:off x="5624804" y="3113703"/>
            <a:ext cx="942392" cy="108235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56162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4C4620F9-658B-6169-71F7-704ADA02D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情報科学ｃ</a:t>
            </a:r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D0DB160B-284F-BCE0-F77B-01DE532B0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リスト </a:t>
            </a:r>
            <a:r>
              <a:rPr lang="en-US" altLang="ja-JP" dirty="0"/>
              <a:t>(</a:t>
            </a:r>
            <a:r>
              <a:rPr lang="ja-JP" altLang="en-US" dirty="0"/>
              <a:t>配列</a:t>
            </a:r>
            <a:r>
              <a:rPr lang="en-US" altLang="ja-JP" dirty="0"/>
              <a:t>, Array)</a:t>
            </a:r>
            <a:endParaRPr kumimoji="1" lang="ja-JP" altLang="en-US" dirty="0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59DD195-D8D5-7D95-29C9-1A8E6A35DB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要素を羅列できるデータ型</a:t>
            </a:r>
            <a:endParaRPr kumimoji="1" lang="en-US" altLang="ja-JP" dirty="0"/>
          </a:p>
          <a:p>
            <a:pPr lvl="1"/>
            <a:r>
              <a:rPr lang="ja-JP" altLang="en-US" dirty="0"/>
              <a:t>定義方法</a:t>
            </a:r>
            <a:endParaRPr lang="en-US" altLang="ja-JP" dirty="0"/>
          </a:p>
          <a:p>
            <a:pPr lvl="1"/>
            <a:endParaRPr kumimoji="1" lang="en-US" altLang="ja-JP" dirty="0"/>
          </a:p>
          <a:p>
            <a:pPr lvl="1"/>
            <a:r>
              <a:rPr kumimoji="1" lang="ja-JP" altLang="en-US" dirty="0"/>
              <a:t>概念</a:t>
            </a:r>
          </a:p>
          <a:p>
            <a:pPr lvl="1"/>
            <a:endParaRPr lang="ja-JP" altLang="en-US" dirty="0"/>
          </a:p>
          <a:p>
            <a:pPr lvl="1"/>
            <a:endParaRPr lang="en-US" altLang="ja-JP" dirty="0"/>
          </a:p>
          <a:p>
            <a:pPr lvl="1"/>
            <a:r>
              <a:rPr lang="ja-JP" altLang="en-US" dirty="0"/>
              <a:t>アクセス</a:t>
            </a:r>
            <a:r>
              <a:rPr kumimoji="1" lang="ja-JP" altLang="en-US" dirty="0"/>
              <a:t>方法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添え字は「</a:t>
            </a:r>
            <a:r>
              <a:rPr kumimoji="1" lang="en-US" altLang="ja-JP" dirty="0"/>
              <a:t>0</a:t>
            </a:r>
            <a:r>
              <a:rPr kumimoji="1" lang="ja-JP" altLang="en-US" dirty="0"/>
              <a:t>」スタート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0CD4F27-867D-27BC-C2ED-BBCBD0B92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Day2</a:t>
            </a:r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F4EAE3C-D09B-02BE-0188-B428C114E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A0251-0B3B-4C1C-96DC-5D2833458AB2}" type="slidenum">
              <a:rPr kumimoji="1" lang="ja-JP" altLang="en-US" smtClean="0"/>
              <a:t>9</a:t>
            </a:fld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724297B-5769-93DE-A7AD-70E34CBEE686}"/>
              </a:ext>
            </a:extLst>
          </p:cNvPr>
          <p:cNvSpPr txBox="1"/>
          <p:nvPr/>
        </p:nvSpPr>
        <p:spPr>
          <a:xfrm>
            <a:off x="2146042" y="2687214"/>
            <a:ext cx="9207757" cy="369332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ja-JP" dirty="0" err="1"/>
              <a:t>my_list</a:t>
            </a:r>
            <a:r>
              <a:rPr lang="en-US" altLang="ja-JP" dirty="0"/>
              <a:t> = [0, -1, ‘Hello’, [10, 11, 12], -1 ]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9D467EA-C39F-63F4-114F-40AD9DE18F18}"/>
              </a:ext>
            </a:extLst>
          </p:cNvPr>
          <p:cNvSpPr txBox="1"/>
          <p:nvPr/>
        </p:nvSpPr>
        <p:spPr>
          <a:xfrm>
            <a:off x="2248678" y="3437559"/>
            <a:ext cx="401216" cy="369332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0</a:t>
            </a:r>
            <a:endParaRPr kumimoji="1"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F5E1E6E3-F412-D809-DF57-99439378111D}"/>
              </a:ext>
            </a:extLst>
          </p:cNvPr>
          <p:cNvSpPr txBox="1"/>
          <p:nvPr/>
        </p:nvSpPr>
        <p:spPr>
          <a:xfrm>
            <a:off x="2785325" y="3437559"/>
            <a:ext cx="401216" cy="369332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-1</a:t>
            </a:r>
            <a:endParaRPr kumimoji="1" lang="ja-JP" altLang="en-US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3C6E4716-765A-B78E-947D-E552C33BD72E}"/>
              </a:ext>
            </a:extLst>
          </p:cNvPr>
          <p:cNvSpPr txBox="1"/>
          <p:nvPr/>
        </p:nvSpPr>
        <p:spPr>
          <a:xfrm>
            <a:off x="3321972" y="3437559"/>
            <a:ext cx="653145" cy="369332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hello</a:t>
            </a:r>
            <a:endParaRPr kumimoji="1" lang="ja-JP" altLang="en-US" dirty="0"/>
          </a:p>
        </p:txBody>
      </p:sp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E2546A4E-9EF4-F2AE-A1DE-59623B88A1E9}"/>
              </a:ext>
            </a:extLst>
          </p:cNvPr>
          <p:cNvGrpSpPr/>
          <p:nvPr/>
        </p:nvGrpSpPr>
        <p:grpSpPr>
          <a:xfrm>
            <a:off x="4110548" y="3432123"/>
            <a:ext cx="1431732" cy="369332"/>
            <a:chOff x="4151188" y="3687496"/>
            <a:chExt cx="1431732" cy="369332"/>
          </a:xfrm>
        </p:grpSpPr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F50CB8C1-AE52-077C-0B63-B43937AFED74}"/>
                </a:ext>
              </a:extLst>
            </p:cNvPr>
            <p:cNvSpPr txBox="1"/>
            <p:nvPr/>
          </p:nvSpPr>
          <p:spPr>
            <a:xfrm>
              <a:off x="4151188" y="3687496"/>
              <a:ext cx="1431732" cy="369332"/>
            </a:xfrm>
            <a:prstGeom prst="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endParaRPr kumimoji="1" lang="ja-JP" altLang="en-US" dirty="0"/>
            </a:p>
          </p:txBody>
        </p:sp>
        <p:grpSp>
          <p:nvGrpSpPr>
            <p:cNvPr id="15" name="グループ化 14">
              <a:extLst>
                <a:ext uri="{FF2B5EF4-FFF2-40B4-BE49-F238E27FC236}">
                  <a16:creationId xmlns:a16="http://schemas.microsoft.com/office/drawing/2014/main" id="{0F1258BD-6E3B-4A2E-1751-AEB12C88EFF8}"/>
                </a:ext>
              </a:extLst>
            </p:cNvPr>
            <p:cNvGrpSpPr/>
            <p:nvPr/>
          </p:nvGrpSpPr>
          <p:grpSpPr>
            <a:xfrm>
              <a:off x="4216399" y="3702885"/>
              <a:ext cx="1301311" cy="338554"/>
              <a:chOff x="4733729" y="4187904"/>
              <a:chExt cx="1301311" cy="338554"/>
            </a:xfrm>
          </p:grpSpPr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9BE7D8FE-FB84-6DEC-9752-F93784CF452E}"/>
                  </a:ext>
                </a:extLst>
              </p:cNvPr>
              <p:cNvSpPr txBox="1"/>
              <p:nvPr/>
            </p:nvSpPr>
            <p:spPr>
              <a:xfrm>
                <a:off x="4733729" y="4187904"/>
                <a:ext cx="397071" cy="338554"/>
              </a:xfrm>
              <a:prstGeom prst="rect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ja-JP" sz="1600" dirty="0"/>
                  <a:t>10</a:t>
                </a:r>
                <a:endParaRPr kumimoji="1" lang="ja-JP" altLang="en-US" sz="1600" dirty="0"/>
              </a:p>
            </p:txBody>
          </p:sp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CFE84714-0B2E-ED0B-0D0C-906779E9420F}"/>
                  </a:ext>
                </a:extLst>
              </p:cNvPr>
              <p:cNvSpPr txBox="1"/>
              <p:nvPr/>
            </p:nvSpPr>
            <p:spPr>
              <a:xfrm>
                <a:off x="5185849" y="4187904"/>
                <a:ext cx="397071" cy="338554"/>
              </a:xfrm>
              <a:prstGeom prst="rect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ja-JP" sz="1600" dirty="0"/>
                  <a:t>11</a:t>
                </a:r>
                <a:endParaRPr kumimoji="1" lang="ja-JP" altLang="en-US" sz="1600" dirty="0"/>
              </a:p>
            </p:txBody>
          </p:sp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A2F9C2B4-C5DD-0DBB-0133-E83B4AFD3175}"/>
                  </a:ext>
                </a:extLst>
              </p:cNvPr>
              <p:cNvSpPr txBox="1"/>
              <p:nvPr/>
            </p:nvSpPr>
            <p:spPr>
              <a:xfrm>
                <a:off x="5637969" y="4187904"/>
                <a:ext cx="397071" cy="338554"/>
              </a:xfrm>
              <a:prstGeom prst="rect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ja-JP" sz="1600" dirty="0"/>
                  <a:t>12</a:t>
                </a:r>
                <a:endParaRPr kumimoji="1" lang="ja-JP" altLang="en-US" sz="1600" dirty="0"/>
              </a:p>
            </p:txBody>
          </p:sp>
        </p:grpSp>
      </p:grp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187D61BE-C61E-DDAB-64B0-9C482ECD851B}"/>
              </a:ext>
            </a:extLst>
          </p:cNvPr>
          <p:cNvSpPr txBox="1"/>
          <p:nvPr/>
        </p:nvSpPr>
        <p:spPr>
          <a:xfrm>
            <a:off x="2325533" y="3872250"/>
            <a:ext cx="660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dirty="0"/>
              <a:t>数値</a:t>
            </a:r>
            <a:endParaRPr kumimoji="1" lang="ja-JP" altLang="en-US" sz="1400" dirty="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328CC645-10DB-BCE2-8DBB-4BD9A5A20660}"/>
              </a:ext>
            </a:extLst>
          </p:cNvPr>
          <p:cNvSpPr txBox="1"/>
          <p:nvPr/>
        </p:nvSpPr>
        <p:spPr>
          <a:xfrm>
            <a:off x="3250093" y="3872250"/>
            <a:ext cx="8545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400" dirty="0"/>
              <a:t>文字列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F464D7C3-816A-6C75-A0E9-4CBDB872FFE5}"/>
              </a:ext>
            </a:extLst>
          </p:cNvPr>
          <p:cNvSpPr txBox="1"/>
          <p:nvPr/>
        </p:nvSpPr>
        <p:spPr>
          <a:xfrm>
            <a:off x="4377853" y="3872250"/>
            <a:ext cx="8545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400" dirty="0"/>
              <a:t>リスト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FAE9C505-E7A9-7C27-6AD4-41E10C3EB709}"/>
              </a:ext>
            </a:extLst>
          </p:cNvPr>
          <p:cNvSpPr txBox="1"/>
          <p:nvPr/>
        </p:nvSpPr>
        <p:spPr>
          <a:xfrm>
            <a:off x="2146043" y="5044334"/>
            <a:ext cx="1175930" cy="369332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ja-JP" dirty="0" err="1"/>
              <a:t>my_list</a:t>
            </a:r>
            <a:r>
              <a:rPr lang="en-US" altLang="ja-JP" dirty="0"/>
              <a:t>[1]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BDD11C7A-356C-571F-D965-5802501E1AA5}"/>
              </a:ext>
            </a:extLst>
          </p:cNvPr>
          <p:cNvSpPr txBox="1"/>
          <p:nvPr/>
        </p:nvSpPr>
        <p:spPr>
          <a:xfrm>
            <a:off x="3770845" y="5044334"/>
            <a:ext cx="401216" cy="369332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-1</a:t>
            </a:r>
            <a:endParaRPr kumimoji="1" lang="ja-JP" altLang="en-US" dirty="0"/>
          </a:p>
        </p:txBody>
      </p:sp>
      <p:sp>
        <p:nvSpPr>
          <p:cNvPr id="22" name="矢印: 右 21">
            <a:extLst>
              <a:ext uri="{FF2B5EF4-FFF2-40B4-BE49-F238E27FC236}">
                <a16:creationId xmlns:a16="http://schemas.microsoft.com/office/drawing/2014/main" id="{52A1155B-E989-F665-C80B-0015FBABFF3D}"/>
              </a:ext>
            </a:extLst>
          </p:cNvPr>
          <p:cNvSpPr/>
          <p:nvPr/>
        </p:nvSpPr>
        <p:spPr>
          <a:xfrm>
            <a:off x="3408125" y="5092647"/>
            <a:ext cx="269241" cy="272706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C3A92881-8396-9607-CB87-B1240E110D54}"/>
              </a:ext>
            </a:extLst>
          </p:cNvPr>
          <p:cNvSpPr txBox="1"/>
          <p:nvPr/>
        </p:nvSpPr>
        <p:spPr>
          <a:xfrm>
            <a:off x="2146043" y="5542174"/>
            <a:ext cx="1175930" cy="369332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ja-JP" dirty="0" err="1"/>
              <a:t>my_list</a:t>
            </a:r>
            <a:r>
              <a:rPr lang="en-US" altLang="ja-JP" dirty="0"/>
              <a:t>[1]</a:t>
            </a:r>
          </a:p>
        </p:txBody>
      </p:sp>
      <p:sp>
        <p:nvSpPr>
          <p:cNvPr id="26" name="矢印: 右 25">
            <a:extLst>
              <a:ext uri="{FF2B5EF4-FFF2-40B4-BE49-F238E27FC236}">
                <a16:creationId xmlns:a16="http://schemas.microsoft.com/office/drawing/2014/main" id="{860B9EB1-6F2E-38A7-6816-87F12790ED66}"/>
              </a:ext>
            </a:extLst>
          </p:cNvPr>
          <p:cNvSpPr/>
          <p:nvPr/>
        </p:nvSpPr>
        <p:spPr>
          <a:xfrm>
            <a:off x="3408125" y="5590487"/>
            <a:ext cx="269241" cy="272706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9D641608-D0DE-088D-271B-5F32B37F79A7}"/>
              </a:ext>
            </a:extLst>
          </p:cNvPr>
          <p:cNvSpPr txBox="1"/>
          <p:nvPr/>
        </p:nvSpPr>
        <p:spPr>
          <a:xfrm>
            <a:off x="2146043" y="6050174"/>
            <a:ext cx="1369318" cy="369332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ja-JP" dirty="0" err="1"/>
              <a:t>my_list</a:t>
            </a:r>
            <a:r>
              <a:rPr lang="en-US" altLang="ja-JP" dirty="0"/>
              <a:t>[2][1]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CBE19257-10D3-EB05-6419-A52414C23FB8}"/>
              </a:ext>
            </a:extLst>
          </p:cNvPr>
          <p:cNvSpPr txBox="1"/>
          <p:nvPr/>
        </p:nvSpPr>
        <p:spPr>
          <a:xfrm>
            <a:off x="4032430" y="6050174"/>
            <a:ext cx="423591" cy="369332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ja-JP" dirty="0"/>
              <a:t>11</a:t>
            </a:r>
            <a:endParaRPr kumimoji="1" lang="ja-JP" altLang="en-US" dirty="0"/>
          </a:p>
        </p:txBody>
      </p:sp>
      <p:sp>
        <p:nvSpPr>
          <p:cNvPr id="29" name="矢印: 右 28">
            <a:extLst>
              <a:ext uri="{FF2B5EF4-FFF2-40B4-BE49-F238E27FC236}">
                <a16:creationId xmlns:a16="http://schemas.microsoft.com/office/drawing/2014/main" id="{45505FFF-1F1C-6CD2-A062-5446C6B41269}"/>
              </a:ext>
            </a:extLst>
          </p:cNvPr>
          <p:cNvSpPr/>
          <p:nvPr/>
        </p:nvSpPr>
        <p:spPr>
          <a:xfrm>
            <a:off x="3669711" y="6098487"/>
            <a:ext cx="269241" cy="272706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691C826D-062E-2814-4585-C86E9DFA93D2}"/>
              </a:ext>
            </a:extLst>
          </p:cNvPr>
          <p:cNvSpPr txBox="1"/>
          <p:nvPr/>
        </p:nvSpPr>
        <p:spPr>
          <a:xfrm>
            <a:off x="3770845" y="5571159"/>
            <a:ext cx="653145" cy="369332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hello</a:t>
            </a:r>
            <a:endParaRPr kumimoji="1" lang="ja-JP" altLang="en-US" dirty="0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EEC4192A-758B-CEBB-B55E-E0AA4EDDCC61}"/>
              </a:ext>
            </a:extLst>
          </p:cNvPr>
          <p:cNvSpPr txBox="1"/>
          <p:nvPr/>
        </p:nvSpPr>
        <p:spPr>
          <a:xfrm>
            <a:off x="6756400" y="4665180"/>
            <a:ext cx="4597399" cy="1754326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kumimoji="1" lang="ja-JP" altLang="en-US" dirty="0"/>
              <a:t>ポイント！</a:t>
            </a:r>
          </a:p>
          <a:p>
            <a:endParaRPr lang="ja-JP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dirty="0"/>
              <a:t>あらかじめ長さを決めなくてよい。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ja-JP" altLang="en-US" dirty="0"/>
              <a:t>内部的には自動で増減する</a:t>
            </a:r>
            <a:endParaRPr kumimoji="1" lang="ja-JP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/>
              <a:t>データ型を決めなくてよい。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ja-JP" altLang="en-US" dirty="0"/>
              <a:t>このスライドのように混在可能</a:t>
            </a: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AD43E570-CA8B-3A3D-FC8C-C69C7162B39C}"/>
              </a:ext>
            </a:extLst>
          </p:cNvPr>
          <p:cNvSpPr txBox="1"/>
          <p:nvPr/>
        </p:nvSpPr>
        <p:spPr>
          <a:xfrm>
            <a:off x="2807285" y="6461760"/>
            <a:ext cx="19800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※</a:t>
            </a:r>
            <a:r>
              <a:rPr kumimoji="1" lang="ja-JP" altLang="en-US" sz="1400" dirty="0"/>
              <a:t>二次元リストと呼ぶ</a:t>
            </a: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0CD7B329-0448-D89E-A21B-A5F589238F8D}"/>
              </a:ext>
            </a:extLst>
          </p:cNvPr>
          <p:cNvSpPr txBox="1"/>
          <p:nvPr/>
        </p:nvSpPr>
        <p:spPr>
          <a:xfrm>
            <a:off x="5670765" y="3437559"/>
            <a:ext cx="401216" cy="369332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-1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42259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85808DE0-AE19-7D13-6D4E-AE246C087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情報科学ｃ</a:t>
            </a:r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8BCCA68C-5168-D5D6-7DFF-9A711BCF2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タプル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AC50D99-74E9-6841-DC41-A974A86412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5110" y="1825625"/>
            <a:ext cx="9998530" cy="4351338"/>
          </a:xfrm>
        </p:spPr>
        <p:txBody>
          <a:bodyPr/>
          <a:lstStyle/>
          <a:p>
            <a:r>
              <a:rPr kumimoji="1" lang="ja-JP" altLang="en-US" dirty="0"/>
              <a:t>値の変更ができない「リスト」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定義方法</a:t>
            </a:r>
          </a:p>
          <a:p>
            <a:pPr lvl="1"/>
            <a:endParaRPr lang="ja-JP" altLang="en-US" dirty="0"/>
          </a:p>
          <a:p>
            <a:pPr lvl="1"/>
            <a:r>
              <a:rPr kumimoji="1" lang="ja-JP" altLang="en-US" dirty="0"/>
              <a:t>概念</a:t>
            </a:r>
          </a:p>
          <a:p>
            <a:pPr lvl="1"/>
            <a:endParaRPr lang="ja-JP" altLang="en-US" dirty="0"/>
          </a:p>
          <a:p>
            <a:pPr lvl="1"/>
            <a:endParaRPr kumimoji="1" lang="ja-JP" altLang="en-US" dirty="0"/>
          </a:p>
          <a:p>
            <a:pPr lvl="1"/>
            <a:r>
              <a:rPr kumimoji="1" lang="ja-JP" altLang="en-US" dirty="0"/>
              <a:t>アクセス方法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リストと同じ </a:t>
            </a:r>
            <a:r>
              <a:rPr kumimoji="1" lang="en-US" altLang="ja-JP" dirty="0"/>
              <a:t>(</a:t>
            </a:r>
            <a:r>
              <a:rPr kumimoji="1" lang="ja-JP" altLang="en-US" dirty="0"/>
              <a:t>添え字も</a:t>
            </a:r>
            <a:r>
              <a:rPr kumimoji="1" lang="en-US" altLang="ja-JP" b="1" dirty="0">
                <a:solidFill>
                  <a:schemeClr val="accent1"/>
                </a:solidFill>
              </a:rPr>
              <a:t>[n]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C936C48-F2E2-EA92-719C-A4612B43F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Day2</a:t>
            </a:r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697A36E-17D7-D736-D552-399207942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A0251-0B3B-4C1C-96DC-5D2833458AB2}" type="slidenum">
              <a:rPr kumimoji="1" lang="ja-JP" altLang="en-US" smtClean="0"/>
              <a:t>10</a:t>
            </a:fld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4BB2F03-7A9A-BA2E-E7C9-D0B1FEAE1C47}"/>
              </a:ext>
            </a:extLst>
          </p:cNvPr>
          <p:cNvSpPr txBox="1"/>
          <p:nvPr/>
        </p:nvSpPr>
        <p:spPr>
          <a:xfrm>
            <a:off x="2146042" y="2687214"/>
            <a:ext cx="9207757" cy="369332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ja-JP" dirty="0" err="1"/>
              <a:t>my_tuple</a:t>
            </a:r>
            <a:r>
              <a:rPr lang="en-US" altLang="ja-JP" dirty="0"/>
              <a:t> = </a:t>
            </a:r>
            <a:r>
              <a:rPr lang="en-US" altLang="ja-JP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(</a:t>
            </a:r>
            <a:r>
              <a:rPr lang="en-US" altLang="ja-JP" dirty="0"/>
              <a:t>0, -1, ‘Hello’, [10, 11, 12], -1 </a:t>
            </a:r>
            <a:r>
              <a:rPr lang="en-US" altLang="ja-JP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)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E09FE54-8F8F-3224-300C-8DE6407F0AF7}"/>
              </a:ext>
            </a:extLst>
          </p:cNvPr>
          <p:cNvSpPr txBox="1"/>
          <p:nvPr/>
        </p:nvSpPr>
        <p:spPr>
          <a:xfrm>
            <a:off x="2248678" y="3437559"/>
            <a:ext cx="401216" cy="369332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0</a:t>
            </a:r>
            <a:endParaRPr kumimoji="1"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E9C63D42-4E9D-6034-69F5-0A6C40148EE3}"/>
              </a:ext>
            </a:extLst>
          </p:cNvPr>
          <p:cNvSpPr txBox="1"/>
          <p:nvPr/>
        </p:nvSpPr>
        <p:spPr>
          <a:xfrm>
            <a:off x="2785325" y="3437559"/>
            <a:ext cx="401216" cy="369332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-1</a:t>
            </a:r>
            <a:endParaRPr kumimoji="1" lang="ja-JP" altLang="en-US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D8C3E87-C60A-9225-142F-2AD255783C94}"/>
              </a:ext>
            </a:extLst>
          </p:cNvPr>
          <p:cNvSpPr txBox="1"/>
          <p:nvPr/>
        </p:nvSpPr>
        <p:spPr>
          <a:xfrm>
            <a:off x="3321972" y="3437559"/>
            <a:ext cx="653145" cy="369332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hello</a:t>
            </a:r>
            <a:endParaRPr kumimoji="1" lang="ja-JP" altLang="en-US" dirty="0"/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D8649D52-AB05-A700-AD79-7739866E5F15}"/>
              </a:ext>
            </a:extLst>
          </p:cNvPr>
          <p:cNvGrpSpPr/>
          <p:nvPr/>
        </p:nvGrpSpPr>
        <p:grpSpPr>
          <a:xfrm>
            <a:off x="4110548" y="3432123"/>
            <a:ext cx="1431732" cy="369332"/>
            <a:chOff x="4151188" y="3687496"/>
            <a:chExt cx="1431732" cy="369332"/>
          </a:xfrm>
        </p:grpSpPr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8056C0D0-883F-01F8-8FE4-4AA9F1EE86AF}"/>
                </a:ext>
              </a:extLst>
            </p:cNvPr>
            <p:cNvSpPr txBox="1"/>
            <p:nvPr/>
          </p:nvSpPr>
          <p:spPr>
            <a:xfrm>
              <a:off x="4151188" y="3687496"/>
              <a:ext cx="1431732" cy="369332"/>
            </a:xfrm>
            <a:prstGeom prst="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endParaRPr kumimoji="1" lang="ja-JP" altLang="en-US" dirty="0"/>
            </a:p>
          </p:txBody>
        </p:sp>
        <p:grpSp>
          <p:nvGrpSpPr>
            <p:cNvPr id="13" name="グループ化 12">
              <a:extLst>
                <a:ext uri="{FF2B5EF4-FFF2-40B4-BE49-F238E27FC236}">
                  <a16:creationId xmlns:a16="http://schemas.microsoft.com/office/drawing/2014/main" id="{BD2D83A3-23F6-9653-D562-85489157F774}"/>
                </a:ext>
              </a:extLst>
            </p:cNvPr>
            <p:cNvGrpSpPr/>
            <p:nvPr/>
          </p:nvGrpSpPr>
          <p:grpSpPr>
            <a:xfrm>
              <a:off x="4216399" y="3702885"/>
              <a:ext cx="1301311" cy="338554"/>
              <a:chOff x="4733729" y="4187904"/>
              <a:chExt cx="1301311" cy="338554"/>
            </a:xfrm>
          </p:grpSpPr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6E9E740E-58D7-C7A9-29DC-47278D456CA7}"/>
                  </a:ext>
                </a:extLst>
              </p:cNvPr>
              <p:cNvSpPr txBox="1"/>
              <p:nvPr/>
            </p:nvSpPr>
            <p:spPr>
              <a:xfrm>
                <a:off x="4733729" y="4187904"/>
                <a:ext cx="397071" cy="338554"/>
              </a:xfrm>
              <a:prstGeom prst="rect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ja-JP" sz="1600" dirty="0"/>
                  <a:t>10</a:t>
                </a:r>
                <a:endParaRPr kumimoji="1" lang="ja-JP" altLang="en-US" sz="1600" dirty="0"/>
              </a:p>
            </p:txBody>
          </p:sp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882810CB-6893-2C30-1B3E-0A1FA15D3D35}"/>
                  </a:ext>
                </a:extLst>
              </p:cNvPr>
              <p:cNvSpPr txBox="1"/>
              <p:nvPr/>
            </p:nvSpPr>
            <p:spPr>
              <a:xfrm>
                <a:off x="5185849" y="4187904"/>
                <a:ext cx="397071" cy="338554"/>
              </a:xfrm>
              <a:prstGeom prst="rect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ja-JP" sz="1600" dirty="0"/>
                  <a:t>11</a:t>
                </a:r>
                <a:endParaRPr kumimoji="1" lang="ja-JP" altLang="en-US" sz="1600" dirty="0"/>
              </a:p>
            </p:txBody>
          </p:sp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E9A1A272-9C8C-5F70-E7F7-9F2080019C52}"/>
                  </a:ext>
                </a:extLst>
              </p:cNvPr>
              <p:cNvSpPr txBox="1"/>
              <p:nvPr/>
            </p:nvSpPr>
            <p:spPr>
              <a:xfrm>
                <a:off x="5637969" y="4187904"/>
                <a:ext cx="397071" cy="338554"/>
              </a:xfrm>
              <a:prstGeom prst="rect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ja-JP" sz="1600" dirty="0"/>
                  <a:t>12</a:t>
                </a:r>
                <a:endParaRPr kumimoji="1" lang="ja-JP" altLang="en-US" sz="1600" dirty="0"/>
              </a:p>
            </p:txBody>
          </p:sp>
        </p:grpSp>
      </p:grp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D69E096E-CF2C-BCDA-D630-7C155CA35F0B}"/>
              </a:ext>
            </a:extLst>
          </p:cNvPr>
          <p:cNvSpPr txBox="1"/>
          <p:nvPr/>
        </p:nvSpPr>
        <p:spPr>
          <a:xfrm>
            <a:off x="2325533" y="3872250"/>
            <a:ext cx="660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dirty="0"/>
              <a:t>数値</a:t>
            </a:r>
            <a:endParaRPr kumimoji="1" lang="ja-JP" altLang="en-US" sz="1400" dirty="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AB0FD247-4E68-2EA7-9DDC-88C449B0E187}"/>
              </a:ext>
            </a:extLst>
          </p:cNvPr>
          <p:cNvSpPr txBox="1"/>
          <p:nvPr/>
        </p:nvSpPr>
        <p:spPr>
          <a:xfrm>
            <a:off x="3250093" y="3872250"/>
            <a:ext cx="8545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400" dirty="0"/>
              <a:t>文字列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3ADB0DD6-3463-17A3-B706-D95C860398C3}"/>
              </a:ext>
            </a:extLst>
          </p:cNvPr>
          <p:cNvSpPr txBox="1"/>
          <p:nvPr/>
        </p:nvSpPr>
        <p:spPr>
          <a:xfrm>
            <a:off x="4377853" y="3872250"/>
            <a:ext cx="8545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400" dirty="0"/>
              <a:t>リスト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1796133C-5B77-82E3-591D-B06D210EFE81}"/>
              </a:ext>
            </a:extLst>
          </p:cNvPr>
          <p:cNvSpPr txBox="1"/>
          <p:nvPr/>
        </p:nvSpPr>
        <p:spPr>
          <a:xfrm>
            <a:off x="1952655" y="5044334"/>
            <a:ext cx="1369318" cy="369332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ja-JP" dirty="0" err="1"/>
              <a:t>my_tuple</a:t>
            </a:r>
            <a:r>
              <a:rPr lang="en-US" altLang="ja-JP" dirty="0"/>
              <a:t>[1]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67AB72A2-22A6-2A83-AE52-D122367BA68F}"/>
              </a:ext>
            </a:extLst>
          </p:cNvPr>
          <p:cNvSpPr txBox="1"/>
          <p:nvPr/>
        </p:nvSpPr>
        <p:spPr>
          <a:xfrm>
            <a:off x="3770845" y="5044334"/>
            <a:ext cx="401216" cy="369332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-1</a:t>
            </a:r>
            <a:endParaRPr kumimoji="1" lang="ja-JP" altLang="en-US" dirty="0"/>
          </a:p>
        </p:txBody>
      </p:sp>
      <p:sp>
        <p:nvSpPr>
          <p:cNvPr id="22" name="矢印: 右 21">
            <a:extLst>
              <a:ext uri="{FF2B5EF4-FFF2-40B4-BE49-F238E27FC236}">
                <a16:creationId xmlns:a16="http://schemas.microsoft.com/office/drawing/2014/main" id="{F18686C6-B36F-A221-5280-46C400851634}"/>
              </a:ext>
            </a:extLst>
          </p:cNvPr>
          <p:cNvSpPr/>
          <p:nvPr/>
        </p:nvSpPr>
        <p:spPr>
          <a:xfrm>
            <a:off x="3408125" y="5092647"/>
            <a:ext cx="269241" cy="272706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AB06471B-7BFB-5244-1CAB-EAABD86D759F}"/>
              </a:ext>
            </a:extLst>
          </p:cNvPr>
          <p:cNvSpPr txBox="1"/>
          <p:nvPr/>
        </p:nvSpPr>
        <p:spPr>
          <a:xfrm>
            <a:off x="1952655" y="5542174"/>
            <a:ext cx="1369318" cy="369332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ja-JP" dirty="0" err="1"/>
              <a:t>my_tuple</a:t>
            </a:r>
            <a:r>
              <a:rPr lang="en-US" altLang="ja-JP" dirty="0"/>
              <a:t>[1]</a:t>
            </a:r>
          </a:p>
        </p:txBody>
      </p:sp>
      <p:sp>
        <p:nvSpPr>
          <p:cNvPr id="24" name="矢印: 右 23">
            <a:extLst>
              <a:ext uri="{FF2B5EF4-FFF2-40B4-BE49-F238E27FC236}">
                <a16:creationId xmlns:a16="http://schemas.microsoft.com/office/drawing/2014/main" id="{8349C90A-4A38-C65D-21F8-C5A67E2FF773}"/>
              </a:ext>
            </a:extLst>
          </p:cNvPr>
          <p:cNvSpPr/>
          <p:nvPr/>
        </p:nvSpPr>
        <p:spPr>
          <a:xfrm>
            <a:off x="3408125" y="5590487"/>
            <a:ext cx="269241" cy="272706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3AAAE88A-790B-2DBA-61D0-5D41A5F19FAB}"/>
              </a:ext>
            </a:extLst>
          </p:cNvPr>
          <p:cNvSpPr txBox="1"/>
          <p:nvPr/>
        </p:nvSpPr>
        <p:spPr>
          <a:xfrm>
            <a:off x="1952655" y="6050174"/>
            <a:ext cx="1623578" cy="369332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ja-JP" dirty="0" err="1"/>
              <a:t>my_tuple</a:t>
            </a:r>
            <a:r>
              <a:rPr lang="en-US" altLang="ja-JP" dirty="0"/>
              <a:t>[2][1]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3A2C5B95-5801-22FC-D344-4B69C3C0FB6C}"/>
              </a:ext>
            </a:extLst>
          </p:cNvPr>
          <p:cNvSpPr txBox="1"/>
          <p:nvPr/>
        </p:nvSpPr>
        <p:spPr>
          <a:xfrm>
            <a:off x="4032430" y="6050174"/>
            <a:ext cx="423591" cy="369332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ja-JP" dirty="0"/>
              <a:t>11</a:t>
            </a:r>
            <a:endParaRPr kumimoji="1" lang="ja-JP" altLang="en-US" dirty="0"/>
          </a:p>
        </p:txBody>
      </p:sp>
      <p:sp>
        <p:nvSpPr>
          <p:cNvPr id="27" name="矢印: 右 26">
            <a:extLst>
              <a:ext uri="{FF2B5EF4-FFF2-40B4-BE49-F238E27FC236}">
                <a16:creationId xmlns:a16="http://schemas.microsoft.com/office/drawing/2014/main" id="{15AC94AD-793D-D33E-AFF4-DFA3DA64C98B}"/>
              </a:ext>
            </a:extLst>
          </p:cNvPr>
          <p:cNvSpPr/>
          <p:nvPr/>
        </p:nvSpPr>
        <p:spPr>
          <a:xfrm>
            <a:off x="3669711" y="6098487"/>
            <a:ext cx="269241" cy="272706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E1A229A5-532E-0134-42C2-F947C08D04AD}"/>
              </a:ext>
            </a:extLst>
          </p:cNvPr>
          <p:cNvSpPr txBox="1"/>
          <p:nvPr/>
        </p:nvSpPr>
        <p:spPr>
          <a:xfrm>
            <a:off x="3770845" y="5571159"/>
            <a:ext cx="653145" cy="369332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hello</a:t>
            </a:r>
            <a:endParaRPr kumimoji="1" lang="ja-JP" altLang="en-US" dirty="0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72278323-3C19-B078-5623-ADE8187E2212}"/>
              </a:ext>
            </a:extLst>
          </p:cNvPr>
          <p:cNvSpPr txBox="1"/>
          <p:nvPr/>
        </p:nvSpPr>
        <p:spPr>
          <a:xfrm>
            <a:off x="6756400" y="4665180"/>
            <a:ext cx="4597399" cy="1754326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kumimoji="1" lang="ja-JP" altLang="en-US" dirty="0"/>
              <a:t>ポイント！</a:t>
            </a:r>
          </a:p>
          <a:p>
            <a:endParaRPr lang="ja-JP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dirty="0"/>
              <a:t>更新不可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ja-JP" altLang="en-US" dirty="0"/>
              <a:t>以下のコードはエラーになる。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kumimoji="1" lang="ja-JP" alt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kumimoji="1" lang="ja-JP" altLang="en-US" dirty="0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0703754C-FCD5-8AA5-2BCB-D48B0D992D84}"/>
              </a:ext>
            </a:extLst>
          </p:cNvPr>
          <p:cNvSpPr txBox="1"/>
          <p:nvPr/>
        </p:nvSpPr>
        <p:spPr>
          <a:xfrm>
            <a:off x="6949788" y="5972466"/>
            <a:ext cx="4193798" cy="369332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ja-JP" dirty="0" err="1"/>
              <a:t>my_tuple</a:t>
            </a:r>
            <a:r>
              <a:rPr lang="en-US" altLang="ja-JP" dirty="0"/>
              <a:t>[1] = ‘World’</a:t>
            </a:r>
            <a:endParaRPr lang="en-US" altLang="ja-JP" b="1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49A4BE9A-D4AF-E1A2-3C41-6CCAB5E1A251}"/>
              </a:ext>
            </a:extLst>
          </p:cNvPr>
          <p:cNvSpPr txBox="1"/>
          <p:nvPr/>
        </p:nvSpPr>
        <p:spPr>
          <a:xfrm>
            <a:off x="5701245" y="3437559"/>
            <a:ext cx="401216" cy="369332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-1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059588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24B0455D-2A79-BE33-3697-750B1C836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情報科学ｃ</a:t>
            </a:r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6DB7EC2A-1340-38FC-3C39-47CBD6A9E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セット </a:t>
            </a:r>
            <a:r>
              <a:rPr kumimoji="1" lang="en-US" altLang="ja-JP" dirty="0"/>
              <a:t>(</a:t>
            </a:r>
            <a:r>
              <a:rPr kumimoji="1" lang="ja-JP" altLang="en-US" dirty="0"/>
              <a:t>集合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519CD20-026B-2768-AEF0-D74611EE94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値に順序がなく重複を許さないリスト</a:t>
            </a:r>
            <a:endParaRPr lang="en-US" altLang="ja-JP" dirty="0"/>
          </a:p>
          <a:p>
            <a:pPr lvl="1"/>
            <a:r>
              <a:rPr kumimoji="1" lang="ja-JP" altLang="en-US" dirty="0"/>
              <a:t>定義方法 </a:t>
            </a:r>
            <a:r>
              <a:rPr kumimoji="1" lang="en-US" altLang="ja-JP" dirty="0"/>
              <a:t>(</a:t>
            </a:r>
            <a:r>
              <a:rPr kumimoji="1" lang="ja-JP" altLang="en-US" dirty="0"/>
              <a:t>要素に</a:t>
            </a:r>
            <a:r>
              <a:rPr lang="ja-JP" altLang="en-US" dirty="0"/>
              <a:t>リストやタプル・セットは不可</a:t>
            </a:r>
            <a:r>
              <a:rPr kumimoji="1" lang="en-US" altLang="ja-JP" dirty="0"/>
              <a:t>)</a:t>
            </a:r>
            <a:endParaRPr kumimoji="1" lang="ja-JP" altLang="en-US" dirty="0"/>
          </a:p>
          <a:p>
            <a:pPr lvl="1"/>
            <a:endParaRPr lang="ja-JP" altLang="en-US" dirty="0"/>
          </a:p>
          <a:p>
            <a:pPr lvl="1"/>
            <a:r>
              <a:rPr kumimoji="1" lang="ja-JP" altLang="en-US" dirty="0"/>
              <a:t>概念</a:t>
            </a:r>
          </a:p>
          <a:p>
            <a:pPr lvl="1"/>
            <a:endParaRPr lang="ja-JP" altLang="en-US" dirty="0"/>
          </a:p>
          <a:p>
            <a:pPr lvl="1"/>
            <a:endParaRPr kumimoji="1" lang="ja-JP" altLang="en-US" dirty="0"/>
          </a:p>
          <a:p>
            <a:pPr lvl="1"/>
            <a:r>
              <a:rPr kumimoji="1" lang="ja-JP" altLang="en-US" dirty="0"/>
              <a:t>アクセス方法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添え字</a:t>
            </a:r>
            <a:r>
              <a:rPr lang="ja-JP" altLang="en-US" dirty="0"/>
              <a:t>ではアクセス不可</a:t>
            </a:r>
            <a:r>
              <a:rPr lang="en-US" altLang="ja-JP" dirty="0"/>
              <a:t>(</a:t>
            </a:r>
            <a:r>
              <a:rPr lang="ja-JP" altLang="en-US" dirty="0"/>
              <a:t>何番目の値という概念がないため</a:t>
            </a:r>
            <a:r>
              <a:rPr lang="en-US" altLang="ja-JP" dirty="0"/>
              <a:t>)</a:t>
            </a:r>
          </a:p>
          <a:p>
            <a:pPr lvl="2"/>
            <a:r>
              <a:rPr lang="ja-JP" altLang="en-US" dirty="0"/>
              <a:t>値の取り出し</a:t>
            </a:r>
            <a:endParaRPr lang="en-US" altLang="ja-JP" dirty="0"/>
          </a:p>
          <a:p>
            <a:pPr lvl="2"/>
            <a:endParaRPr kumimoji="1" lang="en-US" altLang="ja-JP" dirty="0"/>
          </a:p>
          <a:p>
            <a:pPr lvl="2"/>
            <a:r>
              <a:rPr kumimoji="1" lang="ja-JP" altLang="en-US" dirty="0"/>
              <a:t>指定した値があるか</a:t>
            </a:r>
            <a:r>
              <a:rPr kumimoji="1" lang="en-US" altLang="ja-JP" dirty="0"/>
              <a:t>True/False</a:t>
            </a:r>
            <a:r>
              <a:rPr kumimoji="1" lang="ja-JP" altLang="en-US" dirty="0"/>
              <a:t>で返す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696340C-305C-24F4-83F0-B87386258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Day2</a:t>
            </a:r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5DDD11D-D1F9-888D-9650-AF52805A5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A0251-0B3B-4C1C-96DC-5D2833458AB2}" type="slidenum">
              <a:rPr kumimoji="1" lang="ja-JP" altLang="en-US" smtClean="0"/>
              <a:t>11</a:t>
            </a:fld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0689C2A-3752-DCDD-52A3-55469BBCE926}"/>
              </a:ext>
            </a:extLst>
          </p:cNvPr>
          <p:cNvSpPr txBox="1"/>
          <p:nvPr/>
        </p:nvSpPr>
        <p:spPr>
          <a:xfrm>
            <a:off x="2146042" y="2687214"/>
            <a:ext cx="9207757" cy="369332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ja-JP" dirty="0" err="1"/>
              <a:t>my_tuple</a:t>
            </a:r>
            <a:r>
              <a:rPr lang="en-US" altLang="ja-JP" dirty="0"/>
              <a:t> = </a:t>
            </a:r>
            <a:r>
              <a:rPr lang="en-US" altLang="ja-JP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{</a:t>
            </a:r>
            <a:r>
              <a:rPr lang="en-US" altLang="ja-JP" dirty="0"/>
              <a:t>0, -1, ‘Hello’, -1 </a:t>
            </a:r>
            <a:r>
              <a:rPr lang="en-US" altLang="ja-JP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}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723B8DB-C9C8-0162-3800-982F16DC73CB}"/>
              </a:ext>
            </a:extLst>
          </p:cNvPr>
          <p:cNvSpPr txBox="1"/>
          <p:nvPr/>
        </p:nvSpPr>
        <p:spPr>
          <a:xfrm>
            <a:off x="2248678" y="3437559"/>
            <a:ext cx="401216" cy="369332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0</a:t>
            </a:r>
            <a:endParaRPr kumimoji="1"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80DECA4-DD60-9808-0224-9EFEF36C1217}"/>
              </a:ext>
            </a:extLst>
          </p:cNvPr>
          <p:cNvSpPr txBox="1"/>
          <p:nvPr/>
        </p:nvSpPr>
        <p:spPr>
          <a:xfrm>
            <a:off x="2785325" y="3437559"/>
            <a:ext cx="401216" cy="369332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-1</a:t>
            </a:r>
            <a:endParaRPr kumimoji="1" lang="ja-JP" altLang="en-US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8BD85CFA-F0F7-B3BF-D0FF-27F65C1E132C}"/>
              </a:ext>
            </a:extLst>
          </p:cNvPr>
          <p:cNvSpPr txBox="1"/>
          <p:nvPr/>
        </p:nvSpPr>
        <p:spPr>
          <a:xfrm>
            <a:off x="3321972" y="3437559"/>
            <a:ext cx="653145" cy="369332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hello</a:t>
            </a:r>
            <a:endParaRPr kumimoji="1" lang="ja-JP" altLang="en-US" dirty="0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F1A217BB-6729-926A-6DFF-13CEF2714293}"/>
              </a:ext>
            </a:extLst>
          </p:cNvPr>
          <p:cNvSpPr txBox="1"/>
          <p:nvPr/>
        </p:nvSpPr>
        <p:spPr>
          <a:xfrm>
            <a:off x="2325533" y="3872250"/>
            <a:ext cx="660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dirty="0"/>
              <a:t>数値</a:t>
            </a:r>
            <a:endParaRPr kumimoji="1" lang="ja-JP" altLang="en-US" sz="1400" dirty="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BBFBFAEA-66EE-76B4-1ED2-A909C53C4B8B}"/>
              </a:ext>
            </a:extLst>
          </p:cNvPr>
          <p:cNvSpPr txBox="1"/>
          <p:nvPr/>
        </p:nvSpPr>
        <p:spPr>
          <a:xfrm>
            <a:off x="3250093" y="3872250"/>
            <a:ext cx="8545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400" dirty="0"/>
              <a:t>文字列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676070DA-8819-9B54-024F-0476E2846115}"/>
              </a:ext>
            </a:extLst>
          </p:cNvPr>
          <p:cNvSpPr txBox="1"/>
          <p:nvPr/>
        </p:nvSpPr>
        <p:spPr>
          <a:xfrm>
            <a:off x="4126325" y="3437559"/>
            <a:ext cx="401216" cy="369332"/>
          </a:xfrm>
          <a:prstGeom prst="rect">
            <a:avLst/>
          </a:prstGeom>
          <a:gradFill>
            <a:gsLst>
              <a:gs pos="0">
                <a:schemeClr val="accent1">
                  <a:satMod val="103000"/>
                  <a:lumMod val="102000"/>
                  <a:tint val="94000"/>
                  <a:alpha val="20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  <a:alpha val="2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  <a:alpha val="20000"/>
                </a:schemeClr>
              </a:gs>
            </a:gsLst>
          </a:gradFill>
          <a:ln>
            <a:solidFill>
              <a:schemeClr val="accent1"/>
            </a:solidFill>
            <a:prstDash val="sysDot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en-US" altLang="ja-JP" dirty="0">
                <a:solidFill>
                  <a:schemeClr val="lt1">
                    <a:alpha val="40000"/>
                  </a:schemeClr>
                </a:solidFill>
              </a:rPr>
              <a:t>-1</a:t>
            </a:r>
            <a:endParaRPr kumimoji="1" lang="ja-JP" altLang="en-US" dirty="0">
              <a:solidFill>
                <a:schemeClr val="lt1">
                  <a:alpha val="40000"/>
                </a:schemeClr>
              </a:solidFill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FEC7E6C9-58BD-D60A-5C17-94E38A42A6DF}"/>
              </a:ext>
            </a:extLst>
          </p:cNvPr>
          <p:cNvSpPr txBox="1"/>
          <p:nvPr/>
        </p:nvSpPr>
        <p:spPr>
          <a:xfrm>
            <a:off x="2612175" y="5267854"/>
            <a:ext cx="1714758" cy="369332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ja-JP" dirty="0" err="1"/>
              <a:t>my_tuple.pop</a:t>
            </a:r>
            <a:r>
              <a:rPr lang="en-US" altLang="ja-JP" dirty="0"/>
              <a:t>()</a:t>
            </a:r>
            <a:endParaRPr lang="en-US" altLang="ja-JP" b="1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0B5B6D58-D79D-5841-FBBF-010AB202165E}"/>
              </a:ext>
            </a:extLst>
          </p:cNvPr>
          <p:cNvSpPr txBox="1"/>
          <p:nvPr/>
        </p:nvSpPr>
        <p:spPr>
          <a:xfrm>
            <a:off x="4509932" y="3587770"/>
            <a:ext cx="49998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/>
              <a:t>重複する値はあっても良いのですが無視されます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4FF4A542-8400-019A-BB2D-9D164344CA24}"/>
              </a:ext>
            </a:extLst>
          </p:cNvPr>
          <p:cNvSpPr txBox="1"/>
          <p:nvPr/>
        </p:nvSpPr>
        <p:spPr>
          <a:xfrm>
            <a:off x="2612175" y="5958734"/>
            <a:ext cx="1714758" cy="369332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ja-JP" dirty="0"/>
              <a:t>-1 in </a:t>
            </a:r>
            <a:r>
              <a:rPr lang="en-US" altLang="ja-JP" dirty="0" err="1"/>
              <a:t>my_tuple</a:t>
            </a:r>
            <a:endParaRPr lang="en-US" altLang="ja-JP" b="1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FD4031A7-8576-5E9F-A49F-FB8981EE55C0}"/>
              </a:ext>
            </a:extLst>
          </p:cNvPr>
          <p:cNvSpPr txBox="1"/>
          <p:nvPr/>
        </p:nvSpPr>
        <p:spPr>
          <a:xfrm>
            <a:off x="4532414" y="5958734"/>
            <a:ext cx="1959825" cy="369332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ja-JP" dirty="0"/>
              <a:t>-1 not in </a:t>
            </a:r>
            <a:r>
              <a:rPr lang="en-US" altLang="ja-JP" dirty="0" err="1"/>
              <a:t>my_tuple</a:t>
            </a:r>
            <a:endParaRPr lang="en-US" altLang="ja-JP" b="1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F5B686BD-B892-E655-4AE4-0DB2F843569E}"/>
              </a:ext>
            </a:extLst>
          </p:cNvPr>
          <p:cNvSpPr txBox="1"/>
          <p:nvPr/>
        </p:nvSpPr>
        <p:spPr>
          <a:xfrm>
            <a:off x="6756400" y="5081571"/>
            <a:ext cx="4597399" cy="1477328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kumimoji="1" lang="ja-JP" altLang="en-US" dirty="0"/>
              <a:t>ポイント！</a:t>
            </a:r>
          </a:p>
          <a:p>
            <a:endParaRPr lang="ja-JP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/>
              <a:t>数学の「集合」だと思えばわかりやすい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dirty="0"/>
              <a:t>集合に関する演算ができます</a:t>
            </a:r>
            <a:endParaRPr kumimoji="1" lang="en-US" altLang="ja-JP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ja-JP" altLang="en-US" dirty="0"/>
              <a:t>和集合・差集合など・・・</a:t>
            </a:r>
          </a:p>
        </p:txBody>
      </p:sp>
    </p:spTree>
    <p:extLst>
      <p:ext uri="{BB962C8B-B14F-4D97-AF65-F5344CB8AC3E}">
        <p14:creationId xmlns:p14="http://schemas.microsoft.com/office/powerpoint/2010/main" val="3604136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72155F1F-8D70-34A0-1662-89EA848DAAD9}"/>
              </a:ext>
            </a:extLst>
          </p:cNvPr>
          <p:cNvSpPr/>
          <p:nvPr/>
        </p:nvSpPr>
        <p:spPr>
          <a:xfrm>
            <a:off x="6146800" y="2687214"/>
            <a:ext cx="3708400" cy="14773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3C9DC42F-EAA4-EAC3-B5CC-837A2DB9A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情報科学ｃ</a:t>
            </a:r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FD351E4A-4A04-839D-13A8-35F8EABD3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辞書 </a:t>
            </a:r>
            <a:r>
              <a:rPr kumimoji="1" lang="en-US" altLang="ja-JP" dirty="0"/>
              <a:t>(</a:t>
            </a:r>
            <a:r>
              <a:rPr kumimoji="1" lang="ja-JP" altLang="en-US" dirty="0"/>
              <a:t>連想配列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BFAF287-C26D-845B-20FB-81777689BF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添え字が順序の数値ではなく文字列</a:t>
            </a:r>
            <a:r>
              <a:rPr lang="en-US" altLang="ja-JP" dirty="0"/>
              <a:t>(</a:t>
            </a:r>
            <a:r>
              <a:rPr lang="ja-JP" altLang="en-US" dirty="0"/>
              <a:t>数値も可</a:t>
            </a:r>
            <a:r>
              <a:rPr lang="en-US" altLang="ja-JP" dirty="0"/>
              <a:t>)</a:t>
            </a:r>
            <a:r>
              <a:rPr lang="ja-JP" altLang="en-US" dirty="0"/>
              <a:t>なリスト</a:t>
            </a:r>
            <a:endParaRPr lang="en-US" altLang="ja-JP" dirty="0"/>
          </a:p>
          <a:p>
            <a:pPr lvl="1"/>
            <a:r>
              <a:rPr lang="ja-JP" altLang="en-US" dirty="0"/>
              <a:t>定義</a:t>
            </a:r>
            <a:endParaRPr lang="en-US" altLang="ja-JP" dirty="0"/>
          </a:p>
          <a:p>
            <a:pPr lvl="1"/>
            <a:endParaRPr lang="en-US" altLang="ja-JP" dirty="0"/>
          </a:p>
          <a:p>
            <a:pPr lvl="1"/>
            <a:endParaRPr lang="en-US" altLang="ja-JP" dirty="0"/>
          </a:p>
          <a:p>
            <a:pPr lvl="1"/>
            <a:endParaRPr lang="en-US" altLang="ja-JP" dirty="0"/>
          </a:p>
          <a:p>
            <a:pPr lvl="1"/>
            <a:endParaRPr lang="en-US" altLang="ja-JP" dirty="0"/>
          </a:p>
          <a:p>
            <a:pPr lvl="1"/>
            <a:r>
              <a:rPr lang="ja-JP" altLang="en-US" dirty="0"/>
              <a:t>アクセス方法</a:t>
            </a:r>
            <a:endParaRPr lang="en-US" altLang="ja-JP" dirty="0"/>
          </a:p>
          <a:p>
            <a:pPr lvl="2"/>
            <a:r>
              <a:rPr kumimoji="1" lang="ja-JP" altLang="en-US" dirty="0"/>
              <a:t>リストと同じ </a:t>
            </a:r>
            <a:r>
              <a:rPr kumimoji="1" lang="en-US" altLang="ja-JP" dirty="0"/>
              <a:t>(</a:t>
            </a:r>
            <a:r>
              <a:rPr kumimoji="1" lang="ja-JP" altLang="en-US" dirty="0"/>
              <a:t>ただし添え字は</a:t>
            </a:r>
            <a:r>
              <a:rPr kumimoji="1" lang="en-US" altLang="ja-JP" b="1" dirty="0">
                <a:solidFill>
                  <a:schemeClr val="accent1"/>
                </a:solidFill>
              </a:rPr>
              <a:t>[key]</a:t>
            </a:r>
            <a:r>
              <a:rPr kumimoji="1" lang="en-US" altLang="ja-JP" dirty="0"/>
              <a:t>)</a:t>
            </a:r>
            <a:endParaRPr lang="ja-JP" altLang="en-US" dirty="0"/>
          </a:p>
          <a:p>
            <a:pPr lvl="1"/>
            <a:endParaRPr kumimoji="1" lang="ja-JP" altLang="en-US" dirty="0"/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29EE74C-A443-1A2C-F124-8E36D33F6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Day2</a:t>
            </a:r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0C65733-3B6A-F947-BDA6-9CFB194AE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A0251-0B3B-4C1C-96DC-5D2833458AB2}" type="slidenum">
              <a:rPr kumimoji="1" lang="ja-JP" altLang="en-US" smtClean="0"/>
              <a:t>12</a:t>
            </a:fld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8F9451A-1B0E-1F17-9396-925E238766D1}"/>
              </a:ext>
            </a:extLst>
          </p:cNvPr>
          <p:cNvSpPr txBox="1"/>
          <p:nvPr/>
        </p:nvSpPr>
        <p:spPr>
          <a:xfrm>
            <a:off x="2146043" y="2687214"/>
            <a:ext cx="3370838" cy="1477328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ja-JP" dirty="0" err="1"/>
              <a:t>my_dict</a:t>
            </a:r>
            <a:r>
              <a:rPr lang="en-US" altLang="ja-JP" dirty="0"/>
              <a:t> = </a:t>
            </a:r>
            <a:r>
              <a:rPr lang="en-US" altLang="ja-JP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{</a:t>
            </a:r>
          </a:p>
          <a:p>
            <a:r>
              <a:rPr lang="en-US" altLang="ja-JP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	'</a:t>
            </a:r>
            <a:r>
              <a:rPr lang="ja-JP" altLang="en-US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講義番号</a:t>
            </a:r>
            <a:r>
              <a:rPr lang="en-US" altLang="ja-JP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':'CS3070’,</a:t>
            </a:r>
          </a:p>
          <a:p>
            <a:r>
              <a:rPr lang="en-US" altLang="ja-JP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	'</a:t>
            </a:r>
            <a:r>
              <a:rPr lang="ja-JP" altLang="en-US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講義名</a:t>
            </a:r>
            <a:r>
              <a:rPr lang="en-US" altLang="ja-JP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':'</a:t>
            </a:r>
            <a:r>
              <a:rPr lang="ja-JP" altLang="en-US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情報科学</a:t>
            </a:r>
            <a:r>
              <a:rPr lang="en-US" altLang="ja-JP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C’,</a:t>
            </a:r>
          </a:p>
          <a:p>
            <a:r>
              <a:rPr lang="en-US" altLang="ja-JP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	'</a:t>
            </a:r>
            <a:r>
              <a:rPr lang="ja-JP" altLang="en-US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担当者</a:t>
            </a:r>
            <a:r>
              <a:rPr lang="en-US" altLang="ja-JP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':'</a:t>
            </a:r>
            <a:r>
              <a:rPr lang="ja-JP" altLang="en-US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横山昌平</a:t>
            </a:r>
            <a:r>
              <a:rPr lang="en-US" altLang="ja-JP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'</a:t>
            </a:r>
          </a:p>
          <a:p>
            <a:r>
              <a:rPr lang="en-US" altLang="ja-JP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}</a:t>
            </a:r>
          </a:p>
        </p:txBody>
      </p: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8404F4AB-D7D2-AD87-EC32-FE36DA71BD34}"/>
              </a:ext>
            </a:extLst>
          </p:cNvPr>
          <p:cNvGrpSpPr/>
          <p:nvPr/>
        </p:nvGrpSpPr>
        <p:grpSpPr>
          <a:xfrm>
            <a:off x="6257470" y="2787319"/>
            <a:ext cx="3353889" cy="369332"/>
            <a:chOff x="6033950" y="2787319"/>
            <a:chExt cx="3353889" cy="369332"/>
          </a:xfrm>
        </p:grpSpPr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6AC83CA9-AB7D-B5D0-509D-0AF3EAA50869}"/>
                </a:ext>
              </a:extLst>
            </p:cNvPr>
            <p:cNvSpPr txBox="1"/>
            <p:nvPr/>
          </p:nvSpPr>
          <p:spPr>
            <a:xfrm>
              <a:off x="6033950" y="2787319"/>
              <a:ext cx="1332049" cy="369332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dirty="0"/>
                <a:t>講義番号</a:t>
              </a:r>
            </a:p>
          </p:txBody>
        </p:sp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FABBE374-7C57-3096-BD2B-E1915ADAA063}"/>
                </a:ext>
              </a:extLst>
            </p:cNvPr>
            <p:cNvSpPr txBox="1"/>
            <p:nvPr/>
          </p:nvSpPr>
          <p:spPr>
            <a:xfrm>
              <a:off x="8055790" y="2787319"/>
              <a:ext cx="1332049" cy="369332"/>
            </a:xfrm>
            <a:prstGeom prst="rect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ja-JP" b="1" dirty="0">
                  <a:solidFill>
                    <a:schemeClr val="accent1">
                      <a:lumMod val="20000"/>
                      <a:lumOff val="80000"/>
                    </a:schemeClr>
                  </a:solidFill>
                </a:rPr>
                <a:t>CS3070</a:t>
              </a:r>
              <a:endParaRPr kumimoji="1" lang="ja-JP" altLang="en-US" dirty="0"/>
            </a:p>
          </p:txBody>
        </p:sp>
        <p:sp>
          <p:nvSpPr>
            <p:cNvPr id="14" name="矢印: 右 13">
              <a:extLst>
                <a:ext uri="{FF2B5EF4-FFF2-40B4-BE49-F238E27FC236}">
                  <a16:creationId xmlns:a16="http://schemas.microsoft.com/office/drawing/2014/main" id="{008E245F-580F-03FF-9F89-3973E46FA1BB}"/>
                </a:ext>
              </a:extLst>
            </p:cNvPr>
            <p:cNvSpPr/>
            <p:nvPr/>
          </p:nvSpPr>
          <p:spPr>
            <a:xfrm>
              <a:off x="7416800" y="2787319"/>
              <a:ext cx="618670" cy="369332"/>
            </a:xfrm>
            <a:prstGeom prst="rightArrow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AA665ED4-A9D1-0A15-1451-BEC8A5505928}"/>
              </a:ext>
            </a:extLst>
          </p:cNvPr>
          <p:cNvGrpSpPr/>
          <p:nvPr/>
        </p:nvGrpSpPr>
        <p:grpSpPr>
          <a:xfrm>
            <a:off x="6257470" y="3234359"/>
            <a:ext cx="3353889" cy="399812"/>
            <a:chOff x="6033950" y="3274999"/>
            <a:chExt cx="3353889" cy="399812"/>
          </a:xfrm>
        </p:grpSpPr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A2967A3B-2EBF-985F-B31D-465EDB66AA88}"/>
                </a:ext>
              </a:extLst>
            </p:cNvPr>
            <p:cNvSpPr txBox="1"/>
            <p:nvPr/>
          </p:nvSpPr>
          <p:spPr>
            <a:xfrm>
              <a:off x="6033950" y="3274999"/>
              <a:ext cx="1332049" cy="369332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dirty="0"/>
                <a:t>講義名</a:t>
              </a:r>
            </a:p>
          </p:txBody>
        </p:sp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8B6C99EA-F0D5-A651-1A02-1D78EEC623DE}"/>
                </a:ext>
              </a:extLst>
            </p:cNvPr>
            <p:cNvSpPr txBox="1"/>
            <p:nvPr/>
          </p:nvSpPr>
          <p:spPr>
            <a:xfrm>
              <a:off x="8055790" y="3274999"/>
              <a:ext cx="1332049" cy="369332"/>
            </a:xfrm>
            <a:prstGeom prst="rect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ja-JP" altLang="en-US" b="1" dirty="0">
                  <a:solidFill>
                    <a:schemeClr val="accent1">
                      <a:lumMod val="20000"/>
                      <a:lumOff val="80000"/>
                    </a:schemeClr>
                  </a:solidFill>
                </a:rPr>
                <a:t>情報科学</a:t>
              </a:r>
              <a:r>
                <a:rPr lang="en-US" altLang="ja-JP" b="1" dirty="0">
                  <a:solidFill>
                    <a:schemeClr val="accent1">
                      <a:lumMod val="20000"/>
                      <a:lumOff val="80000"/>
                    </a:schemeClr>
                  </a:solidFill>
                </a:rPr>
                <a:t>C</a:t>
              </a:r>
              <a:endParaRPr kumimoji="1" lang="ja-JP" altLang="en-US" dirty="0"/>
            </a:p>
          </p:txBody>
        </p:sp>
        <p:sp>
          <p:nvSpPr>
            <p:cNvPr id="15" name="矢印: 右 14">
              <a:extLst>
                <a:ext uri="{FF2B5EF4-FFF2-40B4-BE49-F238E27FC236}">
                  <a16:creationId xmlns:a16="http://schemas.microsoft.com/office/drawing/2014/main" id="{065B649E-9242-012D-FDBC-2F0DB06BB47C}"/>
                </a:ext>
              </a:extLst>
            </p:cNvPr>
            <p:cNvSpPr/>
            <p:nvPr/>
          </p:nvSpPr>
          <p:spPr>
            <a:xfrm>
              <a:off x="7416800" y="3305479"/>
              <a:ext cx="618670" cy="369332"/>
            </a:xfrm>
            <a:prstGeom prst="rightArrow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D6F890D5-F57F-A59F-0ECE-95BA194E6B38}"/>
              </a:ext>
            </a:extLst>
          </p:cNvPr>
          <p:cNvGrpSpPr/>
          <p:nvPr/>
        </p:nvGrpSpPr>
        <p:grpSpPr>
          <a:xfrm>
            <a:off x="6257470" y="3711879"/>
            <a:ext cx="3353889" cy="379492"/>
            <a:chOff x="6033950" y="3772839"/>
            <a:chExt cx="3353889" cy="379492"/>
          </a:xfrm>
        </p:grpSpPr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AA89AE3B-1E51-E66A-0931-0B160E7A4232}"/>
                </a:ext>
              </a:extLst>
            </p:cNvPr>
            <p:cNvSpPr txBox="1"/>
            <p:nvPr/>
          </p:nvSpPr>
          <p:spPr>
            <a:xfrm>
              <a:off x="6033950" y="3772839"/>
              <a:ext cx="1332049" cy="369332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ja-JP" altLang="en-US" dirty="0"/>
                <a:t>担当者</a:t>
              </a:r>
              <a:endParaRPr kumimoji="1" lang="ja-JP" altLang="en-US" dirty="0"/>
            </a:p>
          </p:txBody>
        </p:sp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779C1804-404C-B90F-04E5-E385BAD9C5C4}"/>
                </a:ext>
              </a:extLst>
            </p:cNvPr>
            <p:cNvSpPr txBox="1"/>
            <p:nvPr/>
          </p:nvSpPr>
          <p:spPr>
            <a:xfrm>
              <a:off x="8055790" y="3772839"/>
              <a:ext cx="1332049" cy="369332"/>
            </a:xfrm>
            <a:prstGeom prst="rect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ja-JP" altLang="en-US" b="1" dirty="0">
                  <a:solidFill>
                    <a:schemeClr val="accent1">
                      <a:lumMod val="20000"/>
                      <a:lumOff val="80000"/>
                    </a:schemeClr>
                  </a:solidFill>
                </a:rPr>
                <a:t>横山昌平</a:t>
              </a:r>
              <a:endParaRPr kumimoji="1" lang="ja-JP" altLang="en-US" dirty="0"/>
            </a:p>
          </p:txBody>
        </p:sp>
        <p:sp>
          <p:nvSpPr>
            <p:cNvPr id="16" name="矢印: 右 15">
              <a:extLst>
                <a:ext uri="{FF2B5EF4-FFF2-40B4-BE49-F238E27FC236}">
                  <a16:creationId xmlns:a16="http://schemas.microsoft.com/office/drawing/2014/main" id="{BF4E78F3-6580-F812-09AF-9D325F73B453}"/>
                </a:ext>
              </a:extLst>
            </p:cNvPr>
            <p:cNvSpPr/>
            <p:nvPr/>
          </p:nvSpPr>
          <p:spPr>
            <a:xfrm>
              <a:off x="7416800" y="3782999"/>
              <a:ext cx="618670" cy="369332"/>
            </a:xfrm>
            <a:prstGeom prst="rightArrow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1" name="コンテンツ プレースホルダー 3">
            <a:extLst>
              <a:ext uri="{FF2B5EF4-FFF2-40B4-BE49-F238E27FC236}">
                <a16:creationId xmlns:a16="http://schemas.microsoft.com/office/drawing/2014/main" id="{1816B2E8-D321-1E4D-946F-ADFB4D87A3BB}"/>
              </a:ext>
            </a:extLst>
          </p:cNvPr>
          <p:cNvSpPr txBox="1">
            <a:spLocks/>
          </p:cNvSpPr>
          <p:nvPr/>
        </p:nvSpPr>
        <p:spPr>
          <a:xfrm>
            <a:off x="5378630" y="1825625"/>
            <a:ext cx="999853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altLang="ja-JP" dirty="0"/>
          </a:p>
          <a:p>
            <a:pPr lvl="1"/>
            <a:r>
              <a:rPr lang="ja-JP" altLang="en-US" dirty="0"/>
              <a:t>概念</a:t>
            </a: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26479A7F-FFA7-6F26-7DF8-4E124471D3EA}"/>
              </a:ext>
            </a:extLst>
          </p:cNvPr>
          <p:cNvSpPr txBox="1"/>
          <p:nvPr/>
        </p:nvSpPr>
        <p:spPr>
          <a:xfrm>
            <a:off x="6446519" y="4114813"/>
            <a:ext cx="953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>
                <a:solidFill>
                  <a:schemeClr val="accent1"/>
                </a:solidFill>
                <a:latin typeface="+mj-lt"/>
              </a:rPr>
              <a:t>key</a:t>
            </a:r>
            <a:endParaRPr kumimoji="1" lang="ja-JP" altLang="en-US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A3ED84BC-79D5-96AD-67E0-9DAEBBEEF694}"/>
              </a:ext>
            </a:extLst>
          </p:cNvPr>
          <p:cNvSpPr txBox="1"/>
          <p:nvPr/>
        </p:nvSpPr>
        <p:spPr>
          <a:xfrm>
            <a:off x="8478519" y="4114813"/>
            <a:ext cx="953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>
                <a:solidFill>
                  <a:schemeClr val="accent1"/>
                </a:solidFill>
                <a:latin typeface="+mj-lt"/>
              </a:rPr>
              <a:t>value</a:t>
            </a:r>
            <a:endParaRPr kumimoji="1" lang="ja-JP" altLang="en-US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045B2697-4169-3D13-8330-EA78B9CA52CC}"/>
              </a:ext>
            </a:extLst>
          </p:cNvPr>
          <p:cNvSpPr txBox="1"/>
          <p:nvPr/>
        </p:nvSpPr>
        <p:spPr>
          <a:xfrm>
            <a:off x="1952654" y="5044334"/>
            <a:ext cx="2243425" cy="369332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ja-JP" dirty="0"/>
              <a:t>my_ </a:t>
            </a:r>
            <a:r>
              <a:rPr lang="en-US" altLang="ja-JP" dirty="0" err="1"/>
              <a:t>dict</a:t>
            </a:r>
            <a:r>
              <a:rPr lang="en-US" altLang="ja-JP" dirty="0"/>
              <a:t>[‘</a:t>
            </a:r>
            <a:r>
              <a:rPr lang="ja-JP" altLang="en-US" dirty="0"/>
              <a:t>講義番号</a:t>
            </a:r>
            <a:r>
              <a:rPr lang="en-US" altLang="ja-JP" dirty="0"/>
              <a:t>’]</a:t>
            </a: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3F05AD4B-6D28-B4F2-9CED-8E216D4163E3}"/>
              </a:ext>
            </a:extLst>
          </p:cNvPr>
          <p:cNvSpPr txBox="1"/>
          <p:nvPr/>
        </p:nvSpPr>
        <p:spPr>
          <a:xfrm>
            <a:off x="4680182" y="5044334"/>
            <a:ext cx="1253258" cy="369332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ja-JP" dirty="0"/>
              <a:t>CS3070</a:t>
            </a:r>
            <a:endParaRPr kumimoji="1" lang="ja-JP" altLang="en-US" dirty="0"/>
          </a:p>
        </p:txBody>
      </p:sp>
      <p:sp>
        <p:nvSpPr>
          <p:cNvPr id="33" name="矢印: 右 32">
            <a:extLst>
              <a:ext uri="{FF2B5EF4-FFF2-40B4-BE49-F238E27FC236}">
                <a16:creationId xmlns:a16="http://schemas.microsoft.com/office/drawing/2014/main" id="{DF2F765E-420A-CD8E-00EC-62816A5E4067}"/>
              </a:ext>
            </a:extLst>
          </p:cNvPr>
          <p:cNvSpPr/>
          <p:nvPr/>
        </p:nvSpPr>
        <p:spPr>
          <a:xfrm>
            <a:off x="4317462" y="5092647"/>
            <a:ext cx="269241" cy="272706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3CB13EBA-8911-9884-2C36-E4013409EE6D}"/>
              </a:ext>
            </a:extLst>
          </p:cNvPr>
          <p:cNvSpPr txBox="1"/>
          <p:nvPr/>
        </p:nvSpPr>
        <p:spPr>
          <a:xfrm>
            <a:off x="1952654" y="5553598"/>
            <a:ext cx="2243425" cy="369332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ja-JP" dirty="0"/>
              <a:t>my_ </a:t>
            </a:r>
            <a:r>
              <a:rPr lang="en-US" altLang="ja-JP" dirty="0" err="1"/>
              <a:t>dict</a:t>
            </a:r>
            <a:r>
              <a:rPr lang="en-US" altLang="ja-JP" dirty="0"/>
              <a:t>[‘</a:t>
            </a:r>
            <a:r>
              <a:rPr lang="ja-JP" altLang="en-US" dirty="0"/>
              <a:t>講義名</a:t>
            </a:r>
            <a:r>
              <a:rPr lang="en-US" altLang="ja-JP" dirty="0"/>
              <a:t>’]</a:t>
            </a: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6A73E0F3-8844-510B-634B-7F0AA9253103}"/>
              </a:ext>
            </a:extLst>
          </p:cNvPr>
          <p:cNvSpPr txBox="1"/>
          <p:nvPr/>
        </p:nvSpPr>
        <p:spPr>
          <a:xfrm>
            <a:off x="4680182" y="5553598"/>
            <a:ext cx="1253258" cy="369332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情報科学</a:t>
            </a:r>
            <a:r>
              <a:rPr kumimoji="1" lang="en-US" altLang="ja-JP" dirty="0"/>
              <a:t>C</a:t>
            </a:r>
            <a:endParaRPr kumimoji="1" lang="ja-JP" altLang="en-US" dirty="0"/>
          </a:p>
        </p:txBody>
      </p:sp>
      <p:sp>
        <p:nvSpPr>
          <p:cNvPr id="38" name="矢印: 右 37">
            <a:extLst>
              <a:ext uri="{FF2B5EF4-FFF2-40B4-BE49-F238E27FC236}">
                <a16:creationId xmlns:a16="http://schemas.microsoft.com/office/drawing/2014/main" id="{7261761B-B3F5-9B9B-8728-5328CDE891D1}"/>
              </a:ext>
            </a:extLst>
          </p:cNvPr>
          <p:cNvSpPr/>
          <p:nvPr/>
        </p:nvSpPr>
        <p:spPr>
          <a:xfrm>
            <a:off x="4317462" y="5601911"/>
            <a:ext cx="269241" cy="272706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8E667223-C9C6-034C-6EA9-A7E01B0501DF}"/>
              </a:ext>
            </a:extLst>
          </p:cNvPr>
          <p:cNvSpPr txBox="1"/>
          <p:nvPr/>
        </p:nvSpPr>
        <p:spPr>
          <a:xfrm>
            <a:off x="1952654" y="6062861"/>
            <a:ext cx="2243425" cy="369332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ja-JP" dirty="0"/>
              <a:t>my_ </a:t>
            </a:r>
            <a:r>
              <a:rPr lang="en-US" altLang="ja-JP" dirty="0" err="1"/>
              <a:t>dict</a:t>
            </a:r>
            <a:r>
              <a:rPr lang="en-US" altLang="ja-JP" dirty="0"/>
              <a:t>[‘</a:t>
            </a:r>
            <a:r>
              <a:rPr lang="ja-JP" altLang="en-US" dirty="0"/>
              <a:t>担当者</a:t>
            </a:r>
            <a:r>
              <a:rPr lang="en-US" altLang="ja-JP" dirty="0"/>
              <a:t>’]</a:t>
            </a: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A25DFF9E-FE76-B2F2-7360-27EC5C0602C5}"/>
              </a:ext>
            </a:extLst>
          </p:cNvPr>
          <p:cNvSpPr txBox="1"/>
          <p:nvPr/>
        </p:nvSpPr>
        <p:spPr>
          <a:xfrm>
            <a:off x="4680182" y="6062861"/>
            <a:ext cx="1253258" cy="369332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横山昌平</a:t>
            </a:r>
          </a:p>
        </p:txBody>
      </p:sp>
      <p:sp>
        <p:nvSpPr>
          <p:cNvPr id="42" name="矢印: 右 41">
            <a:extLst>
              <a:ext uri="{FF2B5EF4-FFF2-40B4-BE49-F238E27FC236}">
                <a16:creationId xmlns:a16="http://schemas.microsoft.com/office/drawing/2014/main" id="{E3691666-99D7-DAB8-103E-9D6223322F18}"/>
              </a:ext>
            </a:extLst>
          </p:cNvPr>
          <p:cNvSpPr/>
          <p:nvPr/>
        </p:nvSpPr>
        <p:spPr>
          <a:xfrm>
            <a:off x="4317462" y="6111174"/>
            <a:ext cx="269241" cy="272706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2D984002-DD57-5282-B036-FA7B06D50B23}"/>
              </a:ext>
            </a:extLst>
          </p:cNvPr>
          <p:cNvSpPr txBox="1"/>
          <p:nvPr/>
        </p:nvSpPr>
        <p:spPr>
          <a:xfrm>
            <a:off x="6756400" y="5274452"/>
            <a:ext cx="4815840" cy="1200329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kumimoji="1" lang="ja-JP" altLang="en-US" dirty="0"/>
              <a:t>ポイント！</a:t>
            </a:r>
          </a:p>
          <a:p>
            <a:endParaRPr lang="ja-JP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/>
              <a:t>要素に辞書やリスト・タプルを入れられる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/>
              <a:t>つまり</a:t>
            </a:r>
            <a:r>
              <a:rPr lang="en-US" altLang="ja-JP" dirty="0"/>
              <a:t>『</a:t>
            </a:r>
            <a:r>
              <a:rPr lang="ja-JP" altLang="en-US" dirty="0"/>
              <a:t>ツリー</a:t>
            </a:r>
            <a:r>
              <a:rPr lang="en-US" altLang="ja-JP" dirty="0"/>
              <a:t>』</a:t>
            </a:r>
            <a:r>
              <a:rPr lang="ja-JP" altLang="en-US" dirty="0"/>
              <a:t>型のデータを表現可</a:t>
            </a:r>
          </a:p>
        </p:txBody>
      </p:sp>
    </p:spTree>
    <p:extLst>
      <p:ext uri="{BB962C8B-B14F-4D97-AF65-F5344CB8AC3E}">
        <p14:creationId xmlns:p14="http://schemas.microsoft.com/office/powerpoint/2010/main" val="2194646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025A55A5-AED2-02E9-816C-27A10A660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情報科学ｃ</a:t>
            </a:r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508C6416-687B-80E8-5019-2853C1A05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JSON</a:t>
            </a:r>
            <a:endParaRPr kumimoji="1" lang="ja-JP" altLang="en-US" dirty="0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69DF70E-BC5A-1600-09ED-407180768C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データ交換のための広く使われているデータ型</a:t>
            </a:r>
            <a:r>
              <a:rPr kumimoji="1" lang="en-US" altLang="ja-JP" dirty="0"/>
              <a:t>(</a:t>
            </a:r>
            <a:r>
              <a:rPr kumimoji="1" lang="ja-JP" altLang="en-US" dirty="0"/>
              <a:t>文字列型</a:t>
            </a:r>
            <a:r>
              <a:rPr kumimoji="1" lang="en-US" altLang="ja-JP" dirty="0"/>
              <a:t>)</a:t>
            </a:r>
            <a:endParaRPr kumimoji="1" lang="ja-JP" altLang="en-US" dirty="0"/>
          </a:p>
          <a:p>
            <a:pPr lvl="1"/>
            <a:r>
              <a:rPr lang="ja-JP" altLang="en-US" dirty="0"/>
              <a:t>リストや辞書型を表現できるフォーマット</a:t>
            </a:r>
          </a:p>
          <a:p>
            <a:pPr lvl="1"/>
            <a:r>
              <a:rPr lang="en-US" altLang="ja-JP" dirty="0"/>
              <a:t>JavaScript</a:t>
            </a:r>
            <a:r>
              <a:rPr lang="ja-JP" altLang="en-US" dirty="0"/>
              <a:t>に基づいているため</a:t>
            </a:r>
            <a:r>
              <a:rPr lang="en-US" altLang="ja-JP" dirty="0"/>
              <a:t>Python</a:t>
            </a:r>
            <a:r>
              <a:rPr lang="ja-JP" altLang="en-US" dirty="0"/>
              <a:t>で利用するには変換が必要</a:t>
            </a:r>
            <a:endParaRPr lang="en-US" altLang="ja-JP" dirty="0"/>
          </a:p>
          <a:p>
            <a:pPr lvl="1"/>
            <a:r>
              <a:rPr lang="ja-JP" altLang="en-US" dirty="0"/>
              <a:t>変換の為には冒頭で</a:t>
            </a:r>
            <a:r>
              <a:rPr lang="en-US" altLang="ja-JP" dirty="0" err="1"/>
              <a:t>json</a:t>
            </a:r>
            <a:r>
              <a:rPr lang="ja-JP" altLang="en-US" dirty="0"/>
              <a:t>を</a:t>
            </a:r>
            <a:r>
              <a:rPr lang="en-US" altLang="ja-JP" dirty="0"/>
              <a:t>import</a:t>
            </a:r>
            <a:r>
              <a:rPr lang="ja-JP" altLang="en-US" dirty="0"/>
              <a:t>しておく必要があり</a:t>
            </a:r>
            <a:endParaRPr lang="en-US" altLang="ja-JP" dirty="0"/>
          </a:p>
          <a:p>
            <a:pPr lvl="1"/>
            <a:endParaRPr lang="ja-JP" altLang="en-US" dirty="0"/>
          </a:p>
          <a:p>
            <a:r>
              <a:rPr lang="ja-JP" altLang="en-US" dirty="0"/>
              <a:t>定義</a:t>
            </a:r>
            <a:r>
              <a:rPr lang="en-US" altLang="ja-JP" dirty="0"/>
              <a:t>: Python</a:t>
            </a:r>
            <a:r>
              <a:rPr lang="ja-JP" altLang="en-US" dirty="0"/>
              <a:t>辞書を</a:t>
            </a:r>
            <a:r>
              <a:rPr lang="en-US" altLang="ja-JP" dirty="0"/>
              <a:t>JSON</a:t>
            </a:r>
            <a:r>
              <a:rPr lang="ja-JP" altLang="en-US" dirty="0"/>
              <a:t>文字列に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定義</a:t>
            </a:r>
            <a:r>
              <a:rPr lang="en-US" altLang="ja-JP" dirty="0"/>
              <a:t>: JSON</a:t>
            </a:r>
            <a:r>
              <a:rPr lang="ja-JP" altLang="en-US" dirty="0"/>
              <a:t>文字列を</a:t>
            </a:r>
            <a:r>
              <a:rPr lang="en-US" altLang="ja-JP" dirty="0"/>
              <a:t>Python</a:t>
            </a:r>
            <a:r>
              <a:rPr lang="ja-JP" altLang="en-US" dirty="0"/>
              <a:t>辞書に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B80E54D-07A8-FED7-54B6-6EDC80839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Day2</a:t>
            </a:r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0357572-1224-6C6B-BB7A-590E0F583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A0251-0B3B-4C1C-96DC-5D2833458AB2}" type="slidenum">
              <a:rPr kumimoji="1" lang="ja-JP" altLang="en-US" smtClean="0"/>
              <a:t>13</a:t>
            </a:fld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2AF9B48-F9BE-7F50-F30F-E060697DF9DD}"/>
              </a:ext>
            </a:extLst>
          </p:cNvPr>
          <p:cNvSpPr txBox="1"/>
          <p:nvPr/>
        </p:nvSpPr>
        <p:spPr>
          <a:xfrm>
            <a:off x="2146042" y="4477306"/>
            <a:ext cx="9207757" cy="369332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ja-JP" dirty="0" err="1">
                <a:solidFill>
                  <a:schemeClr val="bg1"/>
                </a:solidFill>
              </a:rPr>
              <a:t>my_JSON</a:t>
            </a:r>
            <a:r>
              <a:rPr lang="en-US" altLang="ja-JP" dirty="0">
                <a:solidFill>
                  <a:schemeClr val="bg1"/>
                </a:solidFill>
              </a:rPr>
              <a:t> = </a:t>
            </a:r>
            <a:r>
              <a:rPr lang="en-US" altLang="ja-JP" dirty="0" err="1">
                <a:solidFill>
                  <a:schemeClr val="bg1"/>
                </a:solidFill>
              </a:rPr>
              <a:t>json.dumps</a:t>
            </a:r>
            <a:r>
              <a:rPr lang="en-US" altLang="ja-JP" dirty="0">
                <a:solidFill>
                  <a:schemeClr val="bg1"/>
                </a:solidFill>
              </a:rPr>
              <a:t>(</a:t>
            </a:r>
            <a:r>
              <a:rPr lang="en-US" altLang="ja-JP" dirty="0" err="1">
                <a:solidFill>
                  <a:schemeClr val="bg1"/>
                </a:solidFill>
              </a:rPr>
              <a:t>my_dict,ensure_ascii</a:t>
            </a:r>
            <a:r>
              <a:rPr lang="en-US" altLang="ja-JP" dirty="0">
                <a:solidFill>
                  <a:schemeClr val="bg1"/>
                </a:solidFill>
              </a:rPr>
              <a:t>=False)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7E8D54F-AECF-BBCB-79AA-9854F1BC0912}"/>
              </a:ext>
            </a:extLst>
          </p:cNvPr>
          <p:cNvSpPr txBox="1"/>
          <p:nvPr/>
        </p:nvSpPr>
        <p:spPr>
          <a:xfrm>
            <a:off x="2146042" y="5442506"/>
            <a:ext cx="9207757" cy="369332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ja-JP" dirty="0" err="1">
                <a:solidFill>
                  <a:schemeClr val="bg1"/>
                </a:solidFill>
              </a:rPr>
              <a:t>my_dict</a:t>
            </a:r>
            <a:r>
              <a:rPr lang="en-US" altLang="ja-JP" dirty="0">
                <a:solidFill>
                  <a:schemeClr val="bg1"/>
                </a:solidFill>
              </a:rPr>
              <a:t> =  </a:t>
            </a:r>
            <a:r>
              <a:rPr lang="en-US" altLang="ja-JP" dirty="0" err="1">
                <a:solidFill>
                  <a:schemeClr val="bg1"/>
                </a:solidFill>
              </a:rPr>
              <a:t>json.loads</a:t>
            </a:r>
            <a:r>
              <a:rPr lang="en-US" altLang="ja-JP" dirty="0">
                <a:solidFill>
                  <a:schemeClr val="bg1"/>
                </a:solidFill>
              </a:rPr>
              <a:t>(</a:t>
            </a:r>
            <a:r>
              <a:rPr lang="en-US" altLang="ja-JP" dirty="0" err="1">
                <a:solidFill>
                  <a:schemeClr val="bg1"/>
                </a:solidFill>
              </a:rPr>
              <a:t>my_json</a:t>
            </a:r>
            <a:r>
              <a:rPr lang="en-US" altLang="ja-JP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7A0E939-E7F8-DF7F-5464-919ACBA5D729}"/>
              </a:ext>
            </a:extLst>
          </p:cNvPr>
          <p:cNvSpPr txBox="1"/>
          <p:nvPr/>
        </p:nvSpPr>
        <p:spPr>
          <a:xfrm>
            <a:off x="2146042" y="3501946"/>
            <a:ext cx="9207757" cy="369332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ja-JP" dirty="0">
                <a:solidFill>
                  <a:schemeClr val="bg1"/>
                </a:solidFill>
              </a:rPr>
              <a:t>Import </a:t>
            </a:r>
            <a:r>
              <a:rPr lang="en-US" altLang="ja-JP" dirty="0" err="1">
                <a:solidFill>
                  <a:schemeClr val="bg1"/>
                </a:solidFill>
              </a:rPr>
              <a:t>json</a:t>
            </a:r>
            <a:endParaRPr lang="en-US" altLang="ja-JP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7456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1B88A-756A-8C27-B32F-01E683510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9C18B763-0475-78FE-A8A2-84DB99AFE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情報科学Ｃ</a:t>
            </a:r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71643E4A-F817-C4F4-6376-C1A7E11C66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第２回　</a:t>
            </a:r>
            <a:r>
              <a:rPr kumimoji="1" lang="ja-JP" altLang="en-US" sz="2400" dirty="0"/>
              <a:t>リテラル／データ構造</a:t>
            </a:r>
            <a:r>
              <a:rPr kumimoji="1" lang="ja-JP" altLang="en-US" sz="2400" u="sng" dirty="0"/>
              <a:t>演習</a:t>
            </a:r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DF7172A-BF2F-971C-4C78-E6AF45192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情報科学ｃ</a:t>
            </a:r>
            <a:endParaRPr kumimoji="1" lang="ja-JP" alt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83C0C92-E4BC-74D9-F085-3343F4542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ja-JP"/>
              <a:t>p.</a:t>
            </a:r>
            <a:fld id="{71584EDF-536B-41D0-946E-780F35A2C473}" type="slidenum">
              <a:rPr lang="ja-JP" altLang="en-US" smtClean="0"/>
              <a:pPr/>
              <a:t>14</a:t>
            </a:fld>
            <a:endParaRPr lang="ja-JP" altLang="en-US" dirty="0"/>
          </a:p>
        </p:txBody>
      </p:sp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CA7D10DA-4F17-19BF-669E-FFACEE0CC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ja-JP"/>
              <a:t>Day2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030669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9C428-77E9-9B4B-E9AA-1A13D7485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328E2B9D-F205-6DA5-7859-02B47E147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情報科学ｃ</a:t>
            </a:r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D144C15A-16B3-89FC-429F-941BBD4E4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sz="2800" dirty="0"/>
              <a:t>[</a:t>
            </a:r>
            <a:r>
              <a:rPr kumimoji="1" lang="en-US" altLang="ja-JP" sz="2800" dirty="0">
                <a:solidFill>
                  <a:schemeClr val="accent1"/>
                </a:solidFill>
              </a:rPr>
              <a:t>05</a:t>
            </a:r>
            <a:r>
              <a:rPr kumimoji="1" lang="en-US" altLang="ja-JP" sz="2800" dirty="0"/>
              <a:t>-day02kk] </a:t>
            </a:r>
            <a:br>
              <a:rPr kumimoji="1" lang="ja-JP" altLang="en-US" dirty="0"/>
            </a:br>
            <a:r>
              <a:rPr lang="ja-JP" altLang="en-US" dirty="0"/>
              <a:t>辞書型データをリストする</a:t>
            </a:r>
            <a:endParaRPr kumimoji="1" lang="ja-JP" altLang="en-US" dirty="0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C047027-27A4-C54F-3299-403C51D504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お題</a:t>
            </a:r>
          </a:p>
          <a:p>
            <a:pPr lvl="1"/>
            <a:r>
              <a:rPr lang="ja-JP" altLang="en-US" dirty="0"/>
              <a:t>要素が辞書型であるリストをつくる。</a:t>
            </a:r>
          </a:p>
          <a:p>
            <a:pPr lvl="1"/>
            <a:r>
              <a:rPr lang="ja-JP" altLang="en-US" dirty="0"/>
              <a:t>内容は皆さんの身の回りの情報を使って作ってください。</a:t>
            </a:r>
          </a:p>
          <a:p>
            <a:pPr lvl="2"/>
            <a:r>
              <a:rPr lang="ja-JP" altLang="en-US" dirty="0"/>
              <a:t>お気に入りのカフェのリスト</a:t>
            </a:r>
          </a:p>
          <a:p>
            <a:pPr lvl="2"/>
            <a:r>
              <a:rPr lang="ja-JP" altLang="en-US" dirty="0"/>
              <a:t>今期とっている講義のリスト　</a:t>
            </a:r>
            <a:r>
              <a:rPr lang="en-US" altLang="ja-JP" dirty="0" err="1"/>
              <a:t>etc</a:t>
            </a:r>
            <a:r>
              <a:rPr lang="en-US" altLang="ja-JP" dirty="0"/>
              <a:t>…..</a:t>
            </a:r>
            <a:endParaRPr kumimoji="1" lang="ja-JP" altLang="en-US" dirty="0"/>
          </a:p>
          <a:p>
            <a:r>
              <a:rPr lang="ja-JP" altLang="en-US" dirty="0"/>
              <a:t>発表：希望者のみ先着順で講義終了時刻まで</a:t>
            </a:r>
          </a:p>
          <a:p>
            <a:pPr lvl="1"/>
            <a:r>
              <a:rPr lang="ja-JP" altLang="en-US" dirty="0"/>
              <a:t>前でノートを表示しながら簡単に説明をしてもらいます</a:t>
            </a:r>
          </a:p>
          <a:p>
            <a:pPr lvl="1"/>
            <a:r>
              <a:rPr lang="ja-JP" altLang="en-US" dirty="0"/>
              <a:t>発表した人は記録して、成績の加点対象にします</a:t>
            </a:r>
          </a:p>
          <a:p>
            <a:pPr lvl="1"/>
            <a:endParaRPr kumimoji="1" lang="ja-JP" altLang="en-US" dirty="0"/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24D7C88-8358-08C9-3328-2688EAEB8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Day2</a:t>
            </a:r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565B5C8-279E-E558-30D9-782F2A03D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A0251-0B3B-4C1C-96DC-5D2833458AB2}" type="slidenum">
              <a:rPr kumimoji="1" lang="ja-JP" altLang="en-US" smtClean="0"/>
              <a:t>15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4729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37F09938-E1A3-ED80-67F9-FB8A9DB9A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情報科学ｃ</a:t>
            </a:r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B99144A6-D87D-82C3-BCCC-F058955A7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ちょっと解説</a:t>
            </a:r>
            <a:endParaRPr kumimoji="1" lang="ja-JP" altLang="en-US" dirty="0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4D968BF-CBE4-D69C-28D6-E87F1D9915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リスト型</a:t>
            </a:r>
            <a:endParaRPr lang="en-US" altLang="ja-JP" dirty="0"/>
          </a:p>
          <a:p>
            <a:pPr lvl="1"/>
            <a:endParaRPr lang="en-US" altLang="ja-JP" dirty="0"/>
          </a:p>
          <a:p>
            <a:pPr lvl="1"/>
            <a:endParaRPr lang="ja-JP" altLang="en-US" dirty="0"/>
          </a:p>
          <a:p>
            <a:r>
              <a:rPr kumimoji="1" lang="ja-JP" altLang="en-US" dirty="0"/>
              <a:t>辞書</a:t>
            </a:r>
            <a:r>
              <a:rPr lang="ja-JP" altLang="en-US" dirty="0"/>
              <a:t>型</a:t>
            </a:r>
            <a:endParaRPr kumimoji="1" lang="ja-JP" altLang="en-US" dirty="0"/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64B93F4-3260-B655-4172-583B8A23C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Day2</a:t>
            </a:r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B2629BB-4EE1-2A22-68B3-2778EBB18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A0251-0B3B-4C1C-96DC-5D2833458AB2}" type="slidenum">
              <a:rPr kumimoji="1" lang="ja-JP" altLang="en-US" smtClean="0"/>
              <a:t>16</a:t>
            </a:fld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938729B-3E41-70DA-1FF7-991AD634AD91}"/>
              </a:ext>
            </a:extLst>
          </p:cNvPr>
          <p:cNvSpPr txBox="1"/>
          <p:nvPr/>
        </p:nvSpPr>
        <p:spPr>
          <a:xfrm>
            <a:off x="1884784" y="2313992"/>
            <a:ext cx="9469015" cy="36933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ja-JP" b="0" dirty="0">
                <a:solidFill>
                  <a:srgbClr val="000000"/>
                </a:solidFill>
                <a:effectLst/>
              </a:rPr>
              <a:t>stations = [</a:t>
            </a:r>
            <a:r>
              <a:rPr lang="en-US" altLang="ja-JP" b="0" dirty="0">
                <a:solidFill>
                  <a:srgbClr val="A31515"/>
                </a:solidFill>
                <a:effectLst/>
              </a:rPr>
              <a:t>"</a:t>
            </a:r>
            <a:r>
              <a:rPr lang="ja-JP" altLang="en-US" b="0" dirty="0">
                <a:solidFill>
                  <a:srgbClr val="A31515"/>
                </a:solidFill>
                <a:effectLst/>
              </a:rPr>
              <a:t>国分寺</a:t>
            </a:r>
            <a:r>
              <a:rPr lang="en-US" altLang="ja-JP" b="0" dirty="0">
                <a:solidFill>
                  <a:srgbClr val="A31515"/>
                </a:solidFill>
                <a:effectLst/>
              </a:rPr>
              <a:t>"</a:t>
            </a:r>
            <a:r>
              <a:rPr lang="en-US" altLang="ja-JP" b="0" dirty="0">
                <a:solidFill>
                  <a:srgbClr val="000000"/>
                </a:solidFill>
                <a:effectLst/>
              </a:rPr>
              <a:t>, </a:t>
            </a:r>
            <a:r>
              <a:rPr lang="en-US" altLang="ja-JP" b="0" dirty="0">
                <a:solidFill>
                  <a:srgbClr val="A31515"/>
                </a:solidFill>
                <a:effectLst/>
              </a:rPr>
              <a:t>"</a:t>
            </a:r>
            <a:r>
              <a:rPr lang="ja-JP" altLang="en-US" b="0" dirty="0">
                <a:solidFill>
                  <a:srgbClr val="A31515"/>
                </a:solidFill>
                <a:effectLst/>
              </a:rPr>
              <a:t>西国分寺</a:t>
            </a:r>
            <a:r>
              <a:rPr lang="en-US" altLang="ja-JP" b="0" dirty="0">
                <a:solidFill>
                  <a:srgbClr val="A31515"/>
                </a:solidFill>
                <a:effectLst/>
              </a:rPr>
              <a:t>"</a:t>
            </a:r>
            <a:r>
              <a:rPr lang="en-US" altLang="ja-JP" b="0" dirty="0">
                <a:solidFill>
                  <a:srgbClr val="000000"/>
                </a:solidFill>
                <a:effectLst/>
              </a:rPr>
              <a:t>, </a:t>
            </a:r>
            <a:r>
              <a:rPr lang="en-US" altLang="ja-JP" b="0" dirty="0">
                <a:solidFill>
                  <a:srgbClr val="A31515"/>
                </a:solidFill>
                <a:effectLst/>
              </a:rPr>
              <a:t>"</a:t>
            </a:r>
            <a:r>
              <a:rPr lang="ja-JP" altLang="en-US" b="0" dirty="0">
                <a:solidFill>
                  <a:srgbClr val="A31515"/>
                </a:solidFill>
                <a:effectLst/>
              </a:rPr>
              <a:t>吉祥寺</a:t>
            </a:r>
            <a:r>
              <a:rPr lang="en-US" altLang="ja-JP" b="0" dirty="0">
                <a:solidFill>
                  <a:srgbClr val="A31515"/>
                </a:solidFill>
                <a:effectLst/>
              </a:rPr>
              <a:t>"</a:t>
            </a:r>
            <a:r>
              <a:rPr lang="en-US" altLang="ja-JP" b="0" dirty="0">
                <a:solidFill>
                  <a:srgbClr val="000000"/>
                </a:solidFill>
                <a:effectLst/>
              </a:rPr>
              <a:t>, </a:t>
            </a:r>
            <a:r>
              <a:rPr lang="en-US" altLang="ja-JP" b="0" dirty="0">
                <a:solidFill>
                  <a:srgbClr val="A31515"/>
                </a:solidFill>
                <a:effectLst/>
              </a:rPr>
              <a:t>"</a:t>
            </a:r>
            <a:r>
              <a:rPr lang="ja-JP" altLang="en-US" b="0" dirty="0">
                <a:solidFill>
                  <a:srgbClr val="A31515"/>
                </a:solidFill>
                <a:effectLst/>
              </a:rPr>
              <a:t>三鷹</a:t>
            </a:r>
            <a:r>
              <a:rPr lang="en-US" altLang="ja-JP" b="0" dirty="0">
                <a:solidFill>
                  <a:srgbClr val="A31515"/>
                </a:solidFill>
                <a:effectLst/>
              </a:rPr>
              <a:t>"</a:t>
            </a:r>
            <a:r>
              <a:rPr lang="en-US" altLang="ja-JP" b="0" dirty="0">
                <a:solidFill>
                  <a:srgbClr val="000000"/>
                </a:solidFill>
                <a:effectLst/>
              </a:rPr>
              <a:t>, </a:t>
            </a:r>
            <a:r>
              <a:rPr lang="en-US" altLang="ja-JP" b="0" dirty="0">
                <a:solidFill>
                  <a:srgbClr val="A31515"/>
                </a:solidFill>
                <a:effectLst/>
              </a:rPr>
              <a:t>"</a:t>
            </a:r>
            <a:r>
              <a:rPr lang="ja-JP" altLang="en-US" b="0" dirty="0">
                <a:solidFill>
                  <a:srgbClr val="A31515"/>
                </a:solidFill>
                <a:effectLst/>
              </a:rPr>
              <a:t>武蔵境</a:t>
            </a:r>
            <a:r>
              <a:rPr lang="en-US" altLang="ja-JP" b="0" dirty="0">
                <a:solidFill>
                  <a:srgbClr val="A31515"/>
                </a:solidFill>
                <a:effectLst/>
              </a:rPr>
              <a:t>"</a:t>
            </a:r>
            <a:r>
              <a:rPr lang="en-US" altLang="ja-JP" b="0" dirty="0">
                <a:solidFill>
                  <a:srgbClr val="000000"/>
                </a:solidFill>
                <a:effectLst/>
              </a:rPr>
              <a:t>, </a:t>
            </a:r>
            <a:r>
              <a:rPr lang="en-US" altLang="ja-JP" b="0" dirty="0">
                <a:solidFill>
                  <a:srgbClr val="A31515"/>
                </a:solidFill>
                <a:effectLst/>
              </a:rPr>
              <a:t>"</a:t>
            </a:r>
            <a:r>
              <a:rPr lang="ja-JP" altLang="en-US" b="0" dirty="0">
                <a:solidFill>
                  <a:srgbClr val="A31515"/>
                </a:solidFill>
                <a:effectLst/>
              </a:rPr>
              <a:t>東小金井</a:t>
            </a:r>
            <a:r>
              <a:rPr lang="en-US" altLang="ja-JP" b="0" dirty="0">
                <a:solidFill>
                  <a:srgbClr val="A31515"/>
                </a:solidFill>
                <a:effectLst/>
              </a:rPr>
              <a:t>"</a:t>
            </a:r>
            <a:r>
              <a:rPr lang="en-US" altLang="ja-JP" b="0" dirty="0">
                <a:solidFill>
                  <a:srgbClr val="000000"/>
                </a:solidFill>
                <a:effectLst/>
              </a:rPr>
              <a:t>, </a:t>
            </a:r>
            <a:r>
              <a:rPr lang="en-US" altLang="ja-JP" b="0" dirty="0">
                <a:solidFill>
                  <a:srgbClr val="A31515"/>
                </a:solidFill>
                <a:effectLst/>
              </a:rPr>
              <a:t>"</a:t>
            </a:r>
            <a:r>
              <a:rPr lang="ja-JP" altLang="en-US" b="0" dirty="0">
                <a:solidFill>
                  <a:srgbClr val="A31515"/>
                </a:solidFill>
                <a:effectLst/>
              </a:rPr>
              <a:t>荻窪</a:t>
            </a:r>
            <a:r>
              <a:rPr lang="en-US" altLang="ja-JP" b="0" dirty="0">
                <a:solidFill>
                  <a:srgbClr val="A31515"/>
                </a:solidFill>
                <a:effectLst/>
              </a:rPr>
              <a:t>"</a:t>
            </a:r>
            <a:r>
              <a:rPr lang="en-US" altLang="ja-JP" b="0" dirty="0">
                <a:solidFill>
                  <a:srgbClr val="000000"/>
                </a:solidFill>
                <a:effectLst/>
              </a:rPr>
              <a:t>,  </a:t>
            </a:r>
            <a:r>
              <a:rPr lang="en-US" altLang="ja-JP" b="0" dirty="0">
                <a:solidFill>
                  <a:srgbClr val="A31515"/>
                </a:solidFill>
                <a:effectLst/>
              </a:rPr>
              <a:t>"</a:t>
            </a:r>
            <a:r>
              <a:rPr lang="ja-JP" altLang="en-US" b="0" dirty="0">
                <a:solidFill>
                  <a:srgbClr val="A31515"/>
                </a:solidFill>
                <a:effectLst/>
              </a:rPr>
              <a:t>新宿</a:t>
            </a:r>
            <a:r>
              <a:rPr lang="en-US" altLang="ja-JP" b="0" dirty="0">
                <a:solidFill>
                  <a:srgbClr val="A31515"/>
                </a:solidFill>
                <a:effectLst/>
              </a:rPr>
              <a:t>"</a:t>
            </a:r>
            <a:r>
              <a:rPr lang="en-US" altLang="ja-JP" b="0" dirty="0">
                <a:solidFill>
                  <a:srgbClr val="000000"/>
                </a:solidFill>
                <a:effectLst/>
              </a:rPr>
              <a:t>]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B97BA44-9DE7-CB35-2727-CB670D5B7991}"/>
              </a:ext>
            </a:extLst>
          </p:cNvPr>
          <p:cNvSpPr txBox="1"/>
          <p:nvPr/>
        </p:nvSpPr>
        <p:spPr>
          <a:xfrm>
            <a:off x="1884784" y="3657601"/>
            <a:ext cx="9469015" cy="286232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ja-JP" b="0" dirty="0" err="1">
                <a:solidFill>
                  <a:srgbClr val="000000"/>
                </a:solidFill>
                <a:effectLst/>
              </a:rPr>
              <a:t>kokubunji_station</a:t>
            </a:r>
            <a:r>
              <a:rPr lang="en-US" altLang="ja-JP" b="0" dirty="0">
                <a:solidFill>
                  <a:srgbClr val="000000"/>
                </a:solidFill>
                <a:effectLst/>
              </a:rPr>
              <a:t> = {</a:t>
            </a:r>
          </a:p>
          <a:p>
            <a:pPr>
              <a:buNone/>
            </a:pPr>
            <a:r>
              <a:rPr lang="en-US" altLang="ja-JP" b="0" dirty="0">
                <a:solidFill>
                  <a:srgbClr val="000000"/>
                </a:solidFill>
                <a:effectLst/>
              </a:rPr>
              <a:t>    </a:t>
            </a:r>
            <a:r>
              <a:rPr lang="en-US" altLang="ja-JP" b="0" dirty="0">
                <a:solidFill>
                  <a:srgbClr val="A31515"/>
                </a:solidFill>
                <a:effectLst/>
              </a:rPr>
              <a:t>"name"</a:t>
            </a:r>
            <a:r>
              <a:rPr lang="en-US" altLang="ja-JP" b="0" dirty="0">
                <a:solidFill>
                  <a:srgbClr val="000000"/>
                </a:solidFill>
                <a:effectLst/>
              </a:rPr>
              <a:t>: </a:t>
            </a:r>
            <a:r>
              <a:rPr lang="en-US" altLang="ja-JP" b="0" dirty="0">
                <a:solidFill>
                  <a:srgbClr val="A31515"/>
                </a:solidFill>
                <a:effectLst/>
              </a:rPr>
              <a:t>"</a:t>
            </a:r>
            <a:r>
              <a:rPr lang="ja-JP" altLang="en-US" b="0" dirty="0">
                <a:solidFill>
                  <a:srgbClr val="A31515"/>
                </a:solidFill>
                <a:effectLst/>
              </a:rPr>
              <a:t>国分寺駅</a:t>
            </a:r>
            <a:r>
              <a:rPr lang="en-US" altLang="ja-JP" b="0" dirty="0">
                <a:solidFill>
                  <a:srgbClr val="A31515"/>
                </a:solidFill>
                <a:effectLst/>
              </a:rPr>
              <a:t>"</a:t>
            </a:r>
            <a:r>
              <a:rPr lang="en-US" altLang="ja-JP" b="0" dirty="0">
                <a:solidFill>
                  <a:srgbClr val="000000"/>
                </a:solidFill>
                <a:effectLst/>
              </a:rPr>
              <a:t>,</a:t>
            </a:r>
          </a:p>
          <a:p>
            <a:pPr>
              <a:buNone/>
            </a:pPr>
            <a:r>
              <a:rPr lang="en-US" altLang="ja-JP" b="0" dirty="0">
                <a:solidFill>
                  <a:srgbClr val="000000"/>
                </a:solidFill>
                <a:effectLst/>
              </a:rPr>
              <a:t>    </a:t>
            </a:r>
            <a:r>
              <a:rPr lang="en-US" altLang="ja-JP" b="0" dirty="0">
                <a:solidFill>
                  <a:srgbClr val="A31515"/>
                </a:solidFill>
                <a:effectLst/>
              </a:rPr>
              <a:t>"lines"</a:t>
            </a:r>
            <a:r>
              <a:rPr lang="en-US" altLang="ja-JP" b="0" dirty="0">
                <a:solidFill>
                  <a:srgbClr val="000000"/>
                </a:solidFill>
                <a:effectLst/>
              </a:rPr>
              <a:t>: [</a:t>
            </a:r>
            <a:r>
              <a:rPr lang="en-US" altLang="ja-JP" b="0" dirty="0">
                <a:solidFill>
                  <a:srgbClr val="A31515"/>
                </a:solidFill>
                <a:effectLst/>
              </a:rPr>
              <a:t>"</a:t>
            </a:r>
            <a:r>
              <a:rPr lang="ja-JP" altLang="en-US" b="0" dirty="0">
                <a:solidFill>
                  <a:srgbClr val="A31515"/>
                </a:solidFill>
                <a:effectLst/>
              </a:rPr>
              <a:t>中央線快速</a:t>
            </a:r>
            <a:r>
              <a:rPr lang="en-US" altLang="ja-JP" b="0" dirty="0">
                <a:solidFill>
                  <a:srgbClr val="A31515"/>
                </a:solidFill>
                <a:effectLst/>
              </a:rPr>
              <a:t>"</a:t>
            </a:r>
            <a:r>
              <a:rPr lang="en-US" altLang="ja-JP" b="0" dirty="0">
                <a:solidFill>
                  <a:srgbClr val="000000"/>
                </a:solidFill>
                <a:effectLst/>
              </a:rPr>
              <a:t>, </a:t>
            </a:r>
            <a:r>
              <a:rPr lang="en-US" altLang="ja-JP" b="0" dirty="0">
                <a:solidFill>
                  <a:srgbClr val="A31515"/>
                </a:solidFill>
                <a:effectLst/>
              </a:rPr>
              <a:t>"</a:t>
            </a:r>
            <a:r>
              <a:rPr lang="ja-JP" altLang="en-US" b="0" dirty="0">
                <a:solidFill>
                  <a:srgbClr val="A31515"/>
                </a:solidFill>
                <a:effectLst/>
              </a:rPr>
              <a:t>中央線各駅停車</a:t>
            </a:r>
            <a:r>
              <a:rPr lang="en-US" altLang="ja-JP" b="0" dirty="0">
                <a:solidFill>
                  <a:srgbClr val="A31515"/>
                </a:solidFill>
                <a:effectLst/>
              </a:rPr>
              <a:t>"</a:t>
            </a:r>
            <a:r>
              <a:rPr lang="en-US" altLang="ja-JP" b="0" dirty="0">
                <a:solidFill>
                  <a:srgbClr val="000000"/>
                </a:solidFill>
                <a:effectLst/>
              </a:rPr>
              <a:t>, </a:t>
            </a:r>
            <a:r>
              <a:rPr lang="en-US" altLang="ja-JP" b="0" dirty="0">
                <a:solidFill>
                  <a:srgbClr val="A31515"/>
                </a:solidFill>
                <a:effectLst/>
              </a:rPr>
              <a:t>"</a:t>
            </a:r>
            <a:r>
              <a:rPr lang="ja-JP" altLang="en-US" b="0" dirty="0">
                <a:solidFill>
                  <a:srgbClr val="A31515"/>
                </a:solidFill>
                <a:effectLst/>
              </a:rPr>
              <a:t>西武国分寺線</a:t>
            </a:r>
            <a:r>
              <a:rPr lang="en-US" altLang="ja-JP" b="0" dirty="0">
                <a:solidFill>
                  <a:srgbClr val="A31515"/>
                </a:solidFill>
                <a:effectLst/>
              </a:rPr>
              <a:t>"</a:t>
            </a:r>
            <a:r>
              <a:rPr lang="en-US" altLang="ja-JP" b="0" dirty="0">
                <a:solidFill>
                  <a:srgbClr val="000000"/>
                </a:solidFill>
                <a:effectLst/>
              </a:rPr>
              <a:t>],</a:t>
            </a:r>
          </a:p>
          <a:p>
            <a:pPr>
              <a:buNone/>
            </a:pPr>
            <a:r>
              <a:rPr lang="en-US" altLang="ja-JP" b="0" dirty="0">
                <a:solidFill>
                  <a:srgbClr val="000000"/>
                </a:solidFill>
                <a:effectLst/>
              </a:rPr>
              <a:t>    </a:t>
            </a:r>
            <a:r>
              <a:rPr lang="en-US" altLang="ja-JP" b="0" dirty="0">
                <a:solidFill>
                  <a:srgbClr val="A31515"/>
                </a:solidFill>
                <a:effectLst/>
              </a:rPr>
              <a:t>"prefecture"</a:t>
            </a:r>
            <a:r>
              <a:rPr lang="en-US" altLang="ja-JP" b="0" dirty="0">
                <a:solidFill>
                  <a:srgbClr val="000000"/>
                </a:solidFill>
                <a:effectLst/>
              </a:rPr>
              <a:t>: </a:t>
            </a:r>
            <a:r>
              <a:rPr lang="en-US" altLang="ja-JP" b="0" dirty="0">
                <a:solidFill>
                  <a:srgbClr val="A31515"/>
                </a:solidFill>
                <a:effectLst/>
              </a:rPr>
              <a:t>"</a:t>
            </a:r>
            <a:r>
              <a:rPr lang="ja-JP" altLang="en-US" b="0" dirty="0">
                <a:solidFill>
                  <a:srgbClr val="A31515"/>
                </a:solidFill>
                <a:effectLst/>
              </a:rPr>
              <a:t>東京都</a:t>
            </a:r>
            <a:r>
              <a:rPr lang="en-US" altLang="ja-JP" b="0" dirty="0">
                <a:solidFill>
                  <a:srgbClr val="A31515"/>
                </a:solidFill>
                <a:effectLst/>
              </a:rPr>
              <a:t>"</a:t>
            </a:r>
            <a:r>
              <a:rPr lang="en-US" altLang="ja-JP" b="0" dirty="0">
                <a:solidFill>
                  <a:srgbClr val="000000"/>
                </a:solidFill>
                <a:effectLst/>
              </a:rPr>
              <a:t>,</a:t>
            </a:r>
          </a:p>
          <a:p>
            <a:pPr>
              <a:buNone/>
            </a:pPr>
            <a:r>
              <a:rPr lang="en-US" altLang="ja-JP" b="0" dirty="0">
                <a:solidFill>
                  <a:srgbClr val="000000"/>
                </a:solidFill>
                <a:effectLst/>
              </a:rPr>
              <a:t>    </a:t>
            </a:r>
            <a:r>
              <a:rPr lang="en-US" altLang="ja-JP" b="0" dirty="0">
                <a:solidFill>
                  <a:srgbClr val="A31515"/>
                </a:solidFill>
                <a:effectLst/>
              </a:rPr>
              <a:t>"city"</a:t>
            </a:r>
            <a:r>
              <a:rPr lang="en-US" altLang="ja-JP" b="0" dirty="0">
                <a:solidFill>
                  <a:srgbClr val="000000"/>
                </a:solidFill>
                <a:effectLst/>
              </a:rPr>
              <a:t>: </a:t>
            </a:r>
            <a:r>
              <a:rPr lang="en-US" altLang="ja-JP" b="0" dirty="0">
                <a:solidFill>
                  <a:srgbClr val="A31515"/>
                </a:solidFill>
                <a:effectLst/>
              </a:rPr>
              <a:t>"</a:t>
            </a:r>
            <a:r>
              <a:rPr lang="ja-JP" altLang="en-US" b="0" dirty="0">
                <a:solidFill>
                  <a:srgbClr val="A31515"/>
                </a:solidFill>
                <a:effectLst/>
              </a:rPr>
              <a:t>国分寺市</a:t>
            </a:r>
            <a:r>
              <a:rPr lang="en-US" altLang="ja-JP" b="0" dirty="0">
                <a:solidFill>
                  <a:srgbClr val="A31515"/>
                </a:solidFill>
                <a:effectLst/>
              </a:rPr>
              <a:t>"</a:t>
            </a:r>
            <a:r>
              <a:rPr lang="en-US" altLang="ja-JP" b="0" dirty="0">
                <a:solidFill>
                  <a:srgbClr val="000000"/>
                </a:solidFill>
                <a:effectLst/>
              </a:rPr>
              <a:t>,</a:t>
            </a:r>
          </a:p>
          <a:p>
            <a:pPr>
              <a:buNone/>
            </a:pPr>
            <a:r>
              <a:rPr lang="en-US" altLang="ja-JP" b="0" dirty="0">
                <a:solidFill>
                  <a:srgbClr val="000000"/>
                </a:solidFill>
                <a:effectLst/>
              </a:rPr>
              <a:t>    </a:t>
            </a:r>
            <a:r>
              <a:rPr lang="en-US" altLang="ja-JP" b="0" dirty="0">
                <a:solidFill>
                  <a:srgbClr val="A31515"/>
                </a:solidFill>
                <a:effectLst/>
              </a:rPr>
              <a:t>"coordinates"</a:t>
            </a:r>
            <a:r>
              <a:rPr lang="en-US" altLang="ja-JP" b="0" dirty="0">
                <a:solidFill>
                  <a:srgbClr val="000000"/>
                </a:solidFill>
                <a:effectLst/>
              </a:rPr>
              <a:t>: [</a:t>
            </a:r>
            <a:r>
              <a:rPr lang="en-US" altLang="ja-JP" b="0" dirty="0">
                <a:solidFill>
                  <a:srgbClr val="116644"/>
                </a:solidFill>
                <a:effectLst/>
              </a:rPr>
              <a:t>35.7069</a:t>
            </a:r>
            <a:r>
              <a:rPr lang="en-US" altLang="ja-JP" b="0" dirty="0">
                <a:solidFill>
                  <a:srgbClr val="000000"/>
                </a:solidFill>
                <a:effectLst/>
              </a:rPr>
              <a:t>, </a:t>
            </a:r>
            <a:r>
              <a:rPr lang="en-US" altLang="ja-JP" b="0" dirty="0">
                <a:solidFill>
                  <a:srgbClr val="116644"/>
                </a:solidFill>
                <a:effectLst/>
              </a:rPr>
              <a:t>139.4819</a:t>
            </a:r>
            <a:r>
              <a:rPr lang="en-US" altLang="ja-JP" b="0" dirty="0">
                <a:solidFill>
                  <a:srgbClr val="000000"/>
                </a:solidFill>
                <a:effectLst/>
              </a:rPr>
              <a:t>],  </a:t>
            </a:r>
            <a:r>
              <a:rPr lang="en-US" altLang="ja-JP" b="0" dirty="0">
                <a:solidFill>
                  <a:srgbClr val="008000"/>
                </a:solidFill>
                <a:effectLst/>
              </a:rPr>
              <a:t># </a:t>
            </a:r>
            <a:r>
              <a:rPr lang="ja-JP" altLang="en-US" b="0" dirty="0">
                <a:solidFill>
                  <a:srgbClr val="008000"/>
                </a:solidFill>
                <a:effectLst/>
              </a:rPr>
              <a:t>緯度、経度</a:t>
            </a:r>
            <a:endParaRPr lang="ja-JP" altLang="en-US" b="0" dirty="0">
              <a:solidFill>
                <a:srgbClr val="000000"/>
              </a:solidFill>
              <a:effectLst/>
            </a:endParaRPr>
          </a:p>
          <a:p>
            <a:pPr>
              <a:buNone/>
            </a:pPr>
            <a:r>
              <a:rPr lang="ja-JP" altLang="en-US" b="0" dirty="0">
                <a:solidFill>
                  <a:srgbClr val="000000"/>
                </a:solidFill>
                <a:effectLst/>
              </a:rPr>
              <a:t>    </a:t>
            </a:r>
            <a:r>
              <a:rPr lang="en-US" altLang="ja-JP" b="0" dirty="0">
                <a:solidFill>
                  <a:srgbClr val="A31515"/>
                </a:solidFill>
                <a:effectLst/>
              </a:rPr>
              <a:t>"</a:t>
            </a:r>
            <a:r>
              <a:rPr lang="en-US" altLang="ja-JP" b="0" dirty="0" err="1">
                <a:solidFill>
                  <a:srgbClr val="A31515"/>
                </a:solidFill>
                <a:effectLst/>
              </a:rPr>
              <a:t>nearby_attractions</a:t>
            </a:r>
            <a:r>
              <a:rPr lang="en-US" altLang="ja-JP" b="0" dirty="0">
                <a:solidFill>
                  <a:srgbClr val="A31515"/>
                </a:solidFill>
                <a:effectLst/>
              </a:rPr>
              <a:t>"</a:t>
            </a:r>
            <a:r>
              <a:rPr lang="en-US" altLang="ja-JP" b="0" dirty="0">
                <a:solidFill>
                  <a:srgbClr val="000000"/>
                </a:solidFill>
                <a:effectLst/>
              </a:rPr>
              <a:t>: [</a:t>
            </a:r>
            <a:r>
              <a:rPr lang="en-US" altLang="ja-JP" b="0" dirty="0">
                <a:solidFill>
                  <a:srgbClr val="A31515"/>
                </a:solidFill>
                <a:effectLst/>
              </a:rPr>
              <a:t>"</a:t>
            </a:r>
            <a:r>
              <a:rPr lang="ja-JP" altLang="en-US" b="0" dirty="0">
                <a:solidFill>
                  <a:srgbClr val="A31515"/>
                </a:solidFill>
                <a:effectLst/>
              </a:rPr>
              <a:t>国分寺崖線</a:t>
            </a:r>
            <a:r>
              <a:rPr lang="en-US" altLang="ja-JP" b="0" dirty="0">
                <a:solidFill>
                  <a:srgbClr val="A31515"/>
                </a:solidFill>
                <a:effectLst/>
              </a:rPr>
              <a:t>"</a:t>
            </a:r>
            <a:r>
              <a:rPr lang="en-US" altLang="ja-JP" b="0" dirty="0">
                <a:solidFill>
                  <a:srgbClr val="000000"/>
                </a:solidFill>
                <a:effectLst/>
              </a:rPr>
              <a:t>, </a:t>
            </a:r>
            <a:r>
              <a:rPr lang="en-US" altLang="ja-JP" b="0" dirty="0">
                <a:solidFill>
                  <a:srgbClr val="A31515"/>
                </a:solidFill>
                <a:effectLst/>
              </a:rPr>
              <a:t>"</a:t>
            </a:r>
            <a:r>
              <a:rPr lang="ja-JP" altLang="en-US" b="0" dirty="0">
                <a:solidFill>
                  <a:srgbClr val="A31515"/>
                </a:solidFill>
                <a:effectLst/>
              </a:rPr>
              <a:t>国分寺市本町</a:t>
            </a:r>
            <a:r>
              <a:rPr lang="en-US" altLang="ja-JP" b="0" dirty="0">
                <a:solidFill>
                  <a:srgbClr val="A31515"/>
                </a:solidFill>
                <a:effectLst/>
              </a:rPr>
              <a:t>"</a:t>
            </a:r>
            <a:r>
              <a:rPr lang="en-US" altLang="ja-JP" b="0" dirty="0">
                <a:solidFill>
                  <a:srgbClr val="000000"/>
                </a:solidFill>
                <a:effectLst/>
              </a:rPr>
              <a:t>, </a:t>
            </a:r>
            <a:r>
              <a:rPr lang="en-US" altLang="ja-JP" b="0" dirty="0">
                <a:solidFill>
                  <a:srgbClr val="A31515"/>
                </a:solidFill>
                <a:effectLst/>
              </a:rPr>
              <a:t>"</a:t>
            </a:r>
            <a:r>
              <a:rPr lang="ja-JP" altLang="en-US" b="0" dirty="0">
                <a:solidFill>
                  <a:srgbClr val="A31515"/>
                </a:solidFill>
                <a:effectLst/>
              </a:rPr>
              <a:t>恋ヶ窪</a:t>
            </a:r>
            <a:r>
              <a:rPr lang="en-US" altLang="ja-JP" b="0" dirty="0">
                <a:solidFill>
                  <a:srgbClr val="A31515"/>
                </a:solidFill>
                <a:effectLst/>
              </a:rPr>
              <a:t>"</a:t>
            </a:r>
            <a:r>
              <a:rPr lang="en-US" altLang="ja-JP" b="0" dirty="0">
                <a:solidFill>
                  <a:srgbClr val="000000"/>
                </a:solidFill>
                <a:effectLst/>
              </a:rPr>
              <a:t>, </a:t>
            </a:r>
            <a:r>
              <a:rPr lang="en-US" altLang="ja-JP" b="0" dirty="0">
                <a:solidFill>
                  <a:srgbClr val="A31515"/>
                </a:solidFill>
                <a:effectLst/>
              </a:rPr>
              <a:t>"</a:t>
            </a:r>
            <a:r>
              <a:rPr lang="ja-JP" altLang="en-US" b="0" dirty="0">
                <a:solidFill>
                  <a:srgbClr val="A31515"/>
                </a:solidFill>
                <a:effectLst/>
              </a:rPr>
              <a:t>西武国分寺駅</a:t>
            </a:r>
            <a:r>
              <a:rPr lang="en-US" altLang="ja-JP" b="0" dirty="0">
                <a:solidFill>
                  <a:srgbClr val="A31515"/>
                </a:solidFill>
                <a:effectLst/>
              </a:rPr>
              <a:t>"</a:t>
            </a:r>
            <a:r>
              <a:rPr lang="en-US" altLang="ja-JP" b="0" dirty="0">
                <a:solidFill>
                  <a:srgbClr val="000000"/>
                </a:solidFill>
                <a:effectLst/>
              </a:rPr>
              <a:t>],</a:t>
            </a:r>
          </a:p>
          <a:p>
            <a:pPr>
              <a:buNone/>
            </a:pPr>
            <a:r>
              <a:rPr lang="en-US" altLang="ja-JP" b="0" dirty="0">
                <a:solidFill>
                  <a:srgbClr val="000000"/>
                </a:solidFill>
                <a:effectLst/>
              </a:rPr>
              <a:t>    </a:t>
            </a:r>
            <a:r>
              <a:rPr lang="en-US" altLang="ja-JP" b="0" dirty="0">
                <a:solidFill>
                  <a:srgbClr val="A31515"/>
                </a:solidFill>
                <a:effectLst/>
              </a:rPr>
              <a:t>"notes"</a:t>
            </a:r>
            <a:r>
              <a:rPr lang="en-US" altLang="ja-JP" b="0" dirty="0">
                <a:solidFill>
                  <a:srgbClr val="000000"/>
                </a:solidFill>
                <a:effectLst/>
              </a:rPr>
              <a:t>: </a:t>
            </a:r>
            <a:r>
              <a:rPr lang="en-US" altLang="ja-JP" b="0" dirty="0">
                <a:solidFill>
                  <a:srgbClr val="A31515"/>
                </a:solidFill>
                <a:effectLst/>
              </a:rPr>
              <a:t>"</a:t>
            </a:r>
            <a:r>
              <a:rPr lang="ja-JP" altLang="en-US" b="0" dirty="0">
                <a:solidFill>
                  <a:srgbClr val="A31515"/>
                </a:solidFill>
                <a:effectLst/>
              </a:rPr>
              <a:t>東京都西部のベッドタウンとして発展した駅。周辺には大学や商業施設がある。</a:t>
            </a:r>
            <a:r>
              <a:rPr lang="en-US" altLang="ja-JP" b="0" dirty="0">
                <a:solidFill>
                  <a:srgbClr val="A31515"/>
                </a:solidFill>
                <a:effectLst/>
              </a:rPr>
              <a:t>"</a:t>
            </a:r>
            <a:endParaRPr lang="ja-JP" altLang="en-US" b="0" dirty="0">
              <a:solidFill>
                <a:srgbClr val="000000"/>
              </a:solidFill>
              <a:effectLst/>
            </a:endParaRPr>
          </a:p>
          <a:p>
            <a:r>
              <a:rPr lang="en-US" altLang="ja-JP" b="0" dirty="0">
                <a:solidFill>
                  <a:srgbClr val="000000"/>
                </a:solidFill>
                <a:effectLst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87303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8D2A360F-EEAB-8F13-B71E-7F49FC795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情報科学ｃ</a:t>
            </a:r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CFCCE302-4441-A48D-8AEC-985BB12BC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もうちょっと解説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FD64530-68AA-816C-2373-831133C575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要素が辞書型であるリスト</a:t>
            </a:r>
            <a:endParaRPr kumimoji="1" lang="ja-JP" altLang="en-US" dirty="0"/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9F5C27-3D65-9B65-F641-0A0F94C55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Day2</a:t>
            </a:r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EDDA9C2-59EE-F4DC-BFFD-64B6FD7A5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A0251-0B3B-4C1C-96DC-5D2833458AB2}" type="slidenum">
              <a:rPr kumimoji="1" lang="ja-JP" altLang="en-US" smtClean="0"/>
              <a:t>17</a:t>
            </a:fld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9281FF7-CB9E-8901-59DA-00E8ABE81E05}"/>
              </a:ext>
            </a:extLst>
          </p:cNvPr>
          <p:cNvSpPr txBox="1"/>
          <p:nvPr/>
        </p:nvSpPr>
        <p:spPr>
          <a:xfrm>
            <a:off x="1884784" y="2273412"/>
            <a:ext cx="9469015" cy="4185761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ja-JP" sz="1400" b="0" dirty="0" err="1">
                <a:solidFill>
                  <a:schemeClr val="bg2"/>
                </a:solidFill>
                <a:effectLst/>
              </a:rPr>
              <a:t>my_list</a:t>
            </a:r>
            <a:r>
              <a:rPr lang="en-US" altLang="ja-JP" sz="1400" b="0" dirty="0">
                <a:solidFill>
                  <a:schemeClr val="bg2"/>
                </a:solidFill>
                <a:effectLst/>
              </a:rPr>
              <a:t> = </a:t>
            </a:r>
            <a:r>
              <a:rPr lang="en-US" altLang="ja-JP" sz="1400" b="0" dirty="0">
                <a:solidFill>
                  <a:schemeClr val="bg2"/>
                </a:solidFill>
                <a:effectLst/>
                <a:latin typeface="+mj-ea"/>
                <a:ea typeface="+mj-ea"/>
              </a:rPr>
              <a:t>[</a:t>
            </a:r>
          </a:p>
          <a:p>
            <a:pPr lvl="1"/>
            <a:r>
              <a:rPr lang="en-US" altLang="ja-JP" sz="1400" b="0" dirty="0">
                <a:solidFill>
                  <a:srgbClr val="000000"/>
                </a:solidFill>
                <a:effectLst/>
              </a:rPr>
              <a:t>{</a:t>
            </a:r>
          </a:p>
          <a:p>
            <a:pPr lvl="1"/>
            <a:r>
              <a:rPr lang="en-US" altLang="ja-JP" sz="1400" b="0" dirty="0">
                <a:solidFill>
                  <a:srgbClr val="000000"/>
                </a:solidFill>
                <a:effectLst/>
              </a:rPr>
              <a:t>    </a:t>
            </a:r>
            <a:r>
              <a:rPr lang="en-US" altLang="ja-JP" sz="1400" b="0" dirty="0">
                <a:solidFill>
                  <a:srgbClr val="A31515"/>
                </a:solidFill>
                <a:effectLst/>
              </a:rPr>
              <a:t>"name"</a:t>
            </a:r>
            <a:r>
              <a:rPr lang="en-US" altLang="ja-JP" sz="1400" b="0" dirty="0">
                <a:solidFill>
                  <a:srgbClr val="000000"/>
                </a:solidFill>
                <a:effectLst/>
              </a:rPr>
              <a:t>: </a:t>
            </a:r>
            <a:r>
              <a:rPr lang="en-US" altLang="ja-JP" sz="1400" b="0" dirty="0">
                <a:solidFill>
                  <a:srgbClr val="A31515"/>
                </a:solidFill>
                <a:effectLst/>
              </a:rPr>
              <a:t>"</a:t>
            </a:r>
            <a:r>
              <a:rPr lang="ja-JP" altLang="en-US" sz="1400" b="0" dirty="0">
                <a:solidFill>
                  <a:srgbClr val="A31515"/>
                </a:solidFill>
                <a:effectLst/>
              </a:rPr>
              <a:t>国分寺駅</a:t>
            </a:r>
            <a:r>
              <a:rPr lang="en-US" altLang="ja-JP" sz="1400" b="0" dirty="0">
                <a:solidFill>
                  <a:srgbClr val="A31515"/>
                </a:solidFill>
                <a:effectLst/>
              </a:rPr>
              <a:t>"</a:t>
            </a:r>
            <a:r>
              <a:rPr lang="en-US" altLang="ja-JP" sz="1400" b="0" dirty="0">
                <a:solidFill>
                  <a:srgbClr val="000000"/>
                </a:solidFill>
                <a:effectLst/>
              </a:rPr>
              <a:t>,</a:t>
            </a:r>
          </a:p>
          <a:p>
            <a:pPr lvl="1"/>
            <a:r>
              <a:rPr lang="en-US" altLang="ja-JP" sz="1400" b="0" dirty="0">
                <a:solidFill>
                  <a:srgbClr val="000000"/>
                </a:solidFill>
                <a:effectLst/>
              </a:rPr>
              <a:t>    </a:t>
            </a:r>
            <a:r>
              <a:rPr lang="en-US" altLang="ja-JP" sz="1400" b="0" dirty="0">
                <a:solidFill>
                  <a:srgbClr val="A31515"/>
                </a:solidFill>
                <a:effectLst/>
              </a:rPr>
              <a:t>"lines"</a:t>
            </a:r>
            <a:r>
              <a:rPr lang="en-US" altLang="ja-JP" sz="1400" b="0" dirty="0">
                <a:solidFill>
                  <a:srgbClr val="000000"/>
                </a:solidFill>
                <a:effectLst/>
              </a:rPr>
              <a:t>: [</a:t>
            </a:r>
            <a:r>
              <a:rPr lang="en-US" altLang="ja-JP" sz="1400" b="0" dirty="0">
                <a:solidFill>
                  <a:srgbClr val="A31515"/>
                </a:solidFill>
                <a:effectLst/>
              </a:rPr>
              <a:t>"</a:t>
            </a:r>
            <a:r>
              <a:rPr lang="ja-JP" altLang="en-US" sz="1400" b="0" dirty="0">
                <a:solidFill>
                  <a:srgbClr val="A31515"/>
                </a:solidFill>
                <a:effectLst/>
              </a:rPr>
              <a:t>中央線快速</a:t>
            </a:r>
            <a:r>
              <a:rPr lang="en-US" altLang="ja-JP" sz="1400" b="0" dirty="0">
                <a:solidFill>
                  <a:srgbClr val="A31515"/>
                </a:solidFill>
                <a:effectLst/>
              </a:rPr>
              <a:t>"</a:t>
            </a:r>
            <a:r>
              <a:rPr lang="en-US" altLang="ja-JP" sz="1400" b="0" dirty="0">
                <a:solidFill>
                  <a:srgbClr val="000000"/>
                </a:solidFill>
                <a:effectLst/>
              </a:rPr>
              <a:t>, </a:t>
            </a:r>
            <a:r>
              <a:rPr lang="en-US" altLang="ja-JP" sz="1400" b="0" dirty="0">
                <a:solidFill>
                  <a:srgbClr val="A31515"/>
                </a:solidFill>
                <a:effectLst/>
              </a:rPr>
              <a:t>"</a:t>
            </a:r>
            <a:r>
              <a:rPr lang="ja-JP" altLang="en-US" sz="1400" b="0" dirty="0">
                <a:solidFill>
                  <a:srgbClr val="A31515"/>
                </a:solidFill>
                <a:effectLst/>
              </a:rPr>
              <a:t>中央線各駅停車</a:t>
            </a:r>
            <a:r>
              <a:rPr lang="en-US" altLang="ja-JP" sz="1400" b="0" dirty="0">
                <a:solidFill>
                  <a:srgbClr val="A31515"/>
                </a:solidFill>
                <a:effectLst/>
              </a:rPr>
              <a:t>"</a:t>
            </a:r>
            <a:r>
              <a:rPr lang="en-US" altLang="ja-JP" sz="1400" b="0" dirty="0">
                <a:solidFill>
                  <a:srgbClr val="000000"/>
                </a:solidFill>
                <a:effectLst/>
              </a:rPr>
              <a:t>, </a:t>
            </a:r>
            <a:r>
              <a:rPr lang="en-US" altLang="ja-JP" sz="1400" b="0" dirty="0">
                <a:solidFill>
                  <a:srgbClr val="A31515"/>
                </a:solidFill>
                <a:effectLst/>
              </a:rPr>
              <a:t>"</a:t>
            </a:r>
            <a:r>
              <a:rPr lang="ja-JP" altLang="en-US" sz="1400" b="0" dirty="0">
                <a:solidFill>
                  <a:srgbClr val="A31515"/>
                </a:solidFill>
                <a:effectLst/>
              </a:rPr>
              <a:t>西武国分寺線</a:t>
            </a:r>
            <a:r>
              <a:rPr lang="en-US" altLang="ja-JP" sz="1400" b="0" dirty="0">
                <a:solidFill>
                  <a:srgbClr val="A31515"/>
                </a:solidFill>
                <a:effectLst/>
              </a:rPr>
              <a:t>"</a:t>
            </a:r>
            <a:r>
              <a:rPr lang="en-US" altLang="ja-JP" sz="1400" b="0" dirty="0">
                <a:solidFill>
                  <a:srgbClr val="000000"/>
                </a:solidFill>
                <a:effectLst/>
              </a:rPr>
              <a:t>],</a:t>
            </a:r>
          </a:p>
          <a:p>
            <a:pPr lvl="1"/>
            <a:r>
              <a:rPr lang="en-US" altLang="ja-JP" sz="1400" b="0" dirty="0">
                <a:solidFill>
                  <a:srgbClr val="000000"/>
                </a:solidFill>
                <a:effectLst/>
              </a:rPr>
              <a:t>    </a:t>
            </a:r>
            <a:r>
              <a:rPr lang="en-US" altLang="ja-JP" sz="1400" b="0" dirty="0">
                <a:solidFill>
                  <a:srgbClr val="A31515"/>
                </a:solidFill>
                <a:effectLst/>
              </a:rPr>
              <a:t>"prefecture"</a:t>
            </a:r>
            <a:r>
              <a:rPr lang="en-US" altLang="ja-JP" sz="1400" b="0" dirty="0">
                <a:solidFill>
                  <a:srgbClr val="000000"/>
                </a:solidFill>
                <a:effectLst/>
              </a:rPr>
              <a:t>: </a:t>
            </a:r>
            <a:r>
              <a:rPr lang="en-US" altLang="ja-JP" sz="1400" b="0" dirty="0">
                <a:solidFill>
                  <a:srgbClr val="A31515"/>
                </a:solidFill>
                <a:effectLst/>
              </a:rPr>
              <a:t>"</a:t>
            </a:r>
            <a:r>
              <a:rPr lang="ja-JP" altLang="en-US" sz="1400" b="0" dirty="0">
                <a:solidFill>
                  <a:srgbClr val="A31515"/>
                </a:solidFill>
                <a:effectLst/>
              </a:rPr>
              <a:t>東京都</a:t>
            </a:r>
            <a:r>
              <a:rPr lang="en-US" altLang="ja-JP" sz="1400" b="0" dirty="0">
                <a:solidFill>
                  <a:srgbClr val="A31515"/>
                </a:solidFill>
                <a:effectLst/>
              </a:rPr>
              <a:t>"</a:t>
            </a:r>
            <a:r>
              <a:rPr lang="en-US" altLang="ja-JP" sz="1400" b="0" dirty="0">
                <a:solidFill>
                  <a:srgbClr val="000000"/>
                </a:solidFill>
                <a:effectLst/>
              </a:rPr>
              <a:t>,</a:t>
            </a:r>
          </a:p>
          <a:p>
            <a:pPr lvl="1"/>
            <a:r>
              <a:rPr lang="en-US" altLang="ja-JP" sz="1400" b="0" dirty="0">
                <a:solidFill>
                  <a:srgbClr val="000000"/>
                </a:solidFill>
                <a:effectLst/>
              </a:rPr>
              <a:t>    </a:t>
            </a:r>
            <a:r>
              <a:rPr lang="en-US" altLang="ja-JP" sz="1400" b="0" dirty="0">
                <a:solidFill>
                  <a:srgbClr val="A31515"/>
                </a:solidFill>
                <a:effectLst/>
              </a:rPr>
              <a:t>"city"</a:t>
            </a:r>
            <a:r>
              <a:rPr lang="en-US" altLang="ja-JP" sz="1400" b="0" dirty="0">
                <a:solidFill>
                  <a:srgbClr val="000000"/>
                </a:solidFill>
                <a:effectLst/>
              </a:rPr>
              <a:t>: </a:t>
            </a:r>
            <a:r>
              <a:rPr lang="en-US" altLang="ja-JP" sz="1400" b="0" dirty="0">
                <a:solidFill>
                  <a:srgbClr val="A31515"/>
                </a:solidFill>
                <a:effectLst/>
              </a:rPr>
              <a:t>"</a:t>
            </a:r>
            <a:r>
              <a:rPr lang="ja-JP" altLang="en-US" sz="1400" b="0" dirty="0">
                <a:solidFill>
                  <a:srgbClr val="A31515"/>
                </a:solidFill>
                <a:effectLst/>
              </a:rPr>
              <a:t>国分寺市</a:t>
            </a:r>
            <a:r>
              <a:rPr lang="en-US" altLang="ja-JP" sz="1400" b="0" dirty="0">
                <a:solidFill>
                  <a:srgbClr val="A31515"/>
                </a:solidFill>
                <a:effectLst/>
              </a:rPr>
              <a:t>"</a:t>
            </a:r>
            <a:r>
              <a:rPr lang="en-US" altLang="ja-JP" sz="1400" b="0" dirty="0">
                <a:solidFill>
                  <a:srgbClr val="000000"/>
                </a:solidFill>
                <a:effectLst/>
              </a:rPr>
              <a:t>,</a:t>
            </a:r>
          </a:p>
          <a:p>
            <a:pPr lvl="1"/>
            <a:r>
              <a:rPr lang="en-US" altLang="ja-JP" sz="1400" b="0" dirty="0">
                <a:solidFill>
                  <a:srgbClr val="000000"/>
                </a:solidFill>
                <a:effectLst/>
              </a:rPr>
              <a:t>    </a:t>
            </a:r>
            <a:r>
              <a:rPr lang="en-US" altLang="ja-JP" sz="1400" b="0" dirty="0">
                <a:solidFill>
                  <a:srgbClr val="A31515"/>
                </a:solidFill>
                <a:effectLst/>
              </a:rPr>
              <a:t>"coordinates"</a:t>
            </a:r>
            <a:r>
              <a:rPr lang="en-US" altLang="ja-JP" sz="1400" b="0" dirty="0">
                <a:solidFill>
                  <a:srgbClr val="000000"/>
                </a:solidFill>
                <a:effectLst/>
              </a:rPr>
              <a:t>: [</a:t>
            </a:r>
            <a:r>
              <a:rPr lang="en-US" altLang="ja-JP" sz="1400" b="0" dirty="0">
                <a:solidFill>
                  <a:srgbClr val="116644"/>
                </a:solidFill>
                <a:effectLst/>
              </a:rPr>
              <a:t>35.7069</a:t>
            </a:r>
            <a:r>
              <a:rPr lang="en-US" altLang="ja-JP" sz="1400" b="0" dirty="0">
                <a:solidFill>
                  <a:srgbClr val="000000"/>
                </a:solidFill>
                <a:effectLst/>
              </a:rPr>
              <a:t>, </a:t>
            </a:r>
            <a:r>
              <a:rPr lang="en-US" altLang="ja-JP" sz="1400" b="0" dirty="0">
                <a:solidFill>
                  <a:srgbClr val="116644"/>
                </a:solidFill>
                <a:effectLst/>
              </a:rPr>
              <a:t>139.4819</a:t>
            </a:r>
            <a:r>
              <a:rPr lang="en-US" altLang="ja-JP" sz="1400" b="0" dirty="0">
                <a:solidFill>
                  <a:srgbClr val="000000"/>
                </a:solidFill>
                <a:effectLst/>
              </a:rPr>
              <a:t>],  </a:t>
            </a:r>
            <a:r>
              <a:rPr lang="en-US" altLang="ja-JP" sz="1400" b="0" dirty="0">
                <a:solidFill>
                  <a:srgbClr val="008000"/>
                </a:solidFill>
                <a:effectLst/>
              </a:rPr>
              <a:t># </a:t>
            </a:r>
            <a:r>
              <a:rPr lang="ja-JP" altLang="en-US" sz="1400" b="0" dirty="0">
                <a:solidFill>
                  <a:srgbClr val="008000"/>
                </a:solidFill>
                <a:effectLst/>
              </a:rPr>
              <a:t>緯度、経度</a:t>
            </a:r>
            <a:endParaRPr lang="ja-JP" altLang="en-US" sz="1400" b="0" dirty="0">
              <a:solidFill>
                <a:srgbClr val="000000"/>
              </a:solidFill>
              <a:effectLst/>
            </a:endParaRPr>
          </a:p>
          <a:p>
            <a:pPr lvl="1"/>
            <a:r>
              <a:rPr lang="ja-JP" altLang="en-US" sz="1400" b="0" dirty="0">
                <a:solidFill>
                  <a:srgbClr val="000000"/>
                </a:solidFill>
                <a:effectLst/>
              </a:rPr>
              <a:t>    </a:t>
            </a:r>
            <a:r>
              <a:rPr lang="en-US" altLang="ja-JP" sz="1400" b="0" dirty="0">
                <a:solidFill>
                  <a:srgbClr val="A31515"/>
                </a:solidFill>
                <a:effectLst/>
              </a:rPr>
              <a:t>"</a:t>
            </a:r>
            <a:r>
              <a:rPr lang="en-US" altLang="ja-JP" sz="1400" b="0" dirty="0" err="1">
                <a:solidFill>
                  <a:srgbClr val="A31515"/>
                </a:solidFill>
                <a:effectLst/>
              </a:rPr>
              <a:t>nearby_attractions</a:t>
            </a:r>
            <a:r>
              <a:rPr lang="en-US" altLang="ja-JP" sz="1400" b="0" dirty="0">
                <a:solidFill>
                  <a:srgbClr val="A31515"/>
                </a:solidFill>
                <a:effectLst/>
              </a:rPr>
              <a:t>"</a:t>
            </a:r>
            <a:r>
              <a:rPr lang="en-US" altLang="ja-JP" sz="1400" b="0" dirty="0">
                <a:solidFill>
                  <a:srgbClr val="000000"/>
                </a:solidFill>
                <a:effectLst/>
              </a:rPr>
              <a:t>: [</a:t>
            </a:r>
            <a:r>
              <a:rPr lang="en-US" altLang="ja-JP" sz="1400" b="0" dirty="0">
                <a:solidFill>
                  <a:srgbClr val="A31515"/>
                </a:solidFill>
                <a:effectLst/>
              </a:rPr>
              <a:t>"</a:t>
            </a:r>
            <a:r>
              <a:rPr lang="ja-JP" altLang="en-US" sz="1400" b="0" dirty="0">
                <a:solidFill>
                  <a:srgbClr val="A31515"/>
                </a:solidFill>
                <a:effectLst/>
              </a:rPr>
              <a:t>国分寺崖線</a:t>
            </a:r>
            <a:r>
              <a:rPr lang="en-US" altLang="ja-JP" sz="1400" b="0" dirty="0">
                <a:solidFill>
                  <a:srgbClr val="A31515"/>
                </a:solidFill>
                <a:effectLst/>
              </a:rPr>
              <a:t>"</a:t>
            </a:r>
            <a:r>
              <a:rPr lang="en-US" altLang="ja-JP" sz="1400" b="0" dirty="0">
                <a:solidFill>
                  <a:srgbClr val="000000"/>
                </a:solidFill>
                <a:effectLst/>
              </a:rPr>
              <a:t>, </a:t>
            </a:r>
            <a:r>
              <a:rPr lang="en-US" altLang="ja-JP" sz="1400" b="0" dirty="0">
                <a:solidFill>
                  <a:srgbClr val="A31515"/>
                </a:solidFill>
                <a:effectLst/>
              </a:rPr>
              <a:t>"</a:t>
            </a:r>
            <a:r>
              <a:rPr lang="ja-JP" altLang="en-US" sz="1400" b="0" dirty="0">
                <a:solidFill>
                  <a:srgbClr val="A31515"/>
                </a:solidFill>
                <a:effectLst/>
              </a:rPr>
              <a:t>国分寺市本町</a:t>
            </a:r>
            <a:r>
              <a:rPr lang="en-US" altLang="ja-JP" sz="1400" b="0" dirty="0">
                <a:solidFill>
                  <a:srgbClr val="A31515"/>
                </a:solidFill>
                <a:effectLst/>
              </a:rPr>
              <a:t>"</a:t>
            </a:r>
            <a:r>
              <a:rPr lang="en-US" altLang="ja-JP" sz="1400" b="0" dirty="0">
                <a:solidFill>
                  <a:srgbClr val="000000"/>
                </a:solidFill>
                <a:effectLst/>
              </a:rPr>
              <a:t>, </a:t>
            </a:r>
            <a:r>
              <a:rPr lang="en-US" altLang="ja-JP" sz="1400" b="0" dirty="0">
                <a:solidFill>
                  <a:srgbClr val="A31515"/>
                </a:solidFill>
                <a:effectLst/>
              </a:rPr>
              <a:t>"</a:t>
            </a:r>
            <a:r>
              <a:rPr lang="ja-JP" altLang="en-US" sz="1400" b="0" dirty="0">
                <a:solidFill>
                  <a:srgbClr val="A31515"/>
                </a:solidFill>
                <a:effectLst/>
              </a:rPr>
              <a:t>恋ヶ窪</a:t>
            </a:r>
            <a:r>
              <a:rPr lang="en-US" altLang="ja-JP" sz="1400" b="0" dirty="0">
                <a:solidFill>
                  <a:srgbClr val="A31515"/>
                </a:solidFill>
                <a:effectLst/>
              </a:rPr>
              <a:t>"</a:t>
            </a:r>
            <a:r>
              <a:rPr lang="en-US" altLang="ja-JP" sz="1400" b="0" dirty="0">
                <a:solidFill>
                  <a:srgbClr val="000000"/>
                </a:solidFill>
                <a:effectLst/>
              </a:rPr>
              <a:t>, </a:t>
            </a:r>
            <a:r>
              <a:rPr lang="en-US" altLang="ja-JP" sz="1400" b="0" dirty="0">
                <a:solidFill>
                  <a:srgbClr val="A31515"/>
                </a:solidFill>
                <a:effectLst/>
              </a:rPr>
              <a:t>"</a:t>
            </a:r>
            <a:r>
              <a:rPr lang="ja-JP" altLang="en-US" sz="1400" b="0" dirty="0">
                <a:solidFill>
                  <a:srgbClr val="A31515"/>
                </a:solidFill>
                <a:effectLst/>
              </a:rPr>
              <a:t>西武国分寺駅</a:t>
            </a:r>
            <a:r>
              <a:rPr lang="en-US" altLang="ja-JP" sz="1400" b="0" dirty="0">
                <a:solidFill>
                  <a:srgbClr val="A31515"/>
                </a:solidFill>
                <a:effectLst/>
              </a:rPr>
              <a:t>"</a:t>
            </a:r>
            <a:r>
              <a:rPr lang="en-US" altLang="ja-JP" sz="1400" b="0" dirty="0">
                <a:solidFill>
                  <a:srgbClr val="000000"/>
                </a:solidFill>
                <a:effectLst/>
              </a:rPr>
              <a:t>]</a:t>
            </a:r>
          </a:p>
          <a:p>
            <a:pPr lvl="1"/>
            <a:r>
              <a:rPr lang="en-US" altLang="ja-JP" sz="1400" b="0" dirty="0">
                <a:solidFill>
                  <a:srgbClr val="000000"/>
                </a:solidFill>
                <a:effectLst/>
              </a:rPr>
              <a:t>}</a:t>
            </a:r>
          </a:p>
          <a:p>
            <a:r>
              <a:rPr lang="en-US" altLang="ja-JP" sz="1400" dirty="0">
                <a:solidFill>
                  <a:schemeClr val="bg2"/>
                </a:solidFill>
                <a:latin typeface="+mj-lt"/>
              </a:rPr>
              <a:t>,</a:t>
            </a:r>
          </a:p>
          <a:p>
            <a:pPr lvl="1"/>
            <a:r>
              <a:rPr lang="en-US" altLang="ja-JP" sz="1400" b="0" dirty="0">
                <a:solidFill>
                  <a:srgbClr val="000000"/>
                </a:solidFill>
                <a:effectLst/>
              </a:rPr>
              <a:t>{</a:t>
            </a:r>
          </a:p>
          <a:p>
            <a:pPr lvl="1"/>
            <a:r>
              <a:rPr lang="en-US" altLang="ja-JP" sz="1400" b="0" dirty="0">
                <a:solidFill>
                  <a:srgbClr val="000000"/>
                </a:solidFill>
                <a:effectLst/>
              </a:rPr>
              <a:t>    </a:t>
            </a:r>
            <a:r>
              <a:rPr lang="en-US" altLang="ja-JP" sz="1400" b="0" dirty="0">
                <a:solidFill>
                  <a:srgbClr val="A31515"/>
                </a:solidFill>
                <a:effectLst/>
              </a:rPr>
              <a:t>"name"</a:t>
            </a:r>
            <a:r>
              <a:rPr lang="en-US" altLang="ja-JP" sz="1400" b="0" dirty="0">
                <a:solidFill>
                  <a:srgbClr val="000000"/>
                </a:solidFill>
                <a:effectLst/>
              </a:rPr>
              <a:t>: </a:t>
            </a:r>
            <a:r>
              <a:rPr lang="en-US" altLang="ja-JP" sz="1400" b="0" dirty="0">
                <a:solidFill>
                  <a:srgbClr val="A31515"/>
                </a:solidFill>
                <a:effectLst/>
              </a:rPr>
              <a:t>"</a:t>
            </a:r>
            <a:r>
              <a:rPr lang="ja-JP" altLang="en-US" sz="1400" b="0" dirty="0">
                <a:solidFill>
                  <a:srgbClr val="A31515"/>
                </a:solidFill>
                <a:effectLst/>
              </a:rPr>
              <a:t>吉祥寺駅</a:t>
            </a:r>
            <a:r>
              <a:rPr lang="en-US" altLang="ja-JP" sz="1400" b="0" dirty="0">
                <a:solidFill>
                  <a:srgbClr val="A31515"/>
                </a:solidFill>
                <a:effectLst/>
              </a:rPr>
              <a:t>"</a:t>
            </a:r>
            <a:r>
              <a:rPr lang="en-US" altLang="ja-JP" sz="1400" b="0" dirty="0">
                <a:solidFill>
                  <a:srgbClr val="000000"/>
                </a:solidFill>
                <a:effectLst/>
              </a:rPr>
              <a:t>,</a:t>
            </a:r>
          </a:p>
          <a:p>
            <a:pPr lvl="1"/>
            <a:r>
              <a:rPr lang="en-US" altLang="ja-JP" sz="1400" b="0" dirty="0">
                <a:solidFill>
                  <a:srgbClr val="000000"/>
                </a:solidFill>
                <a:effectLst/>
              </a:rPr>
              <a:t>    </a:t>
            </a:r>
            <a:r>
              <a:rPr lang="en-US" altLang="ja-JP" sz="1400" b="0" dirty="0">
                <a:solidFill>
                  <a:srgbClr val="A31515"/>
                </a:solidFill>
                <a:effectLst/>
              </a:rPr>
              <a:t>"lines"</a:t>
            </a:r>
            <a:r>
              <a:rPr lang="en-US" altLang="ja-JP" sz="1400" b="0" dirty="0">
                <a:solidFill>
                  <a:srgbClr val="000000"/>
                </a:solidFill>
                <a:effectLst/>
              </a:rPr>
              <a:t>: [</a:t>
            </a:r>
            <a:r>
              <a:rPr lang="en-US" altLang="ja-JP" sz="1400" b="0" dirty="0">
                <a:solidFill>
                  <a:srgbClr val="A31515"/>
                </a:solidFill>
                <a:effectLst/>
              </a:rPr>
              <a:t>"</a:t>
            </a:r>
            <a:r>
              <a:rPr lang="ja-JP" altLang="en-US" sz="1400" b="0" dirty="0">
                <a:solidFill>
                  <a:srgbClr val="A31515"/>
                </a:solidFill>
                <a:effectLst/>
              </a:rPr>
              <a:t>中央線快速</a:t>
            </a:r>
            <a:r>
              <a:rPr lang="en-US" altLang="ja-JP" sz="1400" b="0" dirty="0">
                <a:solidFill>
                  <a:srgbClr val="A31515"/>
                </a:solidFill>
                <a:effectLst/>
              </a:rPr>
              <a:t>"</a:t>
            </a:r>
            <a:r>
              <a:rPr lang="en-US" altLang="ja-JP" sz="1400" b="0" dirty="0">
                <a:solidFill>
                  <a:srgbClr val="000000"/>
                </a:solidFill>
                <a:effectLst/>
              </a:rPr>
              <a:t>, </a:t>
            </a:r>
            <a:r>
              <a:rPr lang="en-US" altLang="ja-JP" sz="1400" b="0" dirty="0">
                <a:solidFill>
                  <a:srgbClr val="A31515"/>
                </a:solidFill>
                <a:effectLst/>
              </a:rPr>
              <a:t>"</a:t>
            </a:r>
            <a:r>
              <a:rPr lang="ja-JP" altLang="en-US" sz="1400" b="0" dirty="0">
                <a:solidFill>
                  <a:srgbClr val="A31515"/>
                </a:solidFill>
                <a:effectLst/>
              </a:rPr>
              <a:t>中央線各駅停車</a:t>
            </a:r>
            <a:r>
              <a:rPr lang="en-US" altLang="ja-JP" sz="1400" b="0" dirty="0">
                <a:solidFill>
                  <a:srgbClr val="A31515"/>
                </a:solidFill>
                <a:effectLst/>
              </a:rPr>
              <a:t>"</a:t>
            </a:r>
            <a:r>
              <a:rPr lang="en-US" altLang="ja-JP" sz="1400" b="0" dirty="0">
                <a:solidFill>
                  <a:srgbClr val="000000"/>
                </a:solidFill>
                <a:effectLst/>
              </a:rPr>
              <a:t>, </a:t>
            </a:r>
            <a:r>
              <a:rPr lang="en-US" altLang="ja-JP" sz="1400" b="0" dirty="0">
                <a:solidFill>
                  <a:srgbClr val="A31515"/>
                </a:solidFill>
                <a:effectLst/>
              </a:rPr>
              <a:t>"</a:t>
            </a:r>
            <a:r>
              <a:rPr lang="ja-JP" altLang="en-US" sz="1400" b="0" dirty="0">
                <a:solidFill>
                  <a:srgbClr val="A31515"/>
                </a:solidFill>
                <a:effectLst/>
              </a:rPr>
              <a:t>京王井の頭線</a:t>
            </a:r>
            <a:r>
              <a:rPr lang="en-US" altLang="ja-JP" sz="1400" b="0" dirty="0">
                <a:solidFill>
                  <a:srgbClr val="A31515"/>
                </a:solidFill>
                <a:effectLst/>
              </a:rPr>
              <a:t>"</a:t>
            </a:r>
            <a:r>
              <a:rPr lang="en-US" altLang="ja-JP" sz="1400" b="0" dirty="0">
                <a:solidFill>
                  <a:srgbClr val="000000"/>
                </a:solidFill>
                <a:effectLst/>
              </a:rPr>
              <a:t>],</a:t>
            </a:r>
          </a:p>
          <a:p>
            <a:pPr lvl="1"/>
            <a:r>
              <a:rPr lang="en-US" altLang="ja-JP" sz="1400" b="0" dirty="0">
                <a:solidFill>
                  <a:srgbClr val="000000"/>
                </a:solidFill>
                <a:effectLst/>
              </a:rPr>
              <a:t>    </a:t>
            </a:r>
            <a:r>
              <a:rPr lang="en-US" altLang="ja-JP" sz="1400" b="0" dirty="0">
                <a:solidFill>
                  <a:srgbClr val="A31515"/>
                </a:solidFill>
                <a:effectLst/>
              </a:rPr>
              <a:t>"prefecture"</a:t>
            </a:r>
            <a:r>
              <a:rPr lang="en-US" altLang="ja-JP" sz="1400" b="0" dirty="0">
                <a:solidFill>
                  <a:srgbClr val="000000"/>
                </a:solidFill>
                <a:effectLst/>
              </a:rPr>
              <a:t>: </a:t>
            </a:r>
            <a:r>
              <a:rPr lang="en-US" altLang="ja-JP" sz="1400" b="0" dirty="0">
                <a:solidFill>
                  <a:srgbClr val="A31515"/>
                </a:solidFill>
                <a:effectLst/>
              </a:rPr>
              <a:t>"</a:t>
            </a:r>
            <a:r>
              <a:rPr lang="ja-JP" altLang="en-US" sz="1400" b="0" dirty="0">
                <a:solidFill>
                  <a:srgbClr val="A31515"/>
                </a:solidFill>
                <a:effectLst/>
              </a:rPr>
              <a:t>東京都</a:t>
            </a:r>
            <a:r>
              <a:rPr lang="en-US" altLang="ja-JP" sz="1400" b="0" dirty="0">
                <a:solidFill>
                  <a:srgbClr val="A31515"/>
                </a:solidFill>
                <a:effectLst/>
              </a:rPr>
              <a:t>"</a:t>
            </a:r>
            <a:r>
              <a:rPr lang="en-US" altLang="ja-JP" sz="1400" b="0" dirty="0">
                <a:solidFill>
                  <a:srgbClr val="000000"/>
                </a:solidFill>
                <a:effectLst/>
              </a:rPr>
              <a:t>,</a:t>
            </a:r>
          </a:p>
          <a:p>
            <a:pPr lvl="1"/>
            <a:r>
              <a:rPr lang="en-US" altLang="ja-JP" sz="1400" b="0" dirty="0">
                <a:solidFill>
                  <a:srgbClr val="000000"/>
                </a:solidFill>
                <a:effectLst/>
              </a:rPr>
              <a:t>    </a:t>
            </a:r>
            <a:r>
              <a:rPr lang="en-US" altLang="ja-JP" sz="1400" b="0" dirty="0">
                <a:solidFill>
                  <a:srgbClr val="A31515"/>
                </a:solidFill>
                <a:effectLst/>
              </a:rPr>
              <a:t>"city"</a:t>
            </a:r>
            <a:r>
              <a:rPr lang="en-US" altLang="ja-JP" sz="1400" b="0" dirty="0">
                <a:solidFill>
                  <a:srgbClr val="000000"/>
                </a:solidFill>
                <a:effectLst/>
              </a:rPr>
              <a:t>: </a:t>
            </a:r>
            <a:r>
              <a:rPr lang="en-US" altLang="ja-JP" sz="1400" b="0" dirty="0">
                <a:solidFill>
                  <a:srgbClr val="A31515"/>
                </a:solidFill>
                <a:effectLst/>
              </a:rPr>
              <a:t>"</a:t>
            </a:r>
            <a:r>
              <a:rPr lang="ja-JP" altLang="en-US" sz="1400" b="0" dirty="0">
                <a:solidFill>
                  <a:srgbClr val="A31515"/>
                </a:solidFill>
                <a:effectLst/>
              </a:rPr>
              <a:t>武蔵野市</a:t>
            </a:r>
            <a:r>
              <a:rPr lang="en-US" altLang="ja-JP" sz="1400" b="0" dirty="0">
                <a:solidFill>
                  <a:srgbClr val="A31515"/>
                </a:solidFill>
                <a:effectLst/>
              </a:rPr>
              <a:t>"</a:t>
            </a:r>
            <a:r>
              <a:rPr lang="en-US" altLang="ja-JP" sz="1400" b="0" dirty="0">
                <a:solidFill>
                  <a:srgbClr val="000000"/>
                </a:solidFill>
                <a:effectLst/>
              </a:rPr>
              <a:t>,</a:t>
            </a:r>
          </a:p>
          <a:p>
            <a:pPr lvl="1"/>
            <a:r>
              <a:rPr lang="en-US" altLang="ja-JP" sz="1400" b="0" dirty="0">
                <a:solidFill>
                  <a:srgbClr val="000000"/>
                </a:solidFill>
                <a:effectLst/>
              </a:rPr>
              <a:t>    </a:t>
            </a:r>
            <a:r>
              <a:rPr lang="en-US" altLang="ja-JP" sz="1400" b="0" dirty="0">
                <a:solidFill>
                  <a:srgbClr val="A31515"/>
                </a:solidFill>
                <a:effectLst/>
              </a:rPr>
              <a:t>"coordinates"</a:t>
            </a:r>
            <a:r>
              <a:rPr lang="en-US" altLang="ja-JP" sz="1400" b="0" dirty="0">
                <a:solidFill>
                  <a:srgbClr val="000000"/>
                </a:solidFill>
                <a:effectLst/>
              </a:rPr>
              <a:t>: [</a:t>
            </a:r>
            <a:r>
              <a:rPr lang="en-US" altLang="ja-JP" sz="1400" b="0" dirty="0">
                <a:solidFill>
                  <a:srgbClr val="116644"/>
                </a:solidFill>
                <a:effectLst/>
              </a:rPr>
              <a:t>35.7069</a:t>
            </a:r>
            <a:r>
              <a:rPr lang="en-US" altLang="ja-JP" sz="1400" b="0" dirty="0">
                <a:solidFill>
                  <a:srgbClr val="000000"/>
                </a:solidFill>
                <a:effectLst/>
              </a:rPr>
              <a:t>, </a:t>
            </a:r>
            <a:r>
              <a:rPr lang="en-US" altLang="ja-JP" sz="1400" b="0" dirty="0">
                <a:solidFill>
                  <a:srgbClr val="116644"/>
                </a:solidFill>
                <a:effectLst/>
              </a:rPr>
              <a:t>139.5819</a:t>
            </a:r>
            <a:r>
              <a:rPr lang="en-US" altLang="ja-JP" sz="1400" b="0" dirty="0">
                <a:solidFill>
                  <a:srgbClr val="000000"/>
                </a:solidFill>
                <a:effectLst/>
              </a:rPr>
              <a:t>],  </a:t>
            </a:r>
            <a:r>
              <a:rPr lang="en-US" altLang="ja-JP" sz="1400" b="0" dirty="0">
                <a:solidFill>
                  <a:srgbClr val="008000"/>
                </a:solidFill>
                <a:effectLst/>
              </a:rPr>
              <a:t># </a:t>
            </a:r>
            <a:r>
              <a:rPr lang="ja-JP" altLang="en-US" sz="1400" b="0" dirty="0">
                <a:solidFill>
                  <a:srgbClr val="008000"/>
                </a:solidFill>
                <a:effectLst/>
              </a:rPr>
              <a:t>緯度、経度</a:t>
            </a:r>
            <a:endParaRPr lang="ja-JP" altLang="en-US" sz="1400" b="0" dirty="0">
              <a:solidFill>
                <a:srgbClr val="000000"/>
              </a:solidFill>
              <a:effectLst/>
            </a:endParaRPr>
          </a:p>
          <a:p>
            <a:pPr lvl="1"/>
            <a:r>
              <a:rPr lang="ja-JP" altLang="en-US" sz="1400" b="0" dirty="0">
                <a:solidFill>
                  <a:srgbClr val="000000"/>
                </a:solidFill>
                <a:effectLst/>
              </a:rPr>
              <a:t>    </a:t>
            </a:r>
            <a:r>
              <a:rPr lang="en-US" altLang="ja-JP" sz="1400" b="0" dirty="0">
                <a:solidFill>
                  <a:srgbClr val="A31515"/>
                </a:solidFill>
                <a:effectLst/>
              </a:rPr>
              <a:t>"</a:t>
            </a:r>
            <a:r>
              <a:rPr lang="en-US" altLang="ja-JP" sz="1400" b="0" dirty="0" err="1">
                <a:solidFill>
                  <a:srgbClr val="A31515"/>
                </a:solidFill>
                <a:effectLst/>
              </a:rPr>
              <a:t>nearby_attractions</a:t>
            </a:r>
            <a:r>
              <a:rPr lang="en-US" altLang="ja-JP" sz="1400" b="0" dirty="0">
                <a:solidFill>
                  <a:srgbClr val="A31515"/>
                </a:solidFill>
                <a:effectLst/>
              </a:rPr>
              <a:t>"</a:t>
            </a:r>
            <a:r>
              <a:rPr lang="en-US" altLang="ja-JP" sz="1400" b="0" dirty="0">
                <a:solidFill>
                  <a:srgbClr val="000000"/>
                </a:solidFill>
                <a:effectLst/>
              </a:rPr>
              <a:t>: [</a:t>
            </a:r>
            <a:r>
              <a:rPr lang="en-US" altLang="ja-JP" sz="1400" b="0" dirty="0">
                <a:solidFill>
                  <a:srgbClr val="A31515"/>
                </a:solidFill>
                <a:effectLst/>
              </a:rPr>
              <a:t>"</a:t>
            </a:r>
            <a:r>
              <a:rPr lang="ja-JP" altLang="en-US" sz="1400" b="0" dirty="0">
                <a:solidFill>
                  <a:srgbClr val="A31515"/>
                </a:solidFill>
                <a:effectLst/>
              </a:rPr>
              <a:t>井の頭恩賜公園</a:t>
            </a:r>
            <a:r>
              <a:rPr lang="en-US" altLang="ja-JP" sz="1400" b="0" dirty="0">
                <a:solidFill>
                  <a:srgbClr val="A31515"/>
                </a:solidFill>
                <a:effectLst/>
              </a:rPr>
              <a:t>"</a:t>
            </a:r>
            <a:r>
              <a:rPr lang="en-US" altLang="ja-JP" sz="1400" b="0" dirty="0">
                <a:solidFill>
                  <a:srgbClr val="000000"/>
                </a:solidFill>
                <a:effectLst/>
              </a:rPr>
              <a:t>, </a:t>
            </a:r>
            <a:r>
              <a:rPr lang="en-US" altLang="ja-JP" sz="1400" b="0" dirty="0">
                <a:solidFill>
                  <a:srgbClr val="A31515"/>
                </a:solidFill>
                <a:effectLst/>
              </a:rPr>
              <a:t>"</a:t>
            </a:r>
            <a:r>
              <a:rPr lang="ja-JP" altLang="en-US" sz="1400" b="0" dirty="0">
                <a:solidFill>
                  <a:srgbClr val="A31515"/>
                </a:solidFill>
                <a:effectLst/>
              </a:rPr>
              <a:t>吉祥寺パルコ</a:t>
            </a:r>
            <a:r>
              <a:rPr lang="en-US" altLang="ja-JP" sz="1400" b="0" dirty="0">
                <a:solidFill>
                  <a:srgbClr val="A31515"/>
                </a:solidFill>
                <a:effectLst/>
              </a:rPr>
              <a:t>"</a:t>
            </a:r>
            <a:r>
              <a:rPr lang="en-US" altLang="ja-JP" sz="1400" b="0" dirty="0">
                <a:solidFill>
                  <a:srgbClr val="000000"/>
                </a:solidFill>
                <a:effectLst/>
              </a:rPr>
              <a:t>, </a:t>
            </a:r>
            <a:r>
              <a:rPr lang="en-US" altLang="ja-JP" sz="1400" b="0" dirty="0">
                <a:solidFill>
                  <a:srgbClr val="A31515"/>
                </a:solidFill>
                <a:effectLst/>
              </a:rPr>
              <a:t>"</a:t>
            </a:r>
            <a:r>
              <a:rPr lang="ja-JP" altLang="en-US" sz="1400" b="0" dirty="0">
                <a:solidFill>
                  <a:srgbClr val="A31515"/>
                </a:solidFill>
                <a:effectLst/>
              </a:rPr>
              <a:t>吉祥寺サンロード</a:t>
            </a:r>
            <a:r>
              <a:rPr lang="en-US" altLang="ja-JP" sz="1400" b="0" dirty="0">
                <a:solidFill>
                  <a:srgbClr val="A31515"/>
                </a:solidFill>
                <a:effectLst/>
              </a:rPr>
              <a:t>"</a:t>
            </a:r>
            <a:r>
              <a:rPr lang="en-US" altLang="ja-JP" sz="1400" b="0" dirty="0">
                <a:solidFill>
                  <a:srgbClr val="000000"/>
                </a:solidFill>
                <a:effectLst/>
              </a:rPr>
              <a:t>, </a:t>
            </a:r>
            <a:r>
              <a:rPr lang="en-US" altLang="ja-JP" sz="1400" b="0" dirty="0">
                <a:solidFill>
                  <a:srgbClr val="A31515"/>
                </a:solidFill>
                <a:effectLst/>
              </a:rPr>
              <a:t>"</a:t>
            </a:r>
            <a:r>
              <a:rPr lang="ja-JP" altLang="en-US" sz="1400" b="0" dirty="0">
                <a:solidFill>
                  <a:srgbClr val="A31515"/>
                </a:solidFill>
                <a:effectLst/>
              </a:rPr>
              <a:t>武蔵野中央公園</a:t>
            </a:r>
            <a:r>
              <a:rPr lang="en-US" altLang="ja-JP" sz="1400" b="0" dirty="0">
                <a:solidFill>
                  <a:srgbClr val="A31515"/>
                </a:solidFill>
                <a:effectLst/>
              </a:rPr>
              <a:t>"</a:t>
            </a:r>
            <a:r>
              <a:rPr lang="en-US" altLang="ja-JP" sz="1400" b="0" dirty="0">
                <a:solidFill>
                  <a:srgbClr val="000000"/>
                </a:solidFill>
                <a:effectLst/>
              </a:rPr>
              <a:t>]</a:t>
            </a:r>
          </a:p>
          <a:p>
            <a:pPr lvl="1"/>
            <a:r>
              <a:rPr lang="en-US" altLang="ja-JP" sz="1400" b="0" dirty="0">
                <a:solidFill>
                  <a:srgbClr val="000000"/>
                </a:solidFill>
                <a:effectLst/>
              </a:rPr>
              <a:t>}</a:t>
            </a:r>
          </a:p>
          <a:p>
            <a:r>
              <a:rPr lang="en-US" altLang="ja-JP" sz="1400" b="0" dirty="0">
                <a:solidFill>
                  <a:schemeClr val="bg2"/>
                </a:solidFill>
                <a:effectLst/>
                <a:latin typeface="+mj-ea"/>
                <a:ea typeface="+mj-ea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1576535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53DF0-2AD1-7696-259C-7B8580FC4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17FAFD9B-4C0B-9EF1-5FFA-1FF6B1892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情報科学ｃ</a:t>
            </a:r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61611AAF-3D0D-8B64-C9FF-CB319AFE7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sz="2800" dirty="0"/>
              <a:t>[</a:t>
            </a:r>
            <a:r>
              <a:rPr kumimoji="1" lang="en-US" altLang="ja-JP" sz="2800" dirty="0">
                <a:solidFill>
                  <a:schemeClr val="accent1"/>
                </a:solidFill>
              </a:rPr>
              <a:t>05</a:t>
            </a:r>
            <a:r>
              <a:rPr kumimoji="1" lang="en-US" altLang="ja-JP" sz="2800" dirty="0"/>
              <a:t>-day02kk] </a:t>
            </a:r>
            <a:br>
              <a:rPr kumimoji="1" lang="ja-JP" altLang="en-US" dirty="0"/>
            </a:br>
            <a:r>
              <a:rPr lang="ja-JP" altLang="en-US" dirty="0"/>
              <a:t>辞書型データをリストする</a:t>
            </a:r>
            <a:endParaRPr kumimoji="1" lang="ja-JP" altLang="en-US" dirty="0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4A2E979-0E7F-5B1C-1282-C07F86B7ED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お題</a:t>
            </a:r>
          </a:p>
          <a:p>
            <a:pPr lvl="1"/>
            <a:r>
              <a:rPr lang="ja-JP" altLang="en-US" dirty="0"/>
              <a:t>要素が辞書型であるリストをつくる。</a:t>
            </a:r>
          </a:p>
          <a:p>
            <a:pPr lvl="1"/>
            <a:r>
              <a:rPr lang="ja-JP" altLang="en-US" dirty="0"/>
              <a:t>内容は皆さんの身の回りの情報を使って作ってください。</a:t>
            </a:r>
          </a:p>
          <a:p>
            <a:pPr lvl="2"/>
            <a:r>
              <a:rPr lang="ja-JP" altLang="en-US" dirty="0"/>
              <a:t>お気に入りのカフェのリスト</a:t>
            </a:r>
          </a:p>
          <a:p>
            <a:pPr lvl="2"/>
            <a:r>
              <a:rPr lang="ja-JP" altLang="en-US" dirty="0"/>
              <a:t>今期とっている講義のリスト　</a:t>
            </a:r>
            <a:r>
              <a:rPr lang="en-US" altLang="ja-JP" dirty="0" err="1"/>
              <a:t>etc</a:t>
            </a:r>
            <a:r>
              <a:rPr lang="en-US" altLang="ja-JP" dirty="0"/>
              <a:t>…..</a:t>
            </a:r>
          </a:p>
          <a:p>
            <a:pPr lvl="1"/>
            <a:r>
              <a:rPr lang="ja-JP" altLang="en-US" dirty="0"/>
              <a:t>見やすいように</a:t>
            </a:r>
            <a:r>
              <a:rPr lang="en-US" altLang="ja-JP" dirty="0" err="1"/>
              <a:t>pprint</a:t>
            </a:r>
            <a:r>
              <a:rPr lang="ja-JP" altLang="en-US" dirty="0"/>
              <a:t>で出力してください</a:t>
            </a:r>
          </a:p>
          <a:p>
            <a:pPr lvl="2"/>
            <a:r>
              <a:rPr kumimoji="1" lang="ja-JP" altLang="en-US" dirty="0"/>
              <a:t>やり方は予習テキストにあります</a:t>
            </a:r>
          </a:p>
          <a:p>
            <a:r>
              <a:rPr lang="ja-JP" altLang="en-US" dirty="0"/>
              <a:t>発表：希望者のみ先着順で講義終了時刻まで</a:t>
            </a:r>
          </a:p>
          <a:p>
            <a:pPr lvl="1"/>
            <a:r>
              <a:rPr lang="ja-JP" altLang="en-US" dirty="0"/>
              <a:t>前でノートを表示しながら簡単に説明をしてもらいます</a:t>
            </a:r>
          </a:p>
          <a:p>
            <a:pPr lvl="1"/>
            <a:r>
              <a:rPr lang="ja-JP" altLang="en-US" dirty="0"/>
              <a:t>発表した人は記録して、成績の加点対象にします</a:t>
            </a:r>
          </a:p>
          <a:p>
            <a:pPr lvl="1"/>
            <a:endParaRPr kumimoji="1" lang="ja-JP" altLang="en-US" dirty="0"/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E6EC982-1A89-389F-C924-7ED8328AB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Day2</a:t>
            </a:r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B1DE181-3A7C-2141-F754-2D466590C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A0251-0B3B-4C1C-96DC-5D2833458AB2}" type="slidenum">
              <a:rPr kumimoji="1" lang="ja-JP" altLang="en-US" smtClean="0"/>
              <a:t>18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31695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6">
            <a:extLst>
              <a:ext uri="{FF2B5EF4-FFF2-40B4-BE49-F238E27FC236}">
                <a16:creationId xmlns:a16="http://schemas.microsoft.com/office/drawing/2014/main" id="{1ACACB11-2637-2EAD-6375-C6567BDD8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Homework</a:t>
            </a:r>
            <a:endParaRPr lang="ja-JP" altLang="en-US" dirty="0"/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DB7A490D-E625-8DBF-66AE-B1B7095A6E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dirty="0"/>
              <a:t>Day02</a:t>
            </a:r>
            <a:endParaRPr lang="ja-JP" altLang="en-US" dirty="0"/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958D229-46FC-433B-FA5B-4B8ACC13F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Day2</a:t>
            </a:r>
            <a:endParaRPr kumimoji="1" lang="ja-JP" altLang="en-US"/>
          </a:p>
        </p:txBody>
      </p:sp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60993854-A861-7ED5-26C4-60455F5A6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情報科学ｃ</a:t>
            </a:r>
            <a:endParaRPr kumimoji="1" lang="ja-JP" alt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B968422-74D5-EB25-AB13-5C87B4FE4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A0251-0B3B-4C1C-96DC-5D2833458AB2}" type="slidenum">
              <a:rPr kumimoji="1" lang="ja-JP" altLang="en-US" smtClean="0"/>
              <a:t>19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02635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C46B3-4843-95D6-3739-FBC6433CC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95C872CB-5799-28ED-4479-AAA9792CE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情報科学ｃ</a:t>
            </a:r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2132B40C-9159-C623-F1C1-505FB3969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Day02</a:t>
            </a:r>
            <a:r>
              <a:rPr kumimoji="1" lang="ja-JP" altLang="en-US" dirty="0"/>
              <a:t>の宿題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A2824EF-C7BB-4EF4-A76E-6702C6F97D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5269" y="1825625"/>
            <a:ext cx="9998530" cy="4351338"/>
          </a:xfrm>
        </p:spPr>
        <p:txBody>
          <a:bodyPr>
            <a:normAutofit/>
          </a:bodyPr>
          <a:lstStyle/>
          <a:p>
            <a:r>
              <a:rPr kumimoji="1" lang="ja-JP" altLang="en-US" sz="2800" dirty="0"/>
              <a:t>予習テキストを読む</a:t>
            </a:r>
            <a:endParaRPr kumimoji="1" lang="en-US" altLang="ja-JP" sz="2800" dirty="0"/>
          </a:p>
          <a:p>
            <a:pPr lvl="1"/>
            <a:r>
              <a:rPr kumimoji="1" lang="en-US" altLang="ja-JP" dirty="0"/>
              <a:t>[</a:t>
            </a:r>
            <a:r>
              <a:rPr kumimoji="1" lang="en-US" altLang="ja-JP" dirty="0">
                <a:solidFill>
                  <a:schemeClr val="accent1"/>
                </a:solidFill>
                <a:latin typeface="+mj-lt"/>
              </a:rPr>
              <a:t>06</a:t>
            </a:r>
            <a:r>
              <a:rPr kumimoji="1" lang="en-US" altLang="ja-JP" dirty="0">
                <a:latin typeface="+mj-lt"/>
              </a:rPr>
              <a:t>-day02tb</a:t>
            </a:r>
            <a:r>
              <a:rPr kumimoji="1" lang="en-US" altLang="ja-JP" dirty="0"/>
              <a:t>]</a:t>
            </a:r>
            <a:r>
              <a:rPr kumimoji="1" lang="ja-JP" altLang="en-US" dirty="0"/>
              <a:t>　</a:t>
            </a:r>
            <a:r>
              <a:rPr lang="ja-JP" altLang="en-US" dirty="0"/>
              <a:t>演算子</a:t>
            </a:r>
            <a:endParaRPr kumimoji="1" lang="en-US" altLang="ja-JP" dirty="0"/>
          </a:p>
          <a:p>
            <a:pPr lvl="1"/>
            <a:r>
              <a:rPr kumimoji="1" lang="en-US" altLang="ja-JP" dirty="0"/>
              <a:t>[</a:t>
            </a:r>
            <a:r>
              <a:rPr kumimoji="1" lang="en-US" altLang="ja-JP" dirty="0">
                <a:solidFill>
                  <a:schemeClr val="accent1"/>
                </a:solidFill>
                <a:latin typeface="+mj-lt"/>
              </a:rPr>
              <a:t>07</a:t>
            </a:r>
            <a:r>
              <a:rPr kumimoji="1" lang="en-US" altLang="ja-JP" dirty="0">
                <a:latin typeface="+mj-lt"/>
              </a:rPr>
              <a:t>-day02tb</a:t>
            </a:r>
            <a:r>
              <a:rPr kumimoji="1" lang="en-US" altLang="ja-JP" dirty="0"/>
              <a:t>]</a:t>
            </a:r>
            <a:r>
              <a:rPr kumimoji="1" lang="ja-JP" altLang="en-US" dirty="0"/>
              <a:t>　</a:t>
            </a:r>
            <a:r>
              <a:rPr lang="ja-JP" altLang="en-US" dirty="0"/>
              <a:t>制御構文</a:t>
            </a:r>
            <a:endParaRPr kumimoji="1" lang="ja-JP" altLang="en-US" dirty="0"/>
          </a:p>
          <a:p>
            <a:r>
              <a:rPr kumimoji="1" lang="ja-JP" altLang="en-US" sz="2800" dirty="0"/>
              <a:t>知識確認問題を解く</a:t>
            </a:r>
            <a:endParaRPr kumimoji="1" lang="en-US" altLang="ja-JP" sz="2800" dirty="0"/>
          </a:p>
          <a:p>
            <a:pPr lvl="1"/>
            <a:r>
              <a:rPr kumimoji="1" lang="en-US" altLang="ja-JP" dirty="0"/>
              <a:t>[</a:t>
            </a:r>
            <a:r>
              <a:rPr kumimoji="1" lang="en-US" altLang="ja-JP" dirty="0">
                <a:solidFill>
                  <a:schemeClr val="accent1"/>
                </a:solidFill>
                <a:latin typeface="+mj-lt"/>
              </a:rPr>
              <a:t>08</a:t>
            </a:r>
            <a:r>
              <a:rPr kumimoji="1" lang="en-US" altLang="ja-JP" dirty="0">
                <a:latin typeface="+mj-lt"/>
              </a:rPr>
              <a:t>-day01hw</a:t>
            </a:r>
            <a:r>
              <a:rPr kumimoji="1" lang="en-US" altLang="ja-JP" dirty="0"/>
              <a:t>]</a:t>
            </a:r>
            <a:r>
              <a:rPr kumimoji="1" lang="ja-JP" altLang="en-US" dirty="0"/>
              <a:t>　本日の宿題</a:t>
            </a:r>
            <a:r>
              <a:rPr lang="en-US" altLang="ja-JP" dirty="0"/>
              <a:t>(</a:t>
            </a:r>
            <a:r>
              <a:rPr lang="ja-JP" altLang="en-US" dirty="0"/>
              <a:t>予習テキストの確認問題</a:t>
            </a:r>
            <a:r>
              <a:rPr lang="en-US" altLang="ja-JP" dirty="0"/>
              <a:t>)</a:t>
            </a:r>
            <a:endParaRPr kumimoji="1" lang="ja-JP" altLang="en-US" dirty="0"/>
          </a:p>
          <a:p>
            <a:pPr lvl="1"/>
            <a:r>
              <a:rPr lang="ja-JP" altLang="en-US" dirty="0"/>
              <a:t>期限：火曜日</a:t>
            </a:r>
            <a:r>
              <a:rPr lang="en-US" altLang="ja-JP" dirty="0"/>
              <a:t>23:59</a:t>
            </a:r>
            <a:endParaRPr lang="ja-JP" altLang="en-US" dirty="0"/>
          </a:p>
          <a:p>
            <a:pPr lvl="1"/>
            <a:endParaRPr kumimoji="1" lang="ja-JP" altLang="en-US" dirty="0"/>
          </a:p>
          <a:p>
            <a:r>
              <a:rPr lang="en-US" altLang="ja-JP" dirty="0"/>
              <a:t>Google</a:t>
            </a:r>
            <a:r>
              <a:rPr lang="ja-JP" altLang="en-US" dirty="0"/>
              <a:t> </a:t>
            </a:r>
            <a:r>
              <a:rPr lang="en-US" altLang="ja-JP" dirty="0"/>
              <a:t>Classroom</a:t>
            </a:r>
            <a:r>
              <a:rPr lang="ja-JP" altLang="en-US" dirty="0"/>
              <a:t>を通じて配布します。</a:t>
            </a:r>
          </a:p>
          <a:p>
            <a:r>
              <a:rPr kumimoji="1" lang="ja-JP" altLang="en-US" dirty="0"/>
              <a:t>宿題の提出も</a:t>
            </a:r>
            <a:r>
              <a:rPr kumimoji="1" lang="en-US" altLang="ja-JP" dirty="0"/>
              <a:t>Google Classroom</a:t>
            </a:r>
            <a:r>
              <a:rPr kumimoji="1" lang="ja-JP" altLang="en-US" dirty="0"/>
              <a:t>に行ってください。</a:t>
            </a:r>
          </a:p>
          <a:p>
            <a:pPr lvl="1"/>
            <a:endParaRPr kumimoji="1" lang="ja-JP" altLang="en-US" dirty="0"/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C1D3F51-F7C8-B336-586B-E580A5CE0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Day2</a:t>
            </a:r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CC6A303-9629-7CD3-45E0-A5790AB39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A0251-0B3B-4C1C-96DC-5D2833458AB2}" type="slidenum">
              <a:rPr kumimoji="1" lang="ja-JP" altLang="en-US" smtClean="0"/>
              <a:t>20</a:t>
            </a:fld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1B94267-10FE-D83D-D798-18C1DFE479A1}"/>
              </a:ext>
            </a:extLst>
          </p:cNvPr>
          <p:cNvSpPr txBox="1"/>
          <p:nvPr/>
        </p:nvSpPr>
        <p:spPr>
          <a:xfrm>
            <a:off x="8629650" y="152400"/>
            <a:ext cx="3429000" cy="203132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ja-JP" altLang="en-US" dirty="0"/>
              <a:t>課題等の命名規則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b="1" dirty="0"/>
              <a:t>[</a:t>
            </a:r>
            <a:r>
              <a:rPr lang="ja-JP" altLang="en-US" b="1" dirty="0"/>
              <a:t>連番</a:t>
            </a:r>
            <a:r>
              <a:rPr lang="en-US" altLang="ja-JP" b="1" dirty="0"/>
              <a:t>-</a:t>
            </a:r>
            <a:r>
              <a:rPr lang="ja-JP" altLang="en-US" b="1" dirty="0"/>
              <a:t>講義日ノートタイプ</a:t>
            </a:r>
            <a:r>
              <a:rPr lang="en-US" altLang="ja-JP" b="1" dirty="0"/>
              <a:t>]</a:t>
            </a:r>
            <a:endParaRPr lang="ja-JP" alt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/>
              <a:t>講義日：</a:t>
            </a:r>
            <a:r>
              <a:rPr lang="en-US" altLang="ja-JP" dirty="0"/>
              <a:t>day01</a:t>
            </a:r>
            <a:r>
              <a:rPr lang="ja-JP" altLang="en-US" dirty="0"/>
              <a:t>～</a:t>
            </a:r>
            <a:r>
              <a:rPr lang="en-US" altLang="ja-JP" dirty="0"/>
              <a:t>day09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/>
              <a:t>ノートタイプ：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ja-JP" dirty="0"/>
              <a:t>Kk</a:t>
            </a:r>
            <a:r>
              <a:rPr lang="ja-JP" altLang="en-US" dirty="0"/>
              <a:t>：講義内課題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ja-JP" dirty="0"/>
              <a:t>tb</a:t>
            </a:r>
            <a:r>
              <a:rPr lang="ja-JP" altLang="en-US" dirty="0"/>
              <a:t>：テキストブック</a:t>
            </a:r>
            <a:endParaRPr lang="en-US" altLang="ja-JP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ja-JP" dirty="0" err="1"/>
              <a:t>hw</a:t>
            </a:r>
            <a:r>
              <a:rPr lang="ja-JP" altLang="en-US" dirty="0"/>
              <a:t>：宿題</a:t>
            </a:r>
          </a:p>
        </p:txBody>
      </p:sp>
    </p:spTree>
    <p:extLst>
      <p:ext uri="{BB962C8B-B14F-4D97-AF65-F5344CB8AC3E}">
        <p14:creationId xmlns:p14="http://schemas.microsoft.com/office/powerpoint/2010/main" val="815270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情報論理学">
  <a:themeElements>
    <a:clrScheme name="津田塾大学情報科学">
      <a:dk1>
        <a:srgbClr val="353941"/>
      </a:dk1>
      <a:lt1>
        <a:srgbClr val="FFFFFF"/>
      </a:lt1>
      <a:dk2>
        <a:srgbClr val="263F41"/>
      </a:dk2>
      <a:lt2>
        <a:srgbClr val="E0E804"/>
      </a:lt2>
      <a:accent1>
        <a:srgbClr val="CE276C"/>
      </a:accent1>
      <a:accent2>
        <a:srgbClr val="D85514"/>
      </a:accent2>
      <a:accent3>
        <a:srgbClr val="95B00D"/>
      </a:accent3>
      <a:accent4>
        <a:srgbClr val="56B833"/>
      </a:accent4>
      <a:accent5>
        <a:srgbClr val="034AA1"/>
      </a:accent5>
      <a:accent6>
        <a:srgbClr val="510296"/>
      </a:accent6>
      <a:hlink>
        <a:srgbClr val="0563C1"/>
      </a:hlink>
      <a:folHlink>
        <a:srgbClr val="954F72"/>
      </a:folHlink>
    </a:clrScheme>
    <a:fontScheme name="都立大講義">
      <a:majorFont>
        <a:latin typeface="VDL Ｖ７ゴシック EB"/>
        <a:ea typeface="VDL Ｖ７ゴシック EB"/>
        <a:cs typeface=""/>
      </a:majorFont>
      <a:minorFont>
        <a:latin typeface="TBちび丸ゴシックPlusK Pro R"/>
        <a:ea typeface="TBちび丸ゴシックPlusK Pro 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情報論理学" id="{9D04152A-154A-442E-A643-BF86048DE20D}" vid="{8058DE17-911C-49AC-A2EB-3BD0BB048778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1">
    <wetp:webextensionref xmlns:r="http://schemas.openxmlformats.org/officeDocument/2006/relationships" r:id="rId1"/>
  </wetp:taskpane>
  <wetp:taskpane dockstate="right" visibility="0" width="525" row="1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564C3975-57B6-47A0-85FF-E5F62F7E67C8}">
  <we:reference id="a19c72e1-6786-40f7-b977-f44d74d31275" version="2.1.0.0" store="EXCatalog" storeType="EXCatalog"/>
  <we:alternateReferences>
    <we:reference id="WA104379279" version="2.1.0.0" store="ja-JP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BBBB6DD3-8407-4865-923C-51624D4BD5C4}">
  <we:reference id="2d5ec7a8-3235-439f-acf6-ad88ee2f7e85" version="1.0.0.0" store="EXCatalog" storeType="EXCatalog"/>
  <we:alternateReferences>
    <we:reference id="WA104006972" version="1.0.0.0" store="ja-JP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6309</TotalTime>
  <Words>1726</Words>
  <Application>Microsoft Office PowerPoint</Application>
  <PresentationFormat>ワイド画面</PresentationFormat>
  <Paragraphs>403</Paragraphs>
  <Slides>20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20</vt:i4>
      </vt:variant>
    </vt:vector>
  </HeadingPairs>
  <TitlesOfParts>
    <vt:vector size="25" baseType="lpstr">
      <vt:lpstr>TBちび丸ゴシックPlusK Pro R</vt:lpstr>
      <vt:lpstr>VDL Ｖ７ゴシック EB</vt:lpstr>
      <vt:lpstr>游ゴシック</vt:lpstr>
      <vt:lpstr>Arial</vt:lpstr>
      <vt:lpstr>情報論理学</vt:lpstr>
      <vt:lpstr>情報 科学Ｃ</vt:lpstr>
      <vt:lpstr>2025年度 講義日程</vt:lpstr>
      <vt:lpstr>情報科学Ｃ</vt:lpstr>
      <vt:lpstr>予習テキストで学んだ事</vt:lpstr>
      <vt:lpstr>Noneとブール</vt:lpstr>
      <vt:lpstr>文字列</vt:lpstr>
      <vt:lpstr>エスケープシーケンス</vt:lpstr>
      <vt:lpstr>ヒアドキュメント</vt:lpstr>
      <vt:lpstr>リスト (配列, Array)</vt:lpstr>
      <vt:lpstr>タプル</vt:lpstr>
      <vt:lpstr>セット (集合)</vt:lpstr>
      <vt:lpstr>辞書 (連想配列)</vt:lpstr>
      <vt:lpstr>JSON</vt:lpstr>
      <vt:lpstr>情報科学Ｃ</vt:lpstr>
      <vt:lpstr>[05-day02kk]  辞書型データをリストする</vt:lpstr>
      <vt:lpstr>ちょっと解説</vt:lpstr>
      <vt:lpstr>もうちょっと解説</vt:lpstr>
      <vt:lpstr>[05-day02kk]  辞書型データをリストする</vt:lpstr>
      <vt:lpstr>Homework</vt:lpstr>
      <vt:lpstr>Day02の宿題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横山昌平</dc:creator>
  <cp:lastModifiedBy>横山昌平</cp:lastModifiedBy>
  <cp:revision>97</cp:revision>
  <dcterms:created xsi:type="dcterms:W3CDTF">2020-04-20T04:18:00Z</dcterms:created>
  <dcterms:modified xsi:type="dcterms:W3CDTF">2025-04-22T02:36:01Z</dcterms:modified>
</cp:coreProperties>
</file>