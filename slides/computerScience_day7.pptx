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9"/>
  </p:notesMasterIdLst>
  <p:sldIdLst>
    <p:sldId id="256" r:id="rId2"/>
    <p:sldId id="257" r:id="rId3"/>
    <p:sldId id="316" r:id="rId4"/>
    <p:sldId id="317" r:id="rId5"/>
    <p:sldId id="312" r:id="rId6"/>
    <p:sldId id="314" r:id="rId7"/>
    <p:sldId id="306" r:id="rId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0E804"/>
    <a:srgbClr val="F4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5758FB7-9AC5-4552-8A53-C91805E547FA}" styleName="テーマ スタイル 1 - アクセント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FECB4D8-DB02-4DC6-A0A2-4F2EBAE1DC90}" styleName="中間スタイル 1 - アクセント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388" autoAdjust="0"/>
    <p:restoredTop sz="94660"/>
  </p:normalViewPr>
  <p:slideViewPr>
    <p:cSldViewPr snapToGrid="0">
      <p:cViewPr varScale="1">
        <p:scale>
          <a:sx n="253" d="100"/>
          <a:sy n="253" d="100"/>
        </p:scale>
        <p:origin x="510" y="2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743A7E-303A-4EAA-864C-611EED392E65}" type="datetimeFigureOut">
              <a:rPr kumimoji="1" lang="ja-JP" altLang="en-US" smtClean="0"/>
              <a:t>2025/5/28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A39EA8-FF6E-487D-8017-26A51A4403B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083543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D8B2B-9B4A-54F4-1351-F3BEDC087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EAF7E0CE-EE19-EC1D-A9B8-A1970C4032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EF4394F9-CEDD-D090-5815-499B944019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C5DDD1F-F535-2D5F-6B98-BA01DDACE0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334262-27A8-490F-AA41-F61BA7DFEBA9}" type="slidenum">
              <a:rPr kumimoji="1" lang="ja-JP" altLang="en-US" smtClean="0"/>
              <a:t>3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7320863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150D6-A680-315A-BE1D-BC9172A24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ECFEA44C-8C15-E719-49F6-1365B72337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FD08E053-7330-0B4C-2807-8C0B858E74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9F3B921-5587-19BC-3E02-07109B72C2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334262-27A8-490F-AA41-F61BA7DFEBA9}" type="slidenum">
              <a:rPr kumimoji="1" lang="ja-JP" altLang="en-US" smtClean="0"/>
              <a:t>5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6756871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E0E47F28-DF72-47BF-B95C-73F8BC6F067A}"/>
              </a:ext>
            </a:extLst>
          </p:cNvPr>
          <p:cNvSpPr/>
          <p:nvPr/>
        </p:nvSpPr>
        <p:spPr>
          <a:xfrm>
            <a:off x="410960" y="410960"/>
            <a:ext cx="4171308" cy="6036080"/>
          </a:xfrm>
          <a:prstGeom prst="roundRect">
            <a:avLst>
              <a:gd name="adj" fmla="val 312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147F3A06-B3E9-484B-AA0D-25C8CD8D57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0960" y="410960"/>
            <a:ext cx="4171308" cy="2387600"/>
          </a:xfrm>
        </p:spPr>
        <p:txBody>
          <a:bodyPr lIns="432000" anchor="b">
            <a:noAutofit/>
          </a:bodyPr>
          <a:lstStyle>
            <a:lvl1pPr algn="l">
              <a:defRPr sz="7000">
                <a:solidFill>
                  <a:schemeClr val="bg2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A34F182-B301-4833-B201-025D8A7B9C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0960" y="3602038"/>
            <a:ext cx="4170362" cy="733198"/>
          </a:xfrm>
        </p:spPr>
        <p:txBody>
          <a:bodyPr lIns="432000"/>
          <a:lstStyle>
            <a:lvl1pPr marL="0" indent="0" algn="l">
              <a:buNone/>
              <a:defRPr sz="2400">
                <a:solidFill>
                  <a:schemeClr val="bg2"/>
                </a:solidFill>
                <a:latin typeface="+mj-ea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10" name="テキスト プレースホルダー 9">
            <a:extLst>
              <a:ext uri="{FF2B5EF4-FFF2-40B4-BE49-F238E27FC236}">
                <a16:creationId xmlns:a16="http://schemas.microsoft.com/office/drawing/2014/main" id="{5006FDE5-FCBF-4411-9C4A-44645957456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1163" y="2798763"/>
            <a:ext cx="4170362" cy="808037"/>
          </a:xfrm>
        </p:spPr>
        <p:txBody>
          <a:bodyPr lIns="432000" anchor="ctr" anchorCtr="0">
            <a:normAutofit/>
          </a:bodyPr>
          <a:lstStyle>
            <a:lvl1pPr marL="0" indent="0" algn="l">
              <a:buNone/>
              <a:defRPr sz="1400">
                <a:solidFill>
                  <a:schemeClr val="bg2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4" name="テキスト プレースホルダー 13">
            <a:extLst>
              <a:ext uri="{FF2B5EF4-FFF2-40B4-BE49-F238E27FC236}">
                <a16:creationId xmlns:a16="http://schemas.microsoft.com/office/drawing/2014/main" id="{756E6855-DE3B-4846-BF01-2C9E089E998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654074" y="836387"/>
            <a:ext cx="1927248" cy="971550"/>
          </a:xfrm>
        </p:spPr>
        <p:txBody>
          <a:bodyPr rIns="432000">
            <a:normAutofit/>
          </a:bodyPr>
          <a:lstStyle>
            <a:lvl1pPr marL="0" indent="0" algn="r">
              <a:buNone/>
              <a:defRPr lang="fr-FR" altLang="ja-JP" sz="1600" b="0" i="0" smtClean="0">
                <a:solidFill>
                  <a:schemeClr val="bg2"/>
                </a:solidFill>
                <a:effectLst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5" name="テキスト プレースホルダー 13">
            <a:extLst>
              <a:ext uri="{FF2B5EF4-FFF2-40B4-BE49-F238E27FC236}">
                <a16:creationId xmlns:a16="http://schemas.microsoft.com/office/drawing/2014/main" id="{7E3360AC-1BFC-4F0A-8095-C5D5EB8EB0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10960" y="5571316"/>
            <a:ext cx="4170362" cy="252383"/>
          </a:xfrm>
        </p:spPr>
        <p:txBody>
          <a:bodyPr rIns="720000">
            <a:noAutofit/>
          </a:bodyPr>
          <a:lstStyle>
            <a:lvl1pPr marL="0" indent="0" algn="r">
              <a:buNone/>
              <a:defRPr lang="fr-FR" altLang="ja-JP" sz="1600" b="0" i="0" smtClean="0">
                <a:solidFill>
                  <a:schemeClr val="bg2"/>
                </a:solidFill>
                <a:effectLst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pic>
        <p:nvPicPr>
          <p:cNvPr id="17" name="グラフィックス 16" descr="月毎カレンダー">
            <a:extLst>
              <a:ext uri="{FF2B5EF4-FFF2-40B4-BE49-F238E27FC236}">
                <a16:creationId xmlns:a16="http://schemas.microsoft.com/office/drawing/2014/main" id="{5E31A6FF-0DE5-4C60-8E3B-463C3FE845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15846" y="5559521"/>
            <a:ext cx="252382" cy="252382"/>
          </a:xfrm>
          <a:prstGeom prst="rect">
            <a:avLst/>
          </a:prstGeom>
        </p:spPr>
      </p:pic>
      <p:pic>
        <p:nvPicPr>
          <p:cNvPr id="19" name="グラフィックス 18" descr="時計">
            <a:extLst>
              <a:ext uri="{FF2B5EF4-FFF2-40B4-BE49-F238E27FC236}">
                <a16:creationId xmlns:a16="http://schemas.microsoft.com/office/drawing/2014/main" id="{28888EC0-9C0C-4605-B734-4E086ECBDC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15846" y="5899863"/>
            <a:ext cx="264178" cy="264178"/>
          </a:xfrm>
          <a:prstGeom prst="rect">
            <a:avLst/>
          </a:prstGeom>
        </p:spPr>
      </p:pic>
      <p:sp>
        <p:nvSpPr>
          <p:cNvPr id="21" name="テキスト プレースホルダー 13">
            <a:extLst>
              <a:ext uri="{FF2B5EF4-FFF2-40B4-BE49-F238E27FC236}">
                <a16:creationId xmlns:a16="http://schemas.microsoft.com/office/drawing/2014/main" id="{A6FE1081-74EF-4DCD-9B6B-58AE4184E2F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0960" y="5911658"/>
            <a:ext cx="4170362" cy="252383"/>
          </a:xfrm>
        </p:spPr>
        <p:txBody>
          <a:bodyPr rIns="720000">
            <a:noAutofit/>
          </a:bodyPr>
          <a:lstStyle>
            <a:lvl1pPr marL="0" indent="0" algn="r">
              <a:buNone/>
              <a:defRPr lang="fr-FR" altLang="ja-JP" sz="1600" b="0" i="0" smtClean="0">
                <a:solidFill>
                  <a:schemeClr val="bg2"/>
                </a:solidFill>
                <a:effectLst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C0B036A8-3716-4984-BEA1-BFA05709FBD0}"/>
              </a:ext>
            </a:extLst>
          </p:cNvPr>
          <p:cNvSpPr/>
          <p:nvPr userDrawn="1"/>
        </p:nvSpPr>
        <p:spPr>
          <a:xfrm>
            <a:off x="410960" y="410960"/>
            <a:ext cx="4171308" cy="6036080"/>
          </a:xfrm>
          <a:prstGeom prst="roundRect">
            <a:avLst>
              <a:gd name="adj" fmla="val 312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2" name="グラフィックス 11" descr="月毎カレンダー">
            <a:extLst>
              <a:ext uri="{FF2B5EF4-FFF2-40B4-BE49-F238E27FC236}">
                <a16:creationId xmlns:a16="http://schemas.microsoft.com/office/drawing/2014/main" id="{16A5C23C-AC82-4AF1-ABCF-5DCF31229C8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15846" y="5559521"/>
            <a:ext cx="252382" cy="252382"/>
          </a:xfrm>
          <a:prstGeom prst="rect">
            <a:avLst/>
          </a:prstGeom>
        </p:spPr>
      </p:pic>
      <p:pic>
        <p:nvPicPr>
          <p:cNvPr id="13" name="グラフィックス 12" descr="時計">
            <a:extLst>
              <a:ext uri="{FF2B5EF4-FFF2-40B4-BE49-F238E27FC236}">
                <a16:creationId xmlns:a16="http://schemas.microsoft.com/office/drawing/2014/main" id="{B17CE49E-F1A4-4143-9EC2-B5F7EB71DDC5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15846" y="5899863"/>
            <a:ext cx="264178" cy="264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640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5A7BEB9-F351-4CB4-AC09-6557D41A1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情報科学ｃ</a:t>
            </a:r>
            <a:endParaRPr kumimoji="1" lang="ja-JP" altLang="en-US" dirty="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EB6A195E-2386-4B3E-8997-DB98D5D1E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7B90559-414D-440F-B60E-2E11609B0D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138EFE1-5047-4120-91D8-B38B928E2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Day6</a:t>
            </a:r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D083690-B423-4AB6-B70A-42FDB82CF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A0251-0B3B-4C1C-96DC-5D2833458A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76991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77BF5DC2-C09F-4ABA-8D58-1983792C8256}"/>
              </a:ext>
            </a:extLst>
          </p:cNvPr>
          <p:cNvSpPr/>
          <p:nvPr/>
        </p:nvSpPr>
        <p:spPr>
          <a:xfrm rot="5400000">
            <a:off x="1764236" y="1140425"/>
            <a:ext cx="4171308" cy="6036080"/>
          </a:xfrm>
          <a:prstGeom prst="roundRect">
            <a:avLst>
              <a:gd name="adj" fmla="val 312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D3C4C8B1-2AF8-4AD4-9335-90DBF3E411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bg2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A033B43-6246-4F8F-8EBC-97DFFE5362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5CDC6133-E775-4AC7-B0CB-06DA0590B50D}"/>
              </a:ext>
            </a:extLst>
          </p:cNvPr>
          <p:cNvCxnSpPr>
            <a:cxnSpLocks/>
          </p:cNvCxnSpPr>
          <p:nvPr/>
        </p:nvCxnSpPr>
        <p:spPr>
          <a:xfrm>
            <a:off x="831850" y="4551452"/>
            <a:ext cx="6036080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日付プレースホルダー 10">
            <a:extLst>
              <a:ext uri="{FF2B5EF4-FFF2-40B4-BE49-F238E27FC236}">
                <a16:creationId xmlns:a16="http://schemas.microsoft.com/office/drawing/2014/main" id="{A11DAC5A-3295-4699-B780-85682452D0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254483" y="6380253"/>
            <a:ext cx="929811" cy="479039"/>
          </a:xfrm>
          <a:noFill/>
        </p:spPr>
        <p:txBody>
          <a:bodyPr/>
          <a:lstStyle>
            <a:lvl1pPr>
              <a:defRPr sz="1200">
                <a:solidFill>
                  <a:schemeClr val="bg1">
                    <a:lumMod val="95000"/>
                  </a:schemeClr>
                </a:solidFill>
                <a:latin typeface="+mn-ea"/>
                <a:ea typeface="+mn-ea"/>
              </a:defRPr>
            </a:lvl1pPr>
          </a:lstStyle>
          <a:p>
            <a:r>
              <a:rPr lang="en-US" altLang="ja-JP"/>
              <a:t>Day6</a:t>
            </a:r>
            <a:endParaRPr lang="ja-JP" altLang="en-US" dirty="0"/>
          </a:p>
        </p:txBody>
      </p:sp>
      <p:sp>
        <p:nvSpPr>
          <p:cNvPr id="12" name="フッター プレースホルダー 11">
            <a:extLst>
              <a:ext uri="{FF2B5EF4-FFF2-40B4-BE49-F238E27FC236}">
                <a16:creationId xmlns:a16="http://schemas.microsoft.com/office/drawing/2014/main" id="{96B9B820-4BF8-4E49-AE82-B3E19219A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9811" y="6380253"/>
            <a:ext cx="10324672" cy="477747"/>
          </a:xfrm>
          <a:noFill/>
        </p:spPr>
        <p:txBody>
          <a:bodyPr vert="horz"/>
          <a:lstStyle>
            <a:lvl1pPr>
              <a:defRPr sz="1200">
                <a:solidFill>
                  <a:schemeClr val="bg1">
                    <a:lumMod val="95000"/>
                  </a:schemeClr>
                </a:solidFill>
                <a:latin typeface="+mn-ea"/>
                <a:ea typeface="+mn-ea"/>
              </a:defRPr>
            </a:lvl1pPr>
          </a:lstStyle>
          <a:p>
            <a:r>
              <a:rPr lang="ja-JP" altLang="en-US"/>
              <a:t>情報科学ｃ</a:t>
            </a:r>
            <a:endParaRPr lang="ja-JP" altLang="en-US" dirty="0"/>
          </a:p>
        </p:txBody>
      </p:sp>
      <p:sp>
        <p:nvSpPr>
          <p:cNvPr id="13" name="スライド番号プレースホルダー 12">
            <a:extLst>
              <a:ext uri="{FF2B5EF4-FFF2-40B4-BE49-F238E27FC236}">
                <a16:creationId xmlns:a16="http://schemas.microsoft.com/office/drawing/2014/main" id="{2971BC73-1BC4-492F-9655-EE928B531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1" y="6378961"/>
            <a:ext cx="929811" cy="479039"/>
          </a:xfrm>
          <a:noFill/>
        </p:spPr>
        <p:txBody>
          <a:bodyPr/>
          <a:lstStyle>
            <a:lvl1pPr>
              <a:defRPr sz="1200">
                <a:solidFill>
                  <a:schemeClr val="bg1">
                    <a:lumMod val="95000"/>
                  </a:schemeClr>
                </a:solidFill>
                <a:latin typeface="+mn-ea"/>
                <a:ea typeface="+mn-ea"/>
              </a:defRPr>
            </a:lvl1pPr>
          </a:lstStyle>
          <a:p>
            <a:fld id="{B4DA0251-0B3B-4C1C-96DC-5D2833458AB2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CBE2209A-34C2-442B-8860-AD934E3A55A7}"/>
              </a:ext>
            </a:extLst>
          </p:cNvPr>
          <p:cNvSpPr/>
          <p:nvPr userDrawn="1"/>
        </p:nvSpPr>
        <p:spPr>
          <a:xfrm rot="5400000">
            <a:off x="1764236" y="1140425"/>
            <a:ext cx="4171308" cy="6036080"/>
          </a:xfrm>
          <a:prstGeom prst="roundRect">
            <a:avLst>
              <a:gd name="adj" fmla="val 312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CA23B75A-ECFC-445D-BF95-D1227263344A}"/>
              </a:ext>
            </a:extLst>
          </p:cNvPr>
          <p:cNvCxnSpPr>
            <a:cxnSpLocks/>
          </p:cNvCxnSpPr>
          <p:nvPr userDrawn="1"/>
        </p:nvCxnSpPr>
        <p:spPr>
          <a:xfrm>
            <a:off x="831850" y="4551452"/>
            <a:ext cx="6036080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5036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9ABC7CE-F688-4A8F-BAF4-FE8FF46CA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情報科学ｃ</a:t>
            </a: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4791292F-7D3C-4B8B-8049-878DE3F89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FE0AD08-B9D5-4686-AE1E-5008D7F45E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942FC32-2173-41D7-A238-5C31D06F82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13C2DE7-212B-49F8-8F87-F24BBC55F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Day6</a:t>
            </a:r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3A0B284-F90B-4A8D-B496-EE9CCD660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A0251-0B3B-4C1C-96DC-5D2833458A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15240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96BA9B40-5515-453E-A67A-F1B4D4E1A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情報科学ｃ</a:t>
            </a: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58302A9B-D2C1-4740-A595-87B27EA26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E96EF2C-0AF8-4483-8381-18D47F489C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5D45F41-0A50-4141-B1FB-85C417B3AC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05319A25-B3C7-4A4C-9DBF-D8EEA02388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0DB0157E-EEB7-4D33-8037-E7E286F775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028037F7-7442-42BB-BB8C-C310F6EE0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Day6</a:t>
            </a:r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F7473174-C29E-4FF4-B05C-9F45D1DDE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A0251-0B3B-4C1C-96DC-5D2833458A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20881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39323D3-D052-407A-AE0F-D8C2F6888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情報科学ｃ</a:t>
            </a: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69D8392C-15E6-4570-AB43-D6B5BF72E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AC9DEACB-116C-4736-97EF-3B57F3E20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Day6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D4D71C1-D913-4D0E-82AD-25C6F5948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A0251-0B3B-4C1C-96DC-5D2833458A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4290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094BA8F-8DBE-475F-87FE-8ACFAF523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情報科学ｃ</a:t>
            </a:r>
          </a:p>
        </p:txBody>
      </p:sp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3CBFF62E-96EE-4231-B1C9-D65762717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Day6</a:t>
            </a:r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05E5E13-27C9-46C8-9CFD-7A34CEE82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A0251-0B3B-4C1C-96DC-5D2833458A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80272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440D56-CEEA-4384-A1F8-D367844FD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情報科学ｃ</a:t>
            </a: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C1E818FD-EA9B-4E48-99A9-10D41BF27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D5E8A80-BFAB-4C55-BB0E-3B1D036B1C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EBB79B4-7E3C-49BA-9702-8601BF27D5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825AD8E-F37B-488E-8604-699084B3C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Day6</a:t>
            </a:r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B955EC4-1391-42FE-9B3D-F421AD428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A0251-0B3B-4C1C-96DC-5D2833458A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06965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3B5C4C1-2FE9-4245-91D9-0138ABDB1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情報科学ｃ</a:t>
            </a: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381DB02F-0ACD-4339-A75B-8603B0E0C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A205EE95-5C39-4306-BCE1-DEC15EF1B3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1" lang="ja-JP" altLang="en-US"/>
              <a:t>アイコンをクリックして図を追加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F79E88F-F032-4489-B1F6-D566D70679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4384769-9FFF-4ABB-A0C9-9BB2275ABA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Day6</a:t>
            </a:r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19AC5CA-ADF8-4B9A-A407-0A3FC6B56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A0251-0B3B-4C1C-96DC-5D2833458A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95172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08E9B60-6531-4AE1-87CF-F0CE6851D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情報科学ｃ</a:t>
            </a: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49ABC920-F3A4-4B0A-8A1D-8D79027EB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8B12F9F-2130-47A7-A03E-1928F4E40E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F3A3FBC-7F96-4247-B1F2-82C0093CF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Day6</a:t>
            </a:r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F5CFDA1-7F5E-4F67-9B7F-AC642ECDD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A0251-0B3B-4C1C-96DC-5D2833458A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22182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AED7633-53D5-4CD9-B1F6-6F6F676EE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情報科学ｃ</a:t>
            </a:r>
          </a:p>
        </p:txBody>
      </p:sp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7C20FCA0-11BB-42EE-BB70-BEC254BB03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D2533B9-976C-4790-A744-E491A4D809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5344A12-C401-4D53-85D8-3F870823D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Day6</a:t>
            </a:r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F00D075-5891-480B-83A9-24F20CD1C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A0251-0B3B-4C1C-96DC-5D2833458A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71912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E0E47F28-DF72-47BF-B95C-73F8BC6F067A}"/>
              </a:ext>
            </a:extLst>
          </p:cNvPr>
          <p:cNvSpPr/>
          <p:nvPr userDrawn="1"/>
        </p:nvSpPr>
        <p:spPr>
          <a:xfrm>
            <a:off x="410960" y="410960"/>
            <a:ext cx="4171308" cy="6036080"/>
          </a:xfrm>
          <a:prstGeom prst="roundRect">
            <a:avLst>
              <a:gd name="adj" fmla="val 312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147F3A06-B3E9-484B-AA0D-25C8CD8D57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0960" y="410960"/>
            <a:ext cx="4171308" cy="2387600"/>
          </a:xfrm>
        </p:spPr>
        <p:txBody>
          <a:bodyPr lIns="432000" anchor="b">
            <a:noAutofit/>
          </a:bodyPr>
          <a:lstStyle>
            <a:lvl1pPr algn="l">
              <a:defRPr sz="7000">
                <a:solidFill>
                  <a:schemeClr val="bg2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A34F182-B301-4833-B201-025D8A7B9C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0960" y="3602038"/>
            <a:ext cx="4170362" cy="733198"/>
          </a:xfrm>
        </p:spPr>
        <p:txBody>
          <a:bodyPr lIns="432000"/>
          <a:lstStyle>
            <a:lvl1pPr marL="0" indent="0" algn="l">
              <a:buNone/>
              <a:defRPr sz="2400">
                <a:solidFill>
                  <a:schemeClr val="bg2"/>
                </a:solidFill>
                <a:latin typeface="+mj-ea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10" name="テキスト プレースホルダー 9">
            <a:extLst>
              <a:ext uri="{FF2B5EF4-FFF2-40B4-BE49-F238E27FC236}">
                <a16:creationId xmlns:a16="http://schemas.microsoft.com/office/drawing/2014/main" id="{5006FDE5-FCBF-4411-9C4A-44645957456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1163" y="2798763"/>
            <a:ext cx="4170362" cy="808037"/>
          </a:xfrm>
        </p:spPr>
        <p:txBody>
          <a:bodyPr lIns="432000" anchor="ctr" anchorCtr="0">
            <a:normAutofit/>
          </a:bodyPr>
          <a:lstStyle>
            <a:lvl1pPr marL="0" indent="0" algn="l">
              <a:buNone/>
              <a:defRPr sz="1400">
                <a:solidFill>
                  <a:schemeClr val="bg2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ja-JP" altLang="en-US" dirty="0"/>
          </a:p>
        </p:txBody>
      </p:sp>
      <p:sp>
        <p:nvSpPr>
          <p:cNvPr id="14" name="テキスト プレースホルダー 13">
            <a:extLst>
              <a:ext uri="{FF2B5EF4-FFF2-40B4-BE49-F238E27FC236}">
                <a16:creationId xmlns:a16="http://schemas.microsoft.com/office/drawing/2014/main" id="{756E6855-DE3B-4846-BF01-2C9E089E998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654074" y="836387"/>
            <a:ext cx="1927248" cy="971550"/>
          </a:xfrm>
        </p:spPr>
        <p:txBody>
          <a:bodyPr rIns="432000">
            <a:normAutofit/>
          </a:bodyPr>
          <a:lstStyle>
            <a:lvl1pPr marL="0" indent="0" algn="r">
              <a:buNone/>
              <a:defRPr lang="fr-FR" altLang="ja-JP" sz="1600" b="0" i="0" smtClean="0">
                <a:solidFill>
                  <a:schemeClr val="bg2"/>
                </a:solidFill>
                <a:effectLst/>
              </a:defRPr>
            </a:lvl1pPr>
          </a:lstStyle>
          <a:p>
            <a:pPr lvl="0"/>
            <a:endParaRPr kumimoji="1" lang="ja-JP" altLang="en-US" dirty="0"/>
          </a:p>
        </p:txBody>
      </p:sp>
      <p:sp>
        <p:nvSpPr>
          <p:cNvPr id="15" name="テキスト プレースホルダー 13">
            <a:extLst>
              <a:ext uri="{FF2B5EF4-FFF2-40B4-BE49-F238E27FC236}">
                <a16:creationId xmlns:a16="http://schemas.microsoft.com/office/drawing/2014/main" id="{7E3360AC-1BFC-4F0A-8095-C5D5EB8EB0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10960" y="5571316"/>
            <a:ext cx="4170362" cy="252383"/>
          </a:xfrm>
        </p:spPr>
        <p:txBody>
          <a:bodyPr rIns="720000">
            <a:noAutofit/>
          </a:bodyPr>
          <a:lstStyle>
            <a:lvl1pPr marL="0" indent="0" algn="r">
              <a:buNone/>
              <a:defRPr lang="fr-FR" altLang="ja-JP" sz="1600" b="0" i="0" smtClean="0">
                <a:solidFill>
                  <a:schemeClr val="bg2"/>
                </a:solidFill>
                <a:effectLst/>
              </a:defRPr>
            </a:lvl1pPr>
          </a:lstStyle>
          <a:p>
            <a:pPr lvl="0"/>
            <a:endParaRPr kumimoji="1" lang="ja-JP" altLang="en-US" dirty="0"/>
          </a:p>
        </p:txBody>
      </p:sp>
      <p:pic>
        <p:nvPicPr>
          <p:cNvPr id="17" name="グラフィックス 16" descr="月毎カレンダー">
            <a:extLst>
              <a:ext uri="{FF2B5EF4-FFF2-40B4-BE49-F238E27FC236}">
                <a16:creationId xmlns:a16="http://schemas.microsoft.com/office/drawing/2014/main" id="{5E31A6FF-0DE5-4C60-8E3B-463C3FE845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15846" y="5559521"/>
            <a:ext cx="252382" cy="252382"/>
          </a:xfrm>
          <a:prstGeom prst="rect">
            <a:avLst/>
          </a:prstGeom>
        </p:spPr>
      </p:pic>
      <p:pic>
        <p:nvPicPr>
          <p:cNvPr id="19" name="グラフィックス 18" descr="時計">
            <a:extLst>
              <a:ext uri="{FF2B5EF4-FFF2-40B4-BE49-F238E27FC236}">
                <a16:creationId xmlns:a16="http://schemas.microsoft.com/office/drawing/2014/main" id="{28888EC0-9C0C-4605-B734-4E086ECBDC0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15846" y="5899863"/>
            <a:ext cx="264178" cy="264178"/>
          </a:xfrm>
          <a:prstGeom prst="rect">
            <a:avLst/>
          </a:prstGeom>
        </p:spPr>
      </p:pic>
      <p:sp>
        <p:nvSpPr>
          <p:cNvPr id="21" name="テキスト プレースホルダー 13">
            <a:extLst>
              <a:ext uri="{FF2B5EF4-FFF2-40B4-BE49-F238E27FC236}">
                <a16:creationId xmlns:a16="http://schemas.microsoft.com/office/drawing/2014/main" id="{A6FE1081-74EF-4DCD-9B6B-58AE4184E2F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0960" y="5911658"/>
            <a:ext cx="4170362" cy="252383"/>
          </a:xfrm>
        </p:spPr>
        <p:txBody>
          <a:bodyPr rIns="720000">
            <a:noAutofit/>
          </a:bodyPr>
          <a:lstStyle>
            <a:lvl1pPr marL="0" indent="0" algn="r">
              <a:buNone/>
              <a:defRPr lang="fr-FR" altLang="ja-JP" sz="1600" b="0" i="0" smtClean="0">
                <a:solidFill>
                  <a:schemeClr val="bg2"/>
                </a:solidFill>
                <a:effectLst/>
              </a:defRPr>
            </a:lvl1pPr>
          </a:lstStyle>
          <a:p>
            <a:pPr lvl="0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852048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EA4DF46-83CA-4961-801C-3A24B88A31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0" y="0"/>
            <a:ext cx="838200" cy="6858000"/>
          </a:xfrm>
          <a:prstGeom prst="rect">
            <a:avLst/>
          </a:prstGeom>
          <a:solidFill>
            <a:schemeClr val="tx2"/>
          </a:solidFill>
        </p:spPr>
        <p:txBody>
          <a:bodyPr vert="eaVert" lIns="91440" tIns="45720" rIns="91440" bIns="45720" rtlCol="0" anchor="ctr" anchorCtr="1"/>
          <a:lstStyle>
            <a:lvl1pPr algn="ctr">
              <a:defRPr sz="4800">
                <a:solidFill>
                  <a:schemeClr val="bg2"/>
                </a:solidFill>
                <a:latin typeface="+mj-ea"/>
                <a:ea typeface="+mj-ea"/>
              </a:defRPr>
            </a:lvl1pPr>
          </a:lstStyle>
          <a:p>
            <a:r>
              <a:rPr lang="ja-JP" altLang="en-US"/>
              <a:t>情報科学ｃ</a:t>
            </a:r>
            <a:endParaRPr lang="ja-JP" altLang="en-US" dirty="0"/>
          </a:p>
        </p:txBody>
      </p:sp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3B023398-9735-40FB-A1FF-7FF9FE1B5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5270" y="365125"/>
            <a:ext cx="999852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442B6D4-B4E5-4551-8273-E901634803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55270" y="1825625"/>
            <a:ext cx="999853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15E206F-13E2-416D-8551-770892109D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5811838"/>
            <a:ext cx="838200" cy="365125"/>
          </a:xfrm>
          <a:prstGeom prst="rect">
            <a:avLst/>
          </a:prstGeom>
          <a:solidFill>
            <a:schemeClr val="bg2"/>
          </a:solidFill>
        </p:spPr>
        <p:txBody>
          <a:bodyPr vert="horz" lIns="91440" tIns="45720" rIns="91440" bIns="45720" rtlCol="0" anchor="ctr" anchorCtr="1"/>
          <a:lstStyle>
            <a:lvl1pPr algn="l">
              <a:defRPr sz="16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altLang="ja-JP"/>
              <a:t>Day6</a:t>
            </a:r>
            <a:endParaRPr lang="ja-JP" alt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87E8EED-E703-4D93-9948-8F9A5AACE3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176963"/>
            <a:ext cx="838200" cy="681037"/>
          </a:xfrm>
          <a:prstGeom prst="rect">
            <a:avLst/>
          </a:prstGeom>
        </p:spPr>
        <p:txBody>
          <a:bodyPr vert="horz" lIns="91440" tIns="45720" rIns="91440" bIns="45720" rtlCol="0" anchor="ctr" anchorCtr="1"/>
          <a:lstStyle>
            <a:lvl1pPr algn="r">
              <a:defRPr sz="2000">
                <a:solidFill>
                  <a:schemeClr val="bg2"/>
                </a:solidFill>
                <a:latin typeface="+mj-ea"/>
                <a:ea typeface="+mj-ea"/>
              </a:defRPr>
            </a:lvl1pPr>
          </a:lstStyle>
          <a:p>
            <a:fld id="{B4DA0251-0B3B-4C1C-96DC-5D2833458AB2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748388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9DFE74A-92E8-4E4E-AF1C-A28EB01DDFB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 dirty="0"/>
              <a:t>情報</a:t>
            </a:r>
            <a:br>
              <a:rPr kumimoji="1" lang="ja-JP" altLang="en-US" dirty="0"/>
            </a:br>
            <a:r>
              <a:rPr kumimoji="1" lang="ja-JP" altLang="en-US" dirty="0"/>
              <a:t>科学Ｃ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4BFF62C0-83E8-4BAB-B39E-0A7A68E393E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kumimoji="1" lang="ja-JP" altLang="en-US" sz="3300" dirty="0"/>
              <a:t>横山昌平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4E7356E-CCD3-482D-B0A7-45E57E7C835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kumimoji="1" lang="en-US" altLang="ja-JP" sz="1550" dirty="0"/>
              <a:t>Computer Science C</a:t>
            </a:r>
            <a:endParaRPr kumimoji="1" lang="ja-JP" altLang="en-US" sz="1550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2EFD8162-4AA4-485E-A91A-6B1886208AC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pPr>
              <a:lnSpc>
                <a:spcPts val="1600"/>
              </a:lnSpc>
            </a:pPr>
            <a:r>
              <a:rPr kumimoji="1" lang="en-US" altLang="ja-JP" dirty="0"/>
              <a:t>LG080A01</a:t>
            </a:r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0B8957ED-CA55-49F7-84D2-0D8EE491D6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Autofit/>
          </a:bodyPr>
          <a:lstStyle/>
          <a:p>
            <a:r>
              <a:rPr lang="ja-JP" altLang="en-US" dirty="0"/>
              <a:t>第１ターム</a:t>
            </a:r>
            <a:r>
              <a:rPr kumimoji="1" lang="ja-JP" altLang="en-US" dirty="0"/>
              <a:t>・水曜日</a:t>
            </a:r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E0E9AF57-5F2F-46AF-BC5E-4847C5465F9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Autofit/>
          </a:bodyPr>
          <a:lstStyle/>
          <a:p>
            <a:r>
              <a:rPr kumimoji="1" lang="ja-JP" altLang="en-US" dirty="0"/>
              <a:t>五時限目</a:t>
            </a:r>
          </a:p>
        </p:txBody>
      </p:sp>
    </p:spTree>
    <p:extLst>
      <p:ext uri="{BB962C8B-B14F-4D97-AF65-F5344CB8AC3E}">
        <p14:creationId xmlns:p14="http://schemas.microsoft.com/office/powerpoint/2010/main" val="26143966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028875D5-3151-4F32-B162-8E5885CCE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情報科学ｃ</a:t>
            </a:r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ADDAA8EA-7FBB-4F2E-91EB-63E6329C1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2025</a:t>
            </a:r>
            <a:r>
              <a:rPr lang="ja-JP" altLang="en-US" dirty="0"/>
              <a:t>年度 講義日程</a:t>
            </a:r>
            <a:endParaRPr kumimoji="1" lang="ja-JP" altLang="en-US" dirty="0"/>
          </a:p>
        </p:txBody>
      </p:sp>
      <p:graphicFrame>
        <p:nvGraphicFramePr>
          <p:cNvPr id="11" name="表 11">
            <a:extLst>
              <a:ext uri="{FF2B5EF4-FFF2-40B4-BE49-F238E27FC236}">
                <a16:creationId xmlns:a16="http://schemas.microsoft.com/office/drawing/2014/main" id="{B9D9CDA9-57A4-4499-80A3-E4FDBFD7FF4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03789143"/>
              </p:ext>
            </p:extLst>
          </p:nvPr>
        </p:nvGraphicFramePr>
        <p:xfrm>
          <a:off x="1047699" y="1690688"/>
          <a:ext cx="10306101" cy="3708400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781655">
                  <a:extLst>
                    <a:ext uri="{9D8B030D-6E8A-4147-A177-3AD203B41FA5}">
                      <a16:colId xmlns:a16="http://schemas.microsoft.com/office/drawing/2014/main" val="2758299451"/>
                    </a:ext>
                  </a:extLst>
                </a:gridCol>
                <a:gridCol w="724650">
                  <a:extLst>
                    <a:ext uri="{9D8B030D-6E8A-4147-A177-3AD203B41FA5}">
                      <a16:colId xmlns:a16="http://schemas.microsoft.com/office/drawing/2014/main" val="308317790"/>
                    </a:ext>
                  </a:extLst>
                </a:gridCol>
                <a:gridCol w="4274025">
                  <a:extLst>
                    <a:ext uri="{9D8B030D-6E8A-4147-A177-3AD203B41FA5}">
                      <a16:colId xmlns:a16="http://schemas.microsoft.com/office/drawing/2014/main" val="348952505"/>
                    </a:ext>
                  </a:extLst>
                </a:gridCol>
                <a:gridCol w="4525771">
                  <a:extLst>
                    <a:ext uri="{9D8B030D-6E8A-4147-A177-3AD203B41FA5}">
                      <a16:colId xmlns:a16="http://schemas.microsoft.com/office/drawing/2014/main" val="24784835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#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600" dirty="0"/>
                        <a:t>日時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600" dirty="0"/>
                        <a:t>講義</a:t>
                      </a:r>
                      <a:r>
                        <a:rPr kumimoji="1" lang="en-US" altLang="ja-JP" sz="1600" dirty="0"/>
                        <a:t>(</a:t>
                      </a:r>
                      <a:r>
                        <a:rPr kumimoji="1" lang="ja-JP" altLang="en-US" sz="1600" dirty="0"/>
                        <a:t>演習</a:t>
                      </a:r>
                      <a:r>
                        <a:rPr kumimoji="1" lang="en-US" altLang="ja-JP" sz="1600" dirty="0"/>
                        <a:t>)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600" dirty="0"/>
                        <a:t>宿題</a:t>
                      </a:r>
                      <a:r>
                        <a:rPr kumimoji="1" lang="en-US" altLang="ja-JP" sz="1600" dirty="0"/>
                        <a:t>(</a:t>
                      </a:r>
                      <a:r>
                        <a:rPr kumimoji="1" lang="ja-JP" altLang="en-US" sz="1600" dirty="0"/>
                        <a:t>予習</a:t>
                      </a:r>
                      <a:r>
                        <a:rPr kumimoji="1" lang="en-US" altLang="ja-JP" sz="1600" dirty="0"/>
                        <a:t>)</a:t>
                      </a:r>
                      <a:endParaRPr kumimoji="1" lang="ja-JP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83925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Day 1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4/16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600" dirty="0"/>
                        <a:t>ガイダンス＆</a:t>
                      </a:r>
                      <a:r>
                        <a:rPr kumimoji="1" lang="en-US" altLang="ja-JP" sz="1600" dirty="0"/>
                        <a:t>Google </a:t>
                      </a:r>
                      <a:r>
                        <a:rPr kumimoji="1" lang="en-US" altLang="ja-JP" sz="1600" dirty="0" err="1"/>
                        <a:t>Colab</a:t>
                      </a:r>
                      <a:r>
                        <a:rPr kumimoji="1" lang="ja-JP" altLang="en-US" sz="1600" dirty="0"/>
                        <a:t>に触ってみる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600" dirty="0"/>
                        <a:t>リテラル／データ構造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54049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Day 2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4/23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dirty="0"/>
                        <a:t>複雑なデータ構造作成</a:t>
                      </a:r>
                      <a:r>
                        <a:rPr kumimoji="1" lang="ja-JP" altLang="en-US" sz="1600" dirty="0">
                          <a:solidFill>
                            <a:schemeClr val="accent5"/>
                          </a:solidFill>
                        </a:rPr>
                        <a:t>演習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600" dirty="0"/>
                        <a:t>演算子／制御構文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18786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Day 3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4/30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dirty="0"/>
                        <a:t>辞書型データの検索・ソート</a:t>
                      </a:r>
                      <a:r>
                        <a:rPr kumimoji="1" lang="ja-JP" altLang="en-US" sz="1600" dirty="0">
                          <a:solidFill>
                            <a:schemeClr val="accent5"/>
                          </a:solidFill>
                        </a:rPr>
                        <a:t>演習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dirty="0"/>
                        <a:t>関数／ラムダ式／オブジェクト指向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3283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Day 4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5/07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600" dirty="0"/>
                        <a:t>継承と差分プログラミング</a:t>
                      </a:r>
                      <a:r>
                        <a:rPr kumimoji="1" lang="ja-JP" altLang="en-US" sz="1600" dirty="0">
                          <a:solidFill>
                            <a:schemeClr val="accent5"/>
                          </a:solidFill>
                        </a:rPr>
                        <a:t>演習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600" dirty="0"/>
                        <a:t>数値処理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50232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Day 5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5/14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dirty="0"/>
                        <a:t>前回成果のお披露目会と可視化</a:t>
                      </a:r>
                      <a:r>
                        <a:rPr kumimoji="1" lang="en-US" altLang="ja-JP" sz="1600" dirty="0"/>
                        <a:t>(</a:t>
                      </a:r>
                      <a:r>
                        <a:rPr kumimoji="1" lang="ja-JP" altLang="en-US" sz="1600" dirty="0"/>
                        <a:t>ノック</a:t>
                      </a:r>
                      <a:r>
                        <a:rPr kumimoji="1" lang="en-US" altLang="ja-JP" sz="1600" dirty="0"/>
                        <a:t>)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dirty="0"/>
                        <a:t>＜お休み＞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36089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Day 6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5/21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dirty="0"/>
                        <a:t>数値処理と可視化</a:t>
                      </a:r>
                      <a:r>
                        <a:rPr kumimoji="1" lang="ja-JP" altLang="en-US" sz="1600" dirty="0">
                          <a:solidFill>
                            <a:schemeClr val="accent5"/>
                          </a:solidFill>
                        </a:rPr>
                        <a:t>演習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600" dirty="0"/>
                        <a:t>機械学習の様々なアルゴリズム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81324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Day 7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5/28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dirty="0"/>
                        <a:t>機械学習・深層学習</a:t>
                      </a:r>
                      <a:r>
                        <a:rPr kumimoji="1" lang="ja-JP" altLang="en-US" sz="1600" dirty="0">
                          <a:solidFill>
                            <a:schemeClr val="accent5"/>
                          </a:solidFill>
                        </a:rPr>
                        <a:t>演習</a:t>
                      </a:r>
                      <a:r>
                        <a:rPr kumimoji="1" lang="ja-JP" altLang="en-US" sz="1600" dirty="0">
                          <a:solidFill>
                            <a:schemeClr val="accent1"/>
                          </a:solidFill>
                        </a:rPr>
                        <a:t>＋最終レポート出題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dirty="0"/>
                        <a:t>＜お休み＞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57504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Day 8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6/04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dirty="0"/>
                        <a:t>深層学習</a:t>
                      </a:r>
                      <a:r>
                        <a:rPr kumimoji="1" lang="ja-JP" altLang="en-US" sz="1600" dirty="0">
                          <a:solidFill>
                            <a:schemeClr val="accent5"/>
                          </a:solidFill>
                        </a:rPr>
                        <a:t>演習</a:t>
                      </a:r>
                      <a:endParaRPr kumimoji="1" lang="en-US" altLang="ja-JP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600" dirty="0"/>
                        <a:t>(</a:t>
                      </a:r>
                      <a:r>
                        <a:rPr kumimoji="1" lang="ja-JP" altLang="en-US" sz="1600" dirty="0"/>
                        <a:t>生成</a:t>
                      </a:r>
                      <a:r>
                        <a:rPr kumimoji="1" lang="en-US" altLang="ja-JP" sz="1600" dirty="0"/>
                        <a:t>AI)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77703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Day 9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6/18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600" dirty="0"/>
                        <a:t>(</a:t>
                      </a:r>
                      <a:r>
                        <a:rPr kumimoji="1" lang="ja-JP" altLang="en-US" sz="1600" dirty="0"/>
                        <a:t>生成</a:t>
                      </a:r>
                      <a:r>
                        <a:rPr kumimoji="1" lang="en-US" altLang="ja-JP" sz="1600" dirty="0"/>
                        <a:t>AI</a:t>
                      </a:r>
                      <a:r>
                        <a:rPr kumimoji="1" lang="ja-JP" altLang="en-US" sz="1600" dirty="0">
                          <a:solidFill>
                            <a:schemeClr val="accent5"/>
                          </a:solidFill>
                        </a:rPr>
                        <a:t>演習</a:t>
                      </a:r>
                      <a:r>
                        <a:rPr kumimoji="1" lang="en-US" altLang="ja-JP" sz="160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dirty="0"/>
                        <a:t>最終レポート</a:t>
                      </a:r>
                      <a:r>
                        <a:rPr kumimoji="1" lang="en-US" altLang="ja-JP" sz="1600" dirty="0"/>
                        <a:t>(</a:t>
                      </a:r>
                      <a:r>
                        <a:rPr kumimoji="1" lang="ja-JP" altLang="en-US" sz="1600" dirty="0"/>
                        <a:t>期限</a:t>
                      </a:r>
                      <a:r>
                        <a:rPr kumimoji="1" lang="en-US" altLang="ja-JP" sz="1600" dirty="0"/>
                        <a:t>6</a:t>
                      </a:r>
                      <a:r>
                        <a:rPr kumimoji="1" lang="ja-JP" altLang="en-US" sz="1600" dirty="0"/>
                        <a:t>月末</a:t>
                      </a:r>
                      <a:r>
                        <a:rPr kumimoji="1" lang="en-US" altLang="ja-JP" sz="1600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8971788"/>
                  </a:ext>
                </a:extLst>
              </a:tr>
            </a:tbl>
          </a:graphicData>
        </a:graphic>
      </p:graphicFrame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C8C59E9-E7E3-48FF-903C-F87318E42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Day6</a:t>
            </a:r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F22205E-8A53-4437-90B8-E8B58C218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A0251-0B3B-4C1C-96DC-5D2833458AB2}" type="slidenum">
              <a:rPr kumimoji="1" lang="ja-JP" altLang="en-US" smtClean="0"/>
              <a:t>2</a:t>
            </a:fld>
            <a:endParaRPr kumimoji="1" lang="ja-JP" altLang="en-US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69953FC1-7C30-4DA7-BCEC-C1E2ECA25E08}"/>
              </a:ext>
            </a:extLst>
          </p:cNvPr>
          <p:cNvSpPr txBox="1"/>
          <p:nvPr/>
        </p:nvSpPr>
        <p:spPr>
          <a:xfrm>
            <a:off x="1047699" y="5661878"/>
            <a:ext cx="107813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SzPct val="130000"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ja-JP" altLang="en-US" sz="2400" dirty="0"/>
              <a:t>内容は進捗に応じて適宜変更する。</a:t>
            </a:r>
            <a:endParaRPr lang="en-US" altLang="ja-JP" sz="2400" dirty="0"/>
          </a:p>
          <a:p>
            <a:pPr marL="285750" indent="-285750">
              <a:buSzPct val="130000"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ja-JP" altLang="en-US" sz="2400" dirty="0"/>
              <a:t>本講義は演習を織り交ぜて行うので</a:t>
            </a:r>
            <a:r>
              <a:rPr lang="en-US" altLang="ja-JP" sz="2400" dirty="0"/>
              <a:t>PC</a:t>
            </a:r>
            <a:r>
              <a:rPr lang="ja-JP" altLang="en-US" sz="2400" dirty="0"/>
              <a:t>を持ってくること。</a:t>
            </a:r>
          </a:p>
        </p:txBody>
      </p:sp>
    </p:spTree>
    <p:extLst>
      <p:ext uri="{BB962C8B-B14F-4D97-AF65-F5344CB8AC3E}">
        <p14:creationId xmlns:p14="http://schemas.microsoft.com/office/powerpoint/2010/main" val="2174229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06511F-53A8-396C-6862-814FA6BEE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A6E4985F-84D3-D7A0-592C-CBD4DE20A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情報科学Ｃ</a:t>
            </a:r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848FF1D5-1A9A-5434-D395-7F717BD219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最終課題　データサイエンス演習</a:t>
            </a:r>
            <a:endParaRPr kumimoji="1" lang="ja-JP" altLang="en-US" sz="2400" dirty="0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5F6FC058-ADD1-6E62-5D13-97AFAED19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情報科学ｃ</a:t>
            </a:r>
            <a:endParaRPr kumimoji="1" lang="ja-JP" altLang="en-US" dirty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F6F0C91-6E35-6487-68E0-EF73E7D42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ja-JP"/>
              <a:t>p.</a:t>
            </a:r>
            <a:fld id="{71584EDF-536B-41D0-946E-780F35A2C473}" type="slidenum">
              <a:rPr lang="ja-JP" altLang="en-US" smtClean="0"/>
              <a:pPr/>
              <a:t>3</a:t>
            </a:fld>
            <a:endParaRPr lang="ja-JP" altLang="en-US" dirty="0"/>
          </a:p>
        </p:txBody>
      </p:sp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284E3664-693C-6D9A-312E-B70646684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ja-JP"/>
              <a:t>Day6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748064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8527F9A-E697-CB8C-B808-5485063DA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ja-JP" altLang="en-US"/>
              <a:t>情報科学ｃ</a:t>
            </a:r>
            <a:endParaRPr lang="ja-JP" altLang="en-US" dirty="0"/>
          </a:p>
        </p:txBody>
      </p:sp>
      <p:sp>
        <p:nvSpPr>
          <p:cNvPr id="7" name="タイトル 6">
            <a:extLst>
              <a:ext uri="{FF2B5EF4-FFF2-40B4-BE49-F238E27FC236}">
                <a16:creationId xmlns:a16="http://schemas.microsoft.com/office/drawing/2014/main" id="{B0807257-1995-5A86-37D4-459A0766F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最終課題：データサイエンス演習</a:t>
            </a:r>
          </a:p>
        </p:txBody>
      </p:sp>
      <p:sp>
        <p:nvSpPr>
          <p:cNvPr id="8" name="コンテンツ プレースホルダー 7">
            <a:extLst>
              <a:ext uri="{FF2B5EF4-FFF2-40B4-BE49-F238E27FC236}">
                <a16:creationId xmlns:a16="http://schemas.microsoft.com/office/drawing/2014/main" id="{92343428-E599-A96E-80DB-14A7F046F9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55269" y="1825625"/>
            <a:ext cx="10169193" cy="4351338"/>
          </a:xfrm>
        </p:spPr>
        <p:txBody>
          <a:bodyPr>
            <a:normAutofit lnSpcReduction="10000"/>
          </a:bodyPr>
          <a:lstStyle/>
          <a:p>
            <a:r>
              <a:rPr lang="ja-JP" altLang="en-US" dirty="0"/>
              <a:t>期限：</a:t>
            </a:r>
            <a:r>
              <a:rPr lang="en-US" altLang="ja-JP" dirty="0"/>
              <a:t>6</a:t>
            </a:r>
            <a:r>
              <a:rPr lang="ja-JP" altLang="en-US" dirty="0"/>
              <a:t>月末日　</a:t>
            </a:r>
            <a:r>
              <a:rPr lang="en-US" altLang="ja-JP" dirty="0"/>
              <a:t>Classroom</a:t>
            </a:r>
            <a:r>
              <a:rPr lang="ja-JP" altLang="en-US" dirty="0"/>
              <a:t>経由で提出</a:t>
            </a:r>
            <a:endParaRPr lang="en-US" altLang="ja-JP" dirty="0"/>
          </a:p>
          <a:p>
            <a:r>
              <a:rPr lang="ja-JP" altLang="en-US" dirty="0"/>
              <a:t>実データに対して機械学習を使った上で結果を可視化する</a:t>
            </a:r>
          </a:p>
          <a:p>
            <a:pPr lvl="1"/>
            <a:r>
              <a:rPr lang="ja-JP" altLang="en-US" dirty="0"/>
              <a:t>実データは統計データでも身の回りのデータでも構いません</a:t>
            </a:r>
          </a:p>
          <a:p>
            <a:pPr lvl="1"/>
            <a:r>
              <a:rPr lang="ja-JP" altLang="en-US" dirty="0"/>
              <a:t>生成</a:t>
            </a:r>
            <a:r>
              <a:rPr lang="en-US" altLang="ja-JP" dirty="0"/>
              <a:t>AI</a:t>
            </a:r>
            <a:r>
              <a:rPr lang="ja-JP" altLang="en-US" dirty="0"/>
              <a:t>でのデータは避けてください。</a:t>
            </a:r>
          </a:p>
          <a:p>
            <a:pPr lvl="1"/>
            <a:r>
              <a:rPr lang="ja-JP" altLang="en-US" dirty="0"/>
              <a:t>データをこねくり回すのではなく意味のある知見の発見をめざす</a:t>
            </a:r>
          </a:p>
          <a:p>
            <a:r>
              <a:rPr lang="ja-JP" altLang="en-US" dirty="0"/>
              <a:t>チェックリスト</a:t>
            </a:r>
          </a:p>
          <a:p>
            <a:pPr lvl="1">
              <a:buFont typeface="Wingdings" panose="05000000000000000000" pitchFamily="2" charset="2"/>
              <a:buChar char="p"/>
            </a:pPr>
            <a:r>
              <a:rPr lang="en-US" altLang="ja-JP" dirty="0"/>
              <a:t>NumPy</a:t>
            </a:r>
            <a:r>
              <a:rPr lang="ja-JP" altLang="en-US" dirty="0"/>
              <a:t>をつかう</a:t>
            </a:r>
            <a:r>
              <a:rPr lang="en-US" altLang="ja-JP" dirty="0"/>
              <a:t>(</a:t>
            </a:r>
            <a:r>
              <a:rPr lang="ja-JP" altLang="en-US" dirty="0"/>
              <a:t>必須</a:t>
            </a:r>
            <a:r>
              <a:rPr lang="en-US" altLang="ja-JP" dirty="0"/>
              <a:t>)</a:t>
            </a:r>
          </a:p>
          <a:p>
            <a:pPr lvl="1">
              <a:buFont typeface="Wingdings" panose="05000000000000000000" pitchFamily="2" charset="2"/>
              <a:buChar char="p"/>
            </a:pPr>
            <a:r>
              <a:rPr lang="en-US" altLang="ja-JP" dirty="0"/>
              <a:t>Pandas</a:t>
            </a:r>
            <a:r>
              <a:rPr lang="ja-JP" altLang="en-US" dirty="0"/>
              <a:t>をつかう</a:t>
            </a:r>
          </a:p>
          <a:p>
            <a:pPr lvl="1">
              <a:buFont typeface="Wingdings" panose="05000000000000000000" pitchFamily="2" charset="2"/>
              <a:buChar char="p"/>
            </a:pPr>
            <a:r>
              <a:rPr lang="en-US" altLang="ja-JP" dirty="0"/>
              <a:t>Matplotlib</a:t>
            </a:r>
            <a:r>
              <a:rPr lang="ja-JP" altLang="en-US" dirty="0"/>
              <a:t>あるいはそれより高度な可視化ライブラリを使う</a:t>
            </a:r>
            <a:r>
              <a:rPr lang="en-US" altLang="ja-JP" dirty="0"/>
              <a:t>(</a:t>
            </a:r>
            <a:r>
              <a:rPr lang="ja-JP" altLang="en-US" dirty="0"/>
              <a:t>必須</a:t>
            </a:r>
            <a:r>
              <a:rPr lang="en-US" altLang="ja-JP" dirty="0"/>
              <a:t>)</a:t>
            </a:r>
            <a:endParaRPr lang="ja-JP" altLang="en-US" dirty="0"/>
          </a:p>
          <a:p>
            <a:pPr lvl="1">
              <a:buFont typeface="Wingdings" panose="05000000000000000000" pitchFamily="2" charset="2"/>
              <a:buChar char="p"/>
            </a:pPr>
            <a:r>
              <a:rPr lang="ja-JP" altLang="en-US" dirty="0"/>
              <a:t>機械学習を使う</a:t>
            </a:r>
            <a:r>
              <a:rPr lang="en-US" altLang="ja-JP" dirty="0"/>
              <a:t>(</a:t>
            </a:r>
            <a:r>
              <a:rPr lang="ja-JP" altLang="en-US" dirty="0"/>
              <a:t>優・秀をめざすなら必須</a:t>
            </a:r>
            <a:r>
              <a:rPr lang="en-US" altLang="ja-JP" dirty="0"/>
              <a:t>)</a:t>
            </a:r>
            <a:endParaRPr lang="ja-JP" altLang="en-US" dirty="0"/>
          </a:p>
          <a:p>
            <a:pPr lvl="1">
              <a:buFont typeface="Wingdings" panose="05000000000000000000" pitchFamily="2" charset="2"/>
              <a:buChar char="p"/>
            </a:pPr>
            <a:r>
              <a:rPr lang="ja-JP" altLang="en-US" dirty="0"/>
              <a:t>プラスアルファがある</a:t>
            </a:r>
            <a:r>
              <a:rPr lang="en-US" altLang="ja-JP" dirty="0"/>
              <a:t>(</a:t>
            </a:r>
            <a:r>
              <a:rPr lang="ja-JP" altLang="en-US" dirty="0"/>
              <a:t>優・秀をめざすなら必須</a:t>
            </a:r>
            <a:r>
              <a:rPr lang="en-US" altLang="ja-JP" dirty="0"/>
              <a:t>)</a:t>
            </a:r>
          </a:p>
          <a:p>
            <a:pPr lvl="1">
              <a:buFont typeface="Wingdings" panose="05000000000000000000" pitchFamily="2" charset="2"/>
              <a:buChar char="p"/>
            </a:pPr>
            <a:endParaRPr lang="ja-JP" altLang="en-US" dirty="0"/>
          </a:p>
          <a:p>
            <a:pPr lvl="1">
              <a:buFont typeface="Wingdings" panose="05000000000000000000" pitchFamily="2" charset="2"/>
              <a:buChar char="p"/>
            </a:pPr>
            <a:endParaRPr lang="ja-JP" altLang="en-US" dirty="0"/>
          </a:p>
          <a:p>
            <a:pPr lvl="1"/>
            <a:endParaRPr lang="ja-JP" altLang="en-US" dirty="0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1CF2DAD-98E5-84F6-AA9E-22E930744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ja-JP" dirty="0"/>
              <a:t>Day6</a:t>
            </a:r>
            <a:endParaRPr lang="ja-JP" alt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7A41D80-B9B7-4A36-DD2F-01EEF8CAF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A0251-0B3B-4C1C-96DC-5D2833458AB2}" type="slidenum">
              <a:rPr lang="ja-JP" altLang="en-US" smtClean="0"/>
              <a:pPr/>
              <a:t>4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375068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11B88A-756A-8C27-B32F-01E683510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9C18B763-0475-78FE-A8A2-84DB99AFE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情報科学Ｃ</a:t>
            </a:r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71643E4A-F817-C4F4-6376-C1A7E11C66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第６回　</a:t>
            </a:r>
            <a:r>
              <a:rPr kumimoji="1" lang="ja-JP" altLang="en-US" sz="2400" dirty="0"/>
              <a:t>数値処理と可視化演習</a:t>
            </a:r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DF7172A-BF2F-971C-4C78-E6AF45192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情報科学ｃ</a:t>
            </a:r>
            <a:endParaRPr kumimoji="1" lang="ja-JP" altLang="en-US" dirty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83C0C92-E4BC-74D9-F085-3343F4542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ja-JP"/>
              <a:t>p.</a:t>
            </a:r>
            <a:fld id="{71584EDF-536B-41D0-946E-780F35A2C473}" type="slidenum">
              <a:rPr lang="ja-JP" altLang="en-US" smtClean="0"/>
              <a:pPr/>
              <a:t>5</a:t>
            </a:fld>
            <a:endParaRPr lang="ja-JP" altLang="en-US" dirty="0"/>
          </a:p>
        </p:txBody>
      </p:sp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CA7D10DA-4F17-19BF-669E-FFACEE0CC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ja-JP"/>
              <a:t>Day6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030669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8E886D1-E4AA-933F-A8BC-2E3D3A7F3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ja-JP" altLang="en-US"/>
              <a:t>情報科学ｃ</a:t>
            </a:r>
            <a:endParaRPr lang="ja-JP" altLang="en-US" dirty="0"/>
          </a:p>
        </p:txBody>
      </p:sp>
      <p:sp>
        <p:nvSpPr>
          <p:cNvPr id="7" name="タイトル 6">
            <a:extLst>
              <a:ext uri="{FF2B5EF4-FFF2-40B4-BE49-F238E27FC236}">
                <a16:creationId xmlns:a16="http://schemas.microsoft.com/office/drawing/2014/main" id="{6329AF7C-0C77-1E28-D623-E6BC39856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講義内課題</a:t>
            </a:r>
          </a:p>
        </p:txBody>
      </p:sp>
      <p:sp>
        <p:nvSpPr>
          <p:cNvPr id="8" name="コンテンツ プレースホルダー 7">
            <a:extLst>
              <a:ext uri="{FF2B5EF4-FFF2-40B4-BE49-F238E27FC236}">
                <a16:creationId xmlns:a16="http://schemas.microsoft.com/office/drawing/2014/main" id="{40A4A42C-5FC3-9B60-CBA2-558A655A40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ja-JP" dirty="0"/>
              <a:t>[</a:t>
            </a:r>
            <a:r>
              <a:rPr kumimoji="1" lang="en-US" altLang="ja-JP" dirty="0">
                <a:solidFill>
                  <a:schemeClr val="accent1"/>
                </a:solidFill>
                <a:latin typeface="+mj-lt"/>
              </a:rPr>
              <a:t>25</a:t>
            </a:r>
            <a:r>
              <a:rPr kumimoji="1" lang="en-US" altLang="ja-JP" dirty="0">
                <a:latin typeface="+mj-lt"/>
              </a:rPr>
              <a:t>-day07kk</a:t>
            </a:r>
            <a:r>
              <a:rPr kumimoji="1" lang="en-US" altLang="ja-JP" dirty="0"/>
              <a:t>]</a:t>
            </a:r>
            <a:r>
              <a:rPr kumimoji="1" lang="ja-JP" altLang="en-US" dirty="0"/>
              <a:t>　画像認識</a:t>
            </a:r>
            <a:r>
              <a:rPr kumimoji="1" lang="en-US" altLang="ja-JP" dirty="0"/>
              <a:t>(</a:t>
            </a:r>
            <a:r>
              <a:rPr kumimoji="1" lang="ja-JP" altLang="en-US" dirty="0"/>
              <a:t>数値</a:t>
            </a:r>
            <a:r>
              <a:rPr kumimoji="1" lang="en-US" altLang="ja-JP" dirty="0"/>
              <a:t>)</a:t>
            </a:r>
            <a:endParaRPr kumimoji="1" lang="ja-JP" altLang="en-US" dirty="0"/>
          </a:p>
          <a:p>
            <a:pPr lvl="1" algn="just"/>
            <a:r>
              <a:rPr lang="ja-JP" altLang="en-US" dirty="0"/>
              <a:t>基本的には宿題と同じく書かれた事を理解してください。</a:t>
            </a:r>
          </a:p>
          <a:p>
            <a:pPr lvl="1" algn="just"/>
            <a:r>
              <a:rPr lang="ja-JP" altLang="en-US" dirty="0"/>
              <a:t>自分で描いた数字の画像を認識させてください。</a:t>
            </a:r>
          </a:p>
          <a:p>
            <a:pPr lvl="2" algn="just"/>
            <a:r>
              <a:rPr lang="ja-JP" altLang="en-US" dirty="0"/>
              <a:t>認識できたか・できないか</a:t>
            </a:r>
          </a:p>
          <a:p>
            <a:pPr lvl="2" algn="just"/>
            <a:r>
              <a:rPr lang="ja-JP" altLang="en-US" dirty="0"/>
              <a:t>どのような字を書いたら認識率があがるか等確認</a:t>
            </a:r>
          </a:p>
          <a:p>
            <a:pPr algn="just"/>
            <a:r>
              <a:rPr lang="ja-JP" altLang="en-US" dirty="0"/>
              <a:t>課題以上の事ができた人は発表してください。</a:t>
            </a:r>
          </a:p>
          <a:p>
            <a:pPr algn="just"/>
            <a:r>
              <a:rPr lang="ja-JP" altLang="en-US" dirty="0"/>
              <a:t>期限は講義内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0CEF451-3839-F987-5BB8-CCC15EFF1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ja-JP"/>
              <a:t>Day6</a:t>
            </a:r>
            <a:endParaRPr lang="ja-JP" alt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5999C95-B9DC-6968-0B45-10E8ED24B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A0251-0B3B-4C1C-96DC-5D2833458AB2}" type="slidenum">
              <a:rPr lang="ja-JP" altLang="en-US" smtClean="0"/>
              <a:pPr/>
              <a:t>6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893337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6">
            <a:extLst>
              <a:ext uri="{FF2B5EF4-FFF2-40B4-BE49-F238E27FC236}">
                <a16:creationId xmlns:a16="http://schemas.microsoft.com/office/drawing/2014/main" id="{1ACACB11-2637-2EAD-6375-C6567BDD8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Homework</a:t>
            </a:r>
            <a:endParaRPr lang="ja-JP" altLang="en-US" dirty="0"/>
          </a:p>
        </p:txBody>
      </p:sp>
      <p:sp>
        <p:nvSpPr>
          <p:cNvPr id="8" name="テキスト プレースホルダー 7">
            <a:extLst>
              <a:ext uri="{FF2B5EF4-FFF2-40B4-BE49-F238E27FC236}">
                <a16:creationId xmlns:a16="http://schemas.microsoft.com/office/drawing/2014/main" id="{DB7A490D-E625-8DBF-66AE-B1B7095A6E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ja-JP" dirty="0"/>
              <a:t>Day07</a:t>
            </a:r>
            <a:r>
              <a:rPr lang="ja-JP" altLang="en-US" dirty="0"/>
              <a:t>→</a:t>
            </a:r>
            <a:r>
              <a:rPr lang="en-US" altLang="ja-JP" dirty="0"/>
              <a:t>Day08</a:t>
            </a:r>
            <a:endParaRPr lang="ja-JP" altLang="en-US" dirty="0"/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958D229-46FC-433B-FA5B-4B8ACC13F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Day6</a:t>
            </a:r>
            <a:endParaRPr kumimoji="1" lang="ja-JP" altLang="en-US"/>
          </a:p>
        </p:txBody>
      </p:sp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60993854-A861-7ED5-26C4-60455F5A6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情報科学ｃ</a:t>
            </a:r>
            <a:endParaRPr kumimoji="1" lang="ja-JP" alt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B968422-74D5-EB25-AB13-5C87B4FE4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A0251-0B3B-4C1C-96DC-5D2833458AB2}" type="slidenum">
              <a:rPr kumimoji="1" lang="ja-JP" altLang="en-US" smtClean="0"/>
              <a:t>7</a:t>
            </a:fld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3EACCA0-58D5-7315-593C-87D8D03E1445}"/>
              </a:ext>
            </a:extLst>
          </p:cNvPr>
          <p:cNvSpPr txBox="1"/>
          <p:nvPr/>
        </p:nvSpPr>
        <p:spPr>
          <a:xfrm>
            <a:off x="7308013" y="4479372"/>
            <a:ext cx="4803399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1500" dirty="0"/>
              <a:t>無し！</a:t>
            </a:r>
            <a:endParaRPr kumimoji="1" lang="ja-JP" altLang="en-US" sz="11500" dirty="0"/>
          </a:p>
        </p:txBody>
      </p:sp>
    </p:spTree>
    <p:extLst>
      <p:ext uri="{BB962C8B-B14F-4D97-AF65-F5344CB8AC3E}">
        <p14:creationId xmlns:p14="http://schemas.microsoft.com/office/powerpoint/2010/main" val="902635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theme/theme1.xml><?xml version="1.0" encoding="utf-8"?>
<a:theme xmlns:a="http://schemas.openxmlformats.org/drawingml/2006/main" name="情報論理学">
  <a:themeElements>
    <a:clrScheme name="津田塾大学情報科学">
      <a:dk1>
        <a:srgbClr val="353941"/>
      </a:dk1>
      <a:lt1>
        <a:srgbClr val="FFFFFF"/>
      </a:lt1>
      <a:dk2>
        <a:srgbClr val="263F41"/>
      </a:dk2>
      <a:lt2>
        <a:srgbClr val="E0E804"/>
      </a:lt2>
      <a:accent1>
        <a:srgbClr val="CE276C"/>
      </a:accent1>
      <a:accent2>
        <a:srgbClr val="D85514"/>
      </a:accent2>
      <a:accent3>
        <a:srgbClr val="95B00D"/>
      </a:accent3>
      <a:accent4>
        <a:srgbClr val="56B833"/>
      </a:accent4>
      <a:accent5>
        <a:srgbClr val="034AA1"/>
      </a:accent5>
      <a:accent6>
        <a:srgbClr val="510296"/>
      </a:accent6>
      <a:hlink>
        <a:srgbClr val="0563C1"/>
      </a:hlink>
      <a:folHlink>
        <a:srgbClr val="954F72"/>
      </a:folHlink>
    </a:clrScheme>
    <a:fontScheme name="都立大講義">
      <a:majorFont>
        <a:latin typeface="VDL Ｖ７ゴシック EB"/>
        <a:ea typeface="VDL Ｖ７ゴシック EB"/>
        <a:cs typeface=""/>
      </a:majorFont>
      <a:minorFont>
        <a:latin typeface="TBちび丸ゴシックPlusK Pro R"/>
        <a:ea typeface="TBちび丸ゴシックPlusK Pro 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情報論理学" id="{9D04152A-154A-442E-A643-BF86048DE20D}" vid="{8058DE17-911C-49AC-A2EB-3BD0BB048778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11">
    <wetp:webextensionref xmlns:r="http://schemas.openxmlformats.org/officeDocument/2006/relationships" r:id="rId1"/>
  </wetp:taskpane>
  <wetp:taskpane dockstate="right" visibility="0" width="525" row="1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564C3975-57B6-47A0-85FF-E5F62F7E67C8}">
  <we:reference id="a19c72e1-6786-40f7-b977-f44d74d31275" version="2.1.0.0" store="EXCatalog" storeType="EXCatalog"/>
  <we:alternateReferences>
    <we:reference id="WA104379279" version="2.1.0.0" store="ja-JP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BBBB6DD3-8407-4865-923C-51624D4BD5C4}">
  <we:reference id="2d5ec7a8-3235-439f-acf6-ad88ee2f7e85" version="1.0.0.0" store="EXCatalog" storeType="EXCatalog"/>
  <we:alternateReferences>
    <we:reference id="WA104006972" version="1.0.0.0" store="ja-JP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9429</TotalTime>
  <Words>414</Words>
  <Application>Microsoft Office PowerPoint</Application>
  <PresentationFormat>ワイド画面</PresentationFormat>
  <Paragraphs>97</Paragraphs>
  <Slides>7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3" baseType="lpstr">
      <vt:lpstr>TBちび丸ゴシックPlusK Pro R</vt:lpstr>
      <vt:lpstr>VDL Ｖ７ゴシック EB</vt:lpstr>
      <vt:lpstr>游ゴシック</vt:lpstr>
      <vt:lpstr>Arial</vt:lpstr>
      <vt:lpstr>Wingdings</vt:lpstr>
      <vt:lpstr>情報論理学</vt:lpstr>
      <vt:lpstr>情報 科学Ｃ</vt:lpstr>
      <vt:lpstr>2025年度 講義日程</vt:lpstr>
      <vt:lpstr>情報科学Ｃ</vt:lpstr>
      <vt:lpstr>最終課題：データサイエンス演習</vt:lpstr>
      <vt:lpstr>情報科学Ｃ</vt:lpstr>
      <vt:lpstr>講義内課題</vt:lpstr>
      <vt:lpstr>Homework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横山昌平</dc:creator>
  <cp:lastModifiedBy>横山昌平</cp:lastModifiedBy>
  <cp:revision>132</cp:revision>
  <dcterms:created xsi:type="dcterms:W3CDTF">2020-04-20T04:18:00Z</dcterms:created>
  <dcterms:modified xsi:type="dcterms:W3CDTF">2025-05-28T04:31:48Z</dcterms:modified>
</cp:coreProperties>
</file>