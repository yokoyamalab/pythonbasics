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9" r:id="rId4"/>
    <p:sldId id="307" r:id="rId5"/>
    <p:sldId id="316" r:id="rId6"/>
    <p:sldId id="312" r:id="rId7"/>
    <p:sldId id="314" r:id="rId8"/>
    <p:sldId id="306" r:id="rId9"/>
    <p:sldId id="31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04"/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8" autoAdjust="0"/>
    <p:restoredTop sz="94660"/>
  </p:normalViewPr>
  <p:slideViewPr>
    <p:cSldViewPr snapToGrid="0">
      <p:cViewPr varScale="1">
        <p:scale>
          <a:sx n="62" d="100"/>
          <a:sy n="62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2025/5/21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8260521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複雑なデータ構造作成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辞書型データの検索・ソート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600" dirty="0"/>
                        <a:t>継承と差分プログラミング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前回成果のお披露目会と可視化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ノック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＜お休み＞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数値処理と可視化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機械学習の様々なアルゴリズム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　</a:t>
                      </a:r>
                      <a:r>
                        <a:rPr kumimoji="1" lang="ja-JP" altLang="en-US" sz="1600" dirty="0">
                          <a:solidFill>
                            <a:schemeClr val="accent1"/>
                          </a:solidFill>
                        </a:rPr>
                        <a:t>＋最終レポート出題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sz="2400" dirty="0"/>
              <a:t>Day05</a:t>
            </a:r>
            <a:r>
              <a:rPr kumimoji="1" lang="ja-JP" altLang="en-US" sz="2400" dirty="0"/>
              <a:t>振り返り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46B3-4843-95D6-3739-FBC6433C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C872CB-5799-28ED-4479-AAA9792C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132B40C-9159-C623-F1C1-505FB396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ここ</a:t>
            </a:r>
            <a:r>
              <a:rPr lang="en-US" altLang="ja-JP" dirty="0"/>
              <a:t>2</a:t>
            </a:r>
            <a:r>
              <a:rPr lang="ja-JP" altLang="en-US" dirty="0"/>
              <a:t>週の経緯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2824EF-C7BB-4EF4-A76E-6702C6F97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9998530" cy="4351338"/>
          </a:xfrm>
        </p:spPr>
        <p:txBody>
          <a:bodyPr>
            <a:normAutofit/>
          </a:bodyPr>
          <a:lstStyle/>
          <a:p>
            <a:r>
              <a:rPr lang="en-US" altLang="ja-JP" dirty="0"/>
              <a:t>16</a:t>
            </a:r>
            <a:r>
              <a:rPr lang="ja-JP" altLang="en-US" dirty="0"/>
              <a:t>本ノック</a:t>
            </a:r>
            <a:r>
              <a:rPr kumimoji="1" lang="ja-JP" altLang="en-US" sz="2800" dirty="0"/>
              <a:t>をやる</a:t>
            </a:r>
            <a:r>
              <a:rPr kumimoji="1" lang="en-US" altLang="ja-JP" sz="2800" dirty="0"/>
              <a:t>×</a:t>
            </a:r>
            <a:r>
              <a:rPr kumimoji="1" lang="ja-JP" altLang="en-US" sz="2800" dirty="0"/>
              <a:t>３セット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</a:t>
            </a:r>
            <a:r>
              <a:rPr lang="en-US" altLang="ja-JP" dirty="0">
                <a:solidFill>
                  <a:schemeClr val="accent1"/>
                </a:solidFill>
                <a:latin typeface="+mj-lt"/>
              </a:rPr>
              <a:t>6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/>
              <a:t>NumPy</a:t>
            </a:r>
            <a:r>
              <a:rPr lang="en-US" altLang="ja-JP" dirty="0"/>
              <a:t>16</a:t>
            </a:r>
            <a:r>
              <a:rPr lang="ja-JP" altLang="en-US" dirty="0"/>
              <a:t>本ノック</a:t>
            </a:r>
          </a:p>
          <a:p>
            <a:pPr lvl="2"/>
            <a:r>
              <a:rPr kumimoji="1" lang="ja-JP" altLang="en-US" dirty="0"/>
              <a:t>数値処理とくに行列計算が得意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17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>
                <a:latin typeface="system-ui"/>
              </a:rPr>
              <a:t>Pandas16</a:t>
            </a:r>
            <a:r>
              <a:rPr kumimoji="1" lang="ja-JP" altLang="en-US" dirty="0">
                <a:latin typeface="system-ui"/>
              </a:rPr>
              <a:t>本ノック</a:t>
            </a:r>
          </a:p>
          <a:p>
            <a:pPr lvl="2"/>
            <a:r>
              <a:rPr lang="ja-JP" altLang="en-US" dirty="0">
                <a:latin typeface="system-ui"/>
              </a:rPr>
              <a:t>複雑なデータ管理が得意</a:t>
            </a:r>
            <a:endParaRPr kumimoji="1" lang="en-US" altLang="ja-JP" dirty="0">
              <a:latin typeface="system-ui"/>
            </a:endParaRPr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18</a:t>
            </a:r>
            <a:r>
              <a:rPr kumimoji="1" lang="en-US" altLang="ja-JP" dirty="0">
                <a:latin typeface="+mj-lt"/>
              </a:rPr>
              <a:t>-day05kk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>
                <a:latin typeface="system-ui"/>
              </a:rPr>
              <a:t>Matplotlib 16</a:t>
            </a:r>
            <a:r>
              <a:rPr kumimoji="1" lang="ja-JP" altLang="en-US" dirty="0">
                <a:latin typeface="system-ui"/>
              </a:rPr>
              <a:t>本ノック</a:t>
            </a:r>
          </a:p>
          <a:p>
            <a:pPr lvl="2"/>
            <a:r>
              <a:rPr kumimoji="1" lang="ja-JP" altLang="en-US" dirty="0">
                <a:latin typeface="system-ui"/>
              </a:rPr>
              <a:t>簡単にデータをグラフ化できる</a:t>
            </a:r>
            <a:endParaRPr kumimoji="1" lang="en-US" altLang="ja-JP" dirty="0">
              <a:latin typeface="system-ui"/>
            </a:endParaRPr>
          </a:p>
          <a:p>
            <a:r>
              <a:rPr kumimoji="1" lang="ja-JP" altLang="en-US" dirty="0">
                <a:latin typeface="system-ui"/>
              </a:rPr>
              <a:t>ねらい</a:t>
            </a:r>
          </a:p>
          <a:p>
            <a:pPr lvl="1" algn="just"/>
            <a:r>
              <a:rPr kumimoji="1" lang="ja-JP" altLang="en-US" dirty="0">
                <a:latin typeface="system-ui"/>
              </a:rPr>
              <a:t>もし今後、講義で何等かのデータと出会った時、それを分析するのに</a:t>
            </a:r>
            <a:r>
              <a:rPr kumimoji="1" lang="en-US" altLang="ja-JP" dirty="0">
                <a:latin typeface="system-ui"/>
              </a:rPr>
              <a:t>Excel</a:t>
            </a:r>
            <a:r>
              <a:rPr kumimoji="1" lang="ja-JP" altLang="en-US" dirty="0">
                <a:latin typeface="system-ui"/>
              </a:rPr>
              <a:t>を使うのではなく、</a:t>
            </a:r>
            <a:r>
              <a:rPr kumimoji="1" lang="en-US" altLang="ja-JP" dirty="0">
                <a:latin typeface="system-ui"/>
              </a:rPr>
              <a:t>Python</a:t>
            </a:r>
            <a:r>
              <a:rPr kumimoji="1" lang="ja-JP" altLang="en-US" dirty="0">
                <a:latin typeface="system-ui"/>
              </a:rPr>
              <a:t>を使って高度な事ができるようになる。</a:t>
            </a:r>
          </a:p>
          <a:p>
            <a:endParaRPr kumimoji="1" lang="ja-JP" altLang="en-US" dirty="0">
              <a:latin typeface="system-ui"/>
            </a:endParaRP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1D3F51-F7C8-B336-586B-E580A5C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6A303-9629-7CD3-45E0-A5790AB3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B94267-10FE-D83D-D798-18C1DFE479A1}"/>
              </a:ext>
            </a:extLst>
          </p:cNvPr>
          <p:cNvSpPr txBox="1"/>
          <p:nvPr/>
        </p:nvSpPr>
        <p:spPr>
          <a:xfrm>
            <a:off x="8629650" y="152400"/>
            <a:ext cx="3429000" cy="20313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課題等の命名規則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b="1" dirty="0"/>
              <a:t>[</a:t>
            </a:r>
            <a:r>
              <a:rPr lang="ja-JP" altLang="en-US" b="1" dirty="0"/>
              <a:t>連番</a:t>
            </a:r>
            <a:r>
              <a:rPr lang="en-US" altLang="ja-JP" b="1" dirty="0"/>
              <a:t>-</a:t>
            </a:r>
            <a:r>
              <a:rPr lang="ja-JP" altLang="en-US" b="1" dirty="0"/>
              <a:t>講義日ノートタイプ</a:t>
            </a:r>
            <a:r>
              <a:rPr lang="en-US" altLang="ja-JP" b="1" dirty="0"/>
              <a:t>]</a:t>
            </a:r>
            <a:endParaRPr lang="ja-JP" alt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講義日：</a:t>
            </a:r>
            <a:r>
              <a:rPr lang="en-US" altLang="ja-JP" dirty="0"/>
              <a:t>day01</a:t>
            </a:r>
            <a:r>
              <a:rPr lang="ja-JP" altLang="en-US" dirty="0"/>
              <a:t>～</a:t>
            </a:r>
            <a:r>
              <a:rPr lang="en-US" altLang="ja-JP" dirty="0"/>
              <a:t>day09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ノートタイプ：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Kk</a:t>
            </a:r>
            <a:r>
              <a:rPr lang="ja-JP" altLang="en-US" dirty="0"/>
              <a:t>：講義内課題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tb</a:t>
            </a:r>
            <a:r>
              <a:rPr lang="ja-JP" altLang="en-US" dirty="0"/>
              <a:t>：テキストブック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 err="1"/>
              <a:t>hw</a:t>
            </a:r>
            <a:r>
              <a:rPr lang="ja-JP" altLang="en-US" dirty="0"/>
              <a:t>：宿題</a:t>
            </a:r>
          </a:p>
        </p:txBody>
      </p:sp>
    </p:spTree>
    <p:extLst>
      <p:ext uri="{BB962C8B-B14F-4D97-AF65-F5344CB8AC3E}">
        <p14:creationId xmlns:p14="http://schemas.microsoft.com/office/powerpoint/2010/main" val="815270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6CB43-1BFC-ECCC-A739-9338DC62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367D07-E1C9-3AAC-68F0-A8B819E75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CCE45BE-0EBB-7CD1-5947-FCB0A3CC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来週までに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A2BC5ABC-9BB4-ADC4-73F6-9018276307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来週：講義内で</a:t>
            </a:r>
            <a:r>
              <a:rPr lang="en-US" altLang="ja-JP" dirty="0"/>
              <a:t>NumPy</a:t>
            </a:r>
            <a:r>
              <a:rPr lang="ja-JP" altLang="en-US" dirty="0"/>
              <a:t>、</a:t>
            </a:r>
            <a:r>
              <a:rPr lang="en-US" altLang="ja-JP" dirty="0"/>
              <a:t>Pandas</a:t>
            </a:r>
            <a:r>
              <a:rPr lang="ja-JP" altLang="en-US" dirty="0"/>
              <a:t>、</a:t>
            </a:r>
            <a:r>
              <a:rPr lang="en-US" altLang="ja-JP" dirty="0"/>
              <a:t>matplotlib</a:t>
            </a:r>
            <a:r>
              <a:rPr lang="ja-JP" altLang="en-US" dirty="0"/>
              <a:t>を使った演習</a:t>
            </a:r>
          </a:p>
          <a:p>
            <a:pPr lvl="1"/>
            <a:r>
              <a:rPr lang="ja-JP" altLang="en-US" dirty="0"/>
              <a:t>その題材になりそうなデータを探しておいてください。</a:t>
            </a:r>
          </a:p>
          <a:p>
            <a:pPr lvl="2"/>
            <a:r>
              <a:rPr lang="en-US" altLang="ja-JP" dirty="0"/>
              <a:t>E-stat: </a:t>
            </a:r>
            <a:r>
              <a:rPr lang="ja-JP" altLang="en-US" dirty="0"/>
              <a:t>政府統計</a:t>
            </a:r>
          </a:p>
          <a:p>
            <a:pPr lvl="2"/>
            <a:r>
              <a:rPr lang="en-US" altLang="ja-JP" dirty="0"/>
              <a:t>E-gov</a:t>
            </a:r>
            <a:r>
              <a:rPr lang="ja-JP" altLang="en-US" dirty="0"/>
              <a:t> データポータル</a:t>
            </a:r>
          </a:p>
          <a:p>
            <a:pPr lvl="2"/>
            <a:r>
              <a:rPr lang="ja-JP" altLang="en-US" dirty="0"/>
              <a:t>東京都オープンデータカタログ</a:t>
            </a:r>
          </a:p>
          <a:p>
            <a:pPr lvl="3"/>
            <a:r>
              <a:rPr lang="ja-JP" altLang="en-US" dirty="0"/>
              <a:t>他の地方自治体も積極的にデータをオープンにしています。</a:t>
            </a:r>
          </a:p>
          <a:p>
            <a:pPr lvl="2"/>
            <a:r>
              <a:rPr lang="ja-JP" altLang="en-US" dirty="0"/>
              <a:t>「オープンデータ　</a:t>
            </a:r>
            <a:r>
              <a:rPr lang="en-US" altLang="ja-JP" dirty="0"/>
              <a:t>pandas</a:t>
            </a:r>
            <a:r>
              <a:rPr lang="ja-JP" altLang="en-US" dirty="0"/>
              <a:t>」でググると色々とアイデアが出てきます</a:t>
            </a:r>
          </a:p>
          <a:p>
            <a:r>
              <a:rPr lang="ja-JP" altLang="en-US"/>
              <a:t>提出物はありませんが、ネタ探しはしておいてください。</a:t>
            </a:r>
            <a:endParaRPr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D200DF-9F09-72B6-BA78-7066D148A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ADB0B8-F1D2-83CE-A8DF-BF303A0FA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3A1BC8-2D8C-E2A4-23DE-F14757AF50B0}"/>
              </a:ext>
            </a:extLst>
          </p:cNvPr>
          <p:cNvSpPr txBox="1"/>
          <p:nvPr/>
        </p:nvSpPr>
        <p:spPr>
          <a:xfrm>
            <a:off x="1042553" y="180459"/>
            <a:ext cx="244087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先週のスライド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02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第６回　</a:t>
            </a:r>
            <a:r>
              <a:rPr kumimoji="1" lang="ja-JP" altLang="en-US" sz="2400" dirty="0"/>
              <a:t>数値処理と可視化演習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E886D1-E4AA-933F-A8BC-2E3D3A7F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6329AF7C-0C77-1E28-D623-E6BC39856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講義内課題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40A4A42C-5FC3-9B60-CBA2-558A655A4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19</a:t>
            </a:r>
            <a:r>
              <a:rPr kumimoji="1" lang="en-US" altLang="ja-JP" dirty="0">
                <a:latin typeface="+mj-lt"/>
              </a:rPr>
              <a:t>-day06kk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オープンデータの可視化と簡単な分析</a:t>
            </a:r>
          </a:p>
          <a:p>
            <a:pPr lvl="1"/>
            <a:r>
              <a:rPr lang="ja-JP" altLang="en-US" dirty="0"/>
              <a:t>名前欄しかない</a:t>
            </a:r>
            <a:r>
              <a:rPr lang="en-US" altLang="ja-JP" dirty="0" err="1"/>
              <a:t>Colab</a:t>
            </a:r>
            <a:r>
              <a:rPr lang="ja-JP" altLang="en-US" dirty="0"/>
              <a:t>ノートを配布しています。</a:t>
            </a:r>
          </a:p>
          <a:p>
            <a:pPr lvl="1"/>
            <a:r>
              <a:rPr lang="ja-JP" altLang="en-US" dirty="0"/>
              <a:t>今回はレポートだと思ってノートを作ってください。</a:t>
            </a:r>
          </a:p>
          <a:p>
            <a:pPr lvl="1" algn="just"/>
            <a:r>
              <a:rPr lang="ja-JP" altLang="en-US" dirty="0"/>
              <a:t>つまり、ただソースコードを書くだけでなく、読んだ人が「この人はどんなデータを使ってどんな事をして、その考察として何を考えたのか」が</a:t>
            </a:r>
            <a:r>
              <a:rPr lang="ja-JP" altLang="en-US" u="sng" dirty="0">
                <a:solidFill>
                  <a:schemeClr val="accent1"/>
                </a:solidFill>
              </a:rPr>
              <a:t>文章で</a:t>
            </a:r>
            <a:r>
              <a:rPr lang="ja-JP" altLang="en-US" dirty="0"/>
              <a:t>、レポート形式で書いてください。</a:t>
            </a:r>
            <a:endParaRPr lang="en-US" altLang="ja-JP" dirty="0"/>
          </a:p>
          <a:p>
            <a:pPr lvl="1" algn="just"/>
            <a:endParaRPr lang="ja-JP" altLang="en-US" dirty="0"/>
          </a:p>
          <a:p>
            <a:pPr algn="just"/>
            <a:r>
              <a:rPr lang="ja-JP" altLang="en-US" dirty="0"/>
              <a:t>先行してグラフを描き、できた人は発表してください。</a:t>
            </a:r>
          </a:p>
          <a:p>
            <a:pPr algn="just"/>
            <a:r>
              <a:rPr lang="ja-JP" altLang="en-US" dirty="0"/>
              <a:t>期限は来週火曜深夜</a:t>
            </a:r>
          </a:p>
          <a:p>
            <a:pPr lvl="1" algn="just"/>
            <a:r>
              <a:rPr lang="ja-JP" altLang="en-US" dirty="0"/>
              <a:t>それまでにレポート形式にブラッシュアップしてください。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CEF451-3839-F987-5BB8-CCC15EFF1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999C95-B9DC-6968-0B45-10E8ED24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7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93337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Day06</a:t>
            </a:r>
            <a:r>
              <a:rPr lang="ja-JP" altLang="en-US" dirty="0"/>
              <a:t>→</a:t>
            </a:r>
            <a:r>
              <a:rPr lang="en-US" altLang="ja-JP" dirty="0"/>
              <a:t>Day07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Day6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D4DA3-B08B-1F83-1C43-C8714162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FEAA3361-FF3A-3FA4-9483-B889A3DC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今週の宿題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924782C-4763-16A6-B987-B784E344F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70" y="1810126"/>
            <a:ext cx="10191504" cy="4885141"/>
          </a:xfrm>
        </p:spPr>
        <p:txBody>
          <a:bodyPr>
            <a:normAutofit fontScale="85000" lnSpcReduction="20000"/>
          </a:bodyPr>
          <a:lstStyle/>
          <a:p>
            <a:r>
              <a:rPr lang="en-US" altLang="ja-JP" dirty="0"/>
              <a:t>6</a:t>
            </a:r>
            <a:r>
              <a:rPr lang="ja-JP" altLang="en-US" dirty="0"/>
              <a:t>個のノートを配布しています。最低</a:t>
            </a:r>
            <a:r>
              <a:rPr lang="en-US" altLang="ja-JP" dirty="0"/>
              <a:t>3</a:t>
            </a:r>
            <a:r>
              <a:rPr lang="ja-JP" altLang="en-US" dirty="0"/>
              <a:t>個は提出してください。</a:t>
            </a:r>
          </a:p>
          <a:p>
            <a:pPr lvl="1"/>
            <a:r>
              <a:rPr kumimoji="1" lang="en-US" altLang="ja-JP" dirty="0"/>
              <a:t>[</a:t>
            </a:r>
            <a:r>
              <a:rPr lang="en-US" altLang="ja-JP" dirty="0">
                <a:solidFill>
                  <a:schemeClr val="accent1"/>
                </a:solidFill>
                <a:latin typeface="+mj-lt"/>
              </a:rPr>
              <a:t>20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ロジスティック回帰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21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サポートベクターマシン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22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決定木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23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ランダムフォレスト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24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/>
              <a:t>k-</a:t>
            </a:r>
            <a:r>
              <a:rPr kumimoji="1" lang="ja-JP" altLang="en-US" dirty="0"/>
              <a:t>近傍法</a:t>
            </a:r>
            <a:endParaRPr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25</a:t>
            </a:r>
            <a:r>
              <a:rPr kumimoji="1" lang="en-US" altLang="ja-JP" dirty="0">
                <a:latin typeface="+mj-lt"/>
              </a:rPr>
              <a:t>-day06hw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en-US" altLang="ja-JP" dirty="0"/>
              <a:t>k-</a:t>
            </a:r>
            <a:r>
              <a:rPr lang="ja-JP" altLang="en-US" dirty="0"/>
              <a:t>平均法</a:t>
            </a:r>
          </a:p>
          <a:p>
            <a:r>
              <a:rPr lang="ja-JP" altLang="en-US" dirty="0"/>
              <a:t>それぞれ一つの機械学習の例示コードが書かれています</a:t>
            </a:r>
          </a:p>
          <a:p>
            <a:r>
              <a:rPr lang="ja-JP" altLang="en-US" dirty="0"/>
              <a:t>使われているアルゴリズムについて調べ、各ノートの指定欄へ説明を書いてください。</a:t>
            </a:r>
          </a:p>
          <a:p>
            <a:r>
              <a:rPr lang="ja-JP" altLang="en-US" dirty="0"/>
              <a:t>説明には以下の項目を含めてください。</a:t>
            </a:r>
          </a:p>
          <a:p>
            <a:pPr lvl="1"/>
            <a:r>
              <a:rPr lang="ja-JP" altLang="en-US" dirty="0"/>
              <a:t>どのような手法か</a:t>
            </a:r>
          </a:p>
          <a:p>
            <a:pPr lvl="1"/>
            <a:r>
              <a:rPr lang="ja-JP" altLang="en-US" dirty="0"/>
              <a:t>どのようなデータに対してどのような分析を行うのか</a:t>
            </a:r>
          </a:p>
          <a:p>
            <a:pPr lvl="1"/>
            <a:r>
              <a:rPr lang="ja-JP" altLang="en-US" u="sng" dirty="0"/>
              <a:t>ノート例示コードの解説</a:t>
            </a:r>
          </a:p>
          <a:p>
            <a:r>
              <a:rPr lang="ja-JP" altLang="en-US" dirty="0"/>
              <a:t>テキスト欄は適宜追加しても構いません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1ADF60-2B12-25F8-BD9F-CA41E68C3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Day6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CEF3A9-963C-4EEA-A2D0-ECC9ECEC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9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70877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9381</TotalTime>
  <Words>649</Words>
  <Application>Microsoft Office PowerPoint</Application>
  <PresentationFormat>ワイド画面</PresentationFormat>
  <Paragraphs>132</Paragraphs>
  <Slides>9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system-ui</vt:lpstr>
      <vt:lpstr>TBちび丸ゴシックPlusK Pro R</vt:lpstr>
      <vt:lpstr>VDL Ｖ７ゴシック EB</vt:lpstr>
      <vt:lpstr>游ゴシック</vt:lpstr>
      <vt:lpstr>Arial</vt:lpstr>
      <vt:lpstr>情報論理学</vt:lpstr>
      <vt:lpstr>情報 科学Ｃ</vt:lpstr>
      <vt:lpstr>2025年度 講義日程</vt:lpstr>
      <vt:lpstr>情報科学Ｃ</vt:lpstr>
      <vt:lpstr>ここ2週の経緯</vt:lpstr>
      <vt:lpstr>来週までに</vt:lpstr>
      <vt:lpstr>情報科学Ｃ</vt:lpstr>
      <vt:lpstr>講義内課題</vt:lpstr>
      <vt:lpstr>Homework</vt:lpstr>
      <vt:lpstr>今週の宿題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128</cp:revision>
  <dcterms:created xsi:type="dcterms:W3CDTF">2020-04-20T04:18:00Z</dcterms:created>
  <dcterms:modified xsi:type="dcterms:W3CDTF">2025-05-21T06:24:02Z</dcterms:modified>
</cp:coreProperties>
</file>