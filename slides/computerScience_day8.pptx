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316" r:id="rId4"/>
    <p:sldId id="317" r:id="rId5"/>
    <p:sldId id="312" r:id="rId6"/>
    <p:sldId id="318" r:id="rId7"/>
    <p:sldId id="314" r:id="rId8"/>
    <p:sldId id="319" r:id="rId9"/>
    <p:sldId id="320" r:id="rId10"/>
    <p:sldId id="306" r:id="rId11"/>
    <p:sldId id="321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804"/>
    <a:srgbClr val="F4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中間スタイル 1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8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43A7E-303A-4EAA-864C-611EED392E65}" type="datetimeFigureOut">
              <a:rPr kumimoji="1" lang="ja-JP" altLang="en-US" smtClean="0"/>
              <a:t>2025/6/4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A39EA8-FF6E-487D-8017-26A51A4403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8354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D8B2B-9B4A-54F4-1351-F3BEDC087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AF7E0CE-EE19-EC1D-A9B8-A1970C403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F4394F9-CEDD-D090-5815-499B94401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5DDD1F-F535-2D5F-6B98-BA01DDACE0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334262-27A8-490F-AA41-F61BA7DFEBA9}" type="slidenum">
              <a:rPr kumimoji="1" lang="ja-JP" altLang="en-US" smtClean="0"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32086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150D6-A680-315A-BE1D-BC9172A2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CFEA44C-8C15-E719-49F6-1365B7233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D08E053-7330-0B4C-2807-8C0B858E7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F3B921-5587-19BC-3E02-07109B72C2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334262-27A8-490F-AA41-F61BA7DFEBA9}" type="slidenum">
              <a:rPr kumimoji="1" lang="ja-JP" altLang="en-US" smtClean="0"/>
              <a:t>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75687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0E47F28-DF72-47BF-B95C-73F8BC6F067A}"/>
              </a:ext>
            </a:extLst>
          </p:cNvPr>
          <p:cNvSpPr/>
          <p:nvPr/>
        </p:nvSpPr>
        <p:spPr>
          <a:xfrm>
            <a:off x="410960" y="410960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47F3A06-B3E9-484B-AA0D-25C8CD8D5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60" y="410960"/>
            <a:ext cx="4171308" cy="2387600"/>
          </a:xfrm>
        </p:spPr>
        <p:txBody>
          <a:bodyPr lIns="432000" anchor="b">
            <a:noAutofit/>
          </a:bodyPr>
          <a:lstStyle>
            <a:lvl1pPr algn="l">
              <a:defRPr sz="70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34F182-B301-4833-B201-025D8A7B9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960" y="3602038"/>
            <a:ext cx="4170362" cy="733198"/>
          </a:xfrm>
        </p:spPr>
        <p:txBody>
          <a:bodyPr lIns="432000"/>
          <a:lstStyle>
            <a:lvl1pPr marL="0" indent="0" algn="l">
              <a:buNone/>
              <a:defRPr sz="2400">
                <a:solidFill>
                  <a:schemeClr val="bg2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5006FDE5-FCBF-4411-9C4A-4464595745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2798763"/>
            <a:ext cx="4170362" cy="808037"/>
          </a:xfrm>
        </p:spPr>
        <p:txBody>
          <a:bodyPr lIns="432000" anchor="ctr" anchorCtr="0">
            <a:normAutofit/>
          </a:bodyPr>
          <a:lstStyle>
            <a:lvl1pPr marL="0" indent="0" algn="l">
              <a:buNone/>
              <a:defRPr sz="14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756E6855-DE3B-4846-BF01-2C9E089E99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54074" y="836387"/>
            <a:ext cx="1927248" cy="971550"/>
          </a:xfrm>
        </p:spPr>
        <p:txBody>
          <a:bodyPr rIns="432000">
            <a:norm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テキスト プレースホルダー 13">
            <a:extLst>
              <a:ext uri="{FF2B5EF4-FFF2-40B4-BE49-F238E27FC236}">
                <a16:creationId xmlns:a16="http://schemas.microsoft.com/office/drawing/2014/main" id="{7E3360AC-1BFC-4F0A-8095-C5D5EB8EB0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0960" y="5571316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17" name="グラフィックス 16" descr="月毎カレンダー">
            <a:extLst>
              <a:ext uri="{FF2B5EF4-FFF2-40B4-BE49-F238E27FC236}">
                <a16:creationId xmlns:a16="http://schemas.microsoft.com/office/drawing/2014/main" id="{5E31A6FF-0DE5-4C60-8E3B-463C3FE84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5846" y="5559521"/>
            <a:ext cx="252382" cy="252382"/>
          </a:xfrm>
          <a:prstGeom prst="rect">
            <a:avLst/>
          </a:prstGeom>
        </p:spPr>
      </p:pic>
      <p:pic>
        <p:nvPicPr>
          <p:cNvPr id="19" name="グラフィックス 18" descr="時計">
            <a:extLst>
              <a:ext uri="{FF2B5EF4-FFF2-40B4-BE49-F238E27FC236}">
                <a16:creationId xmlns:a16="http://schemas.microsoft.com/office/drawing/2014/main" id="{28888EC0-9C0C-4605-B734-4E086ECBDC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5846" y="5899863"/>
            <a:ext cx="264178" cy="264178"/>
          </a:xfrm>
          <a:prstGeom prst="rect">
            <a:avLst/>
          </a:prstGeom>
        </p:spPr>
      </p:pic>
      <p:sp>
        <p:nvSpPr>
          <p:cNvPr id="21" name="テキスト プレースホルダー 13">
            <a:extLst>
              <a:ext uri="{FF2B5EF4-FFF2-40B4-BE49-F238E27FC236}">
                <a16:creationId xmlns:a16="http://schemas.microsoft.com/office/drawing/2014/main" id="{A6FE1081-74EF-4DCD-9B6B-58AE4184E2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960" y="5911658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0B036A8-3716-4984-BEA1-BFA05709FBD0}"/>
              </a:ext>
            </a:extLst>
          </p:cNvPr>
          <p:cNvSpPr/>
          <p:nvPr userDrawn="1"/>
        </p:nvSpPr>
        <p:spPr>
          <a:xfrm>
            <a:off x="410960" y="410960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グラフィックス 11" descr="月毎カレンダー">
            <a:extLst>
              <a:ext uri="{FF2B5EF4-FFF2-40B4-BE49-F238E27FC236}">
                <a16:creationId xmlns:a16="http://schemas.microsoft.com/office/drawing/2014/main" id="{16A5C23C-AC82-4AF1-ABCF-5DCF31229C8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15846" y="5559521"/>
            <a:ext cx="252382" cy="252382"/>
          </a:xfrm>
          <a:prstGeom prst="rect">
            <a:avLst/>
          </a:prstGeom>
        </p:spPr>
      </p:pic>
      <p:pic>
        <p:nvPicPr>
          <p:cNvPr id="13" name="グラフィックス 12" descr="時計">
            <a:extLst>
              <a:ext uri="{FF2B5EF4-FFF2-40B4-BE49-F238E27FC236}">
                <a16:creationId xmlns:a16="http://schemas.microsoft.com/office/drawing/2014/main" id="{B17CE49E-F1A4-4143-9EC2-B5F7EB71DDC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15846" y="5899863"/>
            <a:ext cx="264178" cy="26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64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A7BEB9-F351-4CB4-AC09-6557D41A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B6A195E-2386-4B3E-8997-DB98D5D1E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B90559-414D-440F-B60E-2E11609B0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38EFE1-5047-4120-91D8-B38B928E2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Day8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083690-B423-4AB6-B70A-42FDB82C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699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7BF5DC2-C09F-4ABA-8D58-1983792C8256}"/>
              </a:ext>
            </a:extLst>
          </p:cNvPr>
          <p:cNvSpPr/>
          <p:nvPr/>
        </p:nvSpPr>
        <p:spPr>
          <a:xfrm rot="5400000">
            <a:off x="1764236" y="1140425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3C4C8B1-2AF8-4AD4-9335-90DBF3E41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A033B43-6246-4F8F-8EBC-97DFFE536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5CDC6133-E775-4AC7-B0CB-06DA0590B50D}"/>
              </a:ext>
            </a:extLst>
          </p:cNvPr>
          <p:cNvCxnSpPr>
            <a:cxnSpLocks/>
          </p:cNvCxnSpPr>
          <p:nvPr/>
        </p:nvCxnSpPr>
        <p:spPr>
          <a:xfrm>
            <a:off x="831850" y="4551452"/>
            <a:ext cx="603608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日付プレースホルダー 10">
            <a:extLst>
              <a:ext uri="{FF2B5EF4-FFF2-40B4-BE49-F238E27FC236}">
                <a16:creationId xmlns:a16="http://schemas.microsoft.com/office/drawing/2014/main" id="{A11DAC5A-3295-4699-B780-85682452D0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54483" y="6380253"/>
            <a:ext cx="929811" cy="479039"/>
          </a:xfrm>
          <a:noFill/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ja-JP"/>
              <a:t>Day8</a:t>
            </a:r>
            <a:endParaRPr lang="ja-JP" altLang="en-US" dirty="0"/>
          </a:p>
        </p:txBody>
      </p: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96B9B820-4BF8-4E49-AE82-B3E19219A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9811" y="6380253"/>
            <a:ext cx="10324672" cy="477747"/>
          </a:xfrm>
          <a:noFill/>
        </p:spPr>
        <p:txBody>
          <a:bodyPr vert="horz"/>
          <a:lstStyle>
            <a:lvl1pPr>
              <a:defRPr sz="120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2971BC73-1BC4-492F-9655-EE928B531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378961"/>
            <a:ext cx="929811" cy="479039"/>
          </a:xfrm>
          <a:noFill/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defRPr>
            </a:lvl1pPr>
          </a:lstStyle>
          <a:p>
            <a:fld id="{B4DA0251-0B3B-4C1C-96DC-5D2833458AB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BE2209A-34C2-442B-8860-AD934E3A55A7}"/>
              </a:ext>
            </a:extLst>
          </p:cNvPr>
          <p:cNvSpPr/>
          <p:nvPr userDrawn="1"/>
        </p:nvSpPr>
        <p:spPr>
          <a:xfrm rot="5400000">
            <a:off x="1764236" y="1140425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CA23B75A-ECFC-445D-BF95-D1227263344A}"/>
              </a:ext>
            </a:extLst>
          </p:cNvPr>
          <p:cNvCxnSpPr>
            <a:cxnSpLocks/>
          </p:cNvCxnSpPr>
          <p:nvPr userDrawn="1"/>
        </p:nvCxnSpPr>
        <p:spPr>
          <a:xfrm>
            <a:off x="831850" y="4551452"/>
            <a:ext cx="603608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03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ABC7CE-F688-4A8F-BAF4-FE8FF46CA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791292F-7D3C-4B8B-8049-878DE3F89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E0AD08-B9D5-4686-AE1E-5008D7F45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942FC32-2173-41D7-A238-5C31D06F8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3C2DE7-212B-49F8-8F87-F24BBC55F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Day8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A0B284-F90B-4A8D-B496-EE9CCD660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5240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6BA9B40-5515-453E-A67A-F1B4D4E1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8302A9B-D2C1-4740-A595-87B27EA26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96EF2C-0AF8-4483-8381-18D47F489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5D45F41-0A50-4141-B1FB-85C417B3A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5319A25-B3C7-4A4C-9DBF-D8EEA0238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DB0157E-EEB7-4D33-8037-E7E286F775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28037F7-7442-42BB-BB8C-C310F6EE0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Day8</a:t>
            </a:r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7473174-C29E-4FF4-B05C-9F45D1DDE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088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39323D3-D052-407A-AE0F-D8C2F6888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9D8392C-15E6-4570-AB43-D6B5BF72E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C9DEACB-116C-4736-97EF-3B57F3E20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Day8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D4D71C1-D913-4D0E-82AD-25C6F5948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29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094BA8F-8DBE-475F-87FE-8ACFAF523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BFF62E-96EE-4231-B1C9-D65762717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Day8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05E5E13-27C9-46C8-9CFD-7A34CEE82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027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440D56-CEEA-4384-A1F8-D367844F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1E818FD-EA9B-4E48-99A9-10D41BF27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5E8A80-BFAB-4C55-BB0E-3B1D036B1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EBB79B4-7E3C-49BA-9702-8601BF27D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825AD8E-F37B-488E-8604-699084B3C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Day8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B955EC4-1391-42FE-9B3D-F421AD42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696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B5C4C1-2FE9-4245-91D9-0138ABDB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81DB02F-0ACD-4339-A75B-8603B0E0C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205EE95-5C39-4306-BCE1-DEC15EF1B3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F79E88F-F032-4489-B1F6-D566D7067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384769-9FFF-4ABB-A0C9-9BB2275AB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Day8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9AC5CA-ADF8-4B9A-A407-0A3FC6B5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517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8E9B60-6531-4AE1-87CF-F0CE6851D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9ABC920-F3A4-4B0A-8A1D-8D79027E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B12F9F-2130-47A7-A03E-1928F4E40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3A3FBC-7F96-4247-B1F2-82C0093CF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Day8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5CFDA1-7F5E-4F67-9B7F-AC642ECDD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18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ED7633-53D5-4CD9-B1F6-6F6F676EE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C20FCA0-11BB-42EE-BB70-BEC254BB03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D2533B9-976C-4790-A744-E491A4D80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344A12-C401-4D53-85D8-3F870823D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Day8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00D075-5891-480B-83A9-24F20CD1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191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0E47F28-DF72-47BF-B95C-73F8BC6F067A}"/>
              </a:ext>
            </a:extLst>
          </p:cNvPr>
          <p:cNvSpPr/>
          <p:nvPr userDrawn="1"/>
        </p:nvSpPr>
        <p:spPr>
          <a:xfrm>
            <a:off x="410960" y="410960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47F3A06-B3E9-484B-AA0D-25C8CD8D5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60" y="410960"/>
            <a:ext cx="4171308" cy="2387600"/>
          </a:xfrm>
        </p:spPr>
        <p:txBody>
          <a:bodyPr lIns="432000" anchor="b">
            <a:noAutofit/>
          </a:bodyPr>
          <a:lstStyle>
            <a:lvl1pPr algn="l">
              <a:defRPr sz="70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34F182-B301-4833-B201-025D8A7B9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960" y="3602038"/>
            <a:ext cx="4170362" cy="733198"/>
          </a:xfrm>
        </p:spPr>
        <p:txBody>
          <a:bodyPr lIns="432000"/>
          <a:lstStyle>
            <a:lvl1pPr marL="0" indent="0" algn="l">
              <a:buNone/>
              <a:defRPr sz="2400">
                <a:solidFill>
                  <a:schemeClr val="bg2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5006FDE5-FCBF-4411-9C4A-4464595745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2798763"/>
            <a:ext cx="4170362" cy="808037"/>
          </a:xfrm>
        </p:spPr>
        <p:txBody>
          <a:bodyPr lIns="432000" anchor="ctr" anchorCtr="0">
            <a:normAutofit/>
          </a:bodyPr>
          <a:lstStyle>
            <a:lvl1pPr marL="0" indent="0" algn="l">
              <a:buNone/>
              <a:defRPr sz="14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756E6855-DE3B-4846-BF01-2C9E089E99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54074" y="836387"/>
            <a:ext cx="1927248" cy="971550"/>
          </a:xfrm>
        </p:spPr>
        <p:txBody>
          <a:bodyPr rIns="432000">
            <a:norm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15" name="テキスト プレースホルダー 13">
            <a:extLst>
              <a:ext uri="{FF2B5EF4-FFF2-40B4-BE49-F238E27FC236}">
                <a16:creationId xmlns:a16="http://schemas.microsoft.com/office/drawing/2014/main" id="{7E3360AC-1BFC-4F0A-8095-C5D5EB8EB0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0960" y="5571316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endParaRPr kumimoji="1" lang="ja-JP" altLang="en-US" dirty="0"/>
          </a:p>
        </p:txBody>
      </p:sp>
      <p:pic>
        <p:nvPicPr>
          <p:cNvPr id="17" name="グラフィックス 16" descr="月毎カレンダー">
            <a:extLst>
              <a:ext uri="{FF2B5EF4-FFF2-40B4-BE49-F238E27FC236}">
                <a16:creationId xmlns:a16="http://schemas.microsoft.com/office/drawing/2014/main" id="{5E31A6FF-0DE5-4C60-8E3B-463C3FE845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5846" y="5559521"/>
            <a:ext cx="252382" cy="252382"/>
          </a:xfrm>
          <a:prstGeom prst="rect">
            <a:avLst/>
          </a:prstGeom>
        </p:spPr>
      </p:pic>
      <p:pic>
        <p:nvPicPr>
          <p:cNvPr id="19" name="グラフィックス 18" descr="時計">
            <a:extLst>
              <a:ext uri="{FF2B5EF4-FFF2-40B4-BE49-F238E27FC236}">
                <a16:creationId xmlns:a16="http://schemas.microsoft.com/office/drawing/2014/main" id="{28888EC0-9C0C-4605-B734-4E086ECBDC0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5846" y="5899863"/>
            <a:ext cx="264178" cy="264178"/>
          </a:xfrm>
          <a:prstGeom prst="rect">
            <a:avLst/>
          </a:prstGeom>
        </p:spPr>
      </p:pic>
      <p:sp>
        <p:nvSpPr>
          <p:cNvPr id="21" name="テキスト プレースホルダー 13">
            <a:extLst>
              <a:ext uri="{FF2B5EF4-FFF2-40B4-BE49-F238E27FC236}">
                <a16:creationId xmlns:a16="http://schemas.microsoft.com/office/drawing/2014/main" id="{A6FE1081-74EF-4DCD-9B6B-58AE4184E2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960" y="5911658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5204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A4DF46-83CA-4961-801C-3A24B88A3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838200" cy="6858000"/>
          </a:xfrm>
          <a:prstGeom prst="rect">
            <a:avLst/>
          </a:prstGeom>
          <a:solidFill>
            <a:schemeClr val="tx2"/>
          </a:solidFill>
        </p:spPr>
        <p:txBody>
          <a:bodyPr vert="eaVert" lIns="91440" tIns="45720" rIns="91440" bIns="45720" rtlCol="0" anchor="ctr" anchorCtr="1"/>
          <a:lstStyle>
            <a:lvl1pPr algn="ctr">
              <a:defRPr sz="48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B023398-9735-40FB-A1FF-7FF9FE1B5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5270" y="365125"/>
            <a:ext cx="999852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42B6D4-B4E5-4551-8273-E90163480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5270" y="1825625"/>
            <a:ext cx="99985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5E206F-13E2-416D-8551-770892109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5811838"/>
            <a:ext cx="838200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 anchorCtr="1"/>
          <a:lstStyle>
            <a:lvl1pPr algn="l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altLang="ja-JP"/>
              <a:t>Day8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7E8EED-E703-4D93-9948-8F9A5AACE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6963"/>
            <a:ext cx="838200" cy="681037"/>
          </a:xfrm>
          <a:prstGeom prst="rect">
            <a:avLst/>
          </a:prstGeom>
        </p:spPr>
        <p:txBody>
          <a:bodyPr vert="horz" lIns="91440" tIns="45720" rIns="91440" bIns="45720" rtlCol="0" anchor="ctr" anchorCtr="1"/>
          <a:lstStyle>
            <a:lvl1pPr algn="r">
              <a:defRPr sz="20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fld id="{B4DA0251-0B3B-4C1C-96DC-5D2833458AB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48388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DFE74A-92E8-4E4E-AF1C-A28EB01DDF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情報</a:t>
            </a:r>
            <a:br>
              <a:rPr kumimoji="1" lang="ja-JP" altLang="en-US" dirty="0"/>
            </a:br>
            <a:r>
              <a:rPr kumimoji="1" lang="ja-JP" altLang="en-US" dirty="0"/>
              <a:t>科学Ｃ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BFF62C0-83E8-4BAB-B39E-0A7A68E393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300" dirty="0"/>
              <a:t>横山昌平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4E7356E-CCD3-482D-B0A7-45E57E7C83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-US" altLang="ja-JP" sz="1550" dirty="0"/>
              <a:t>Computer Science C</a:t>
            </a:r>
            <a:endParaRPr kumimoji="1" lang="ja-JP" altLang="en-US" sz="155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EFD8162-4AA4-485E-A91A-6B1886208A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ts val="1600"/>
              </a:lnSpc>
            </a:pPr>
            <a:r>
              <a:rPr kumimoji="1" lang="en-US" altLang="ja-JP" dirty="0"/>
              <a:t>LG080A01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B8957ED-CA55-49F7-84D2-0D8EE491D6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ja-JP" altLang="en-US" dirty="0"/>
              <a:t>第１ターム</a:t>
            </a:r>
            <a:r>
              <a:rPr kumimoji="1" lang="ja-JP" altLang="en-US" dirty="0"/>
              <a:t>・水曜日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0E9AF57-5F2F-46AF-BC5E-4847C5465F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kumimoji="1" lang="ja-JP" altLang="en-US" dirty="0"/>
              <a:t>五時限目</a:t>
            </a:r>
          </a:p>
        </p:txBody>
      </p:sp>
    </p:spTree>
    <p:extLst>
      <p:ext uri="{BB962C8B-B14F-4D97-AF65-F5344CB8AC3E}">
        <p14:creationId xmlns:p14="http://schemas.microsoft.com/office/powerpoint/2010/main" val="261439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028875D5-3151-4F32-B162-8E5885CC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DDAA8EA-7FBB-4F2E-91EB-63E6329C1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2025</a:t>
            </a:r>
            <a:r>
              <a:rPr lang="ja-JP" altLang="en-US" dirty="0"/>
              <a:t>年度 講義日程</a:t>
            </a:r>
            <a:endParaRPr kumimoji="1" lang="ja-JP" altLang="en-US" dirty="0"/>
          </a:p>
        </p:txBody>
      </p:sp>
      <p:graphicFrame>
        <p:nvGraphicFramePr>
          <p:cNvPr id="11" name="表 11">
            <a:extLst>
              <a:ext uri="{FF2B5EF4-FFF2-40B4-BE49-F238E27FC236}">
                <a16:creationId xmlns:a16="http://schemas.microsoft.com/office/drawing/2014/main" id="{B9D9CDA9-57A4-4499-80A3-E4FDBFD7FF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5526500"/>
              </p:ext>
            </p:extLst>
          </p:nvPr>
        </p:nvGraphicFramePr>
        <p:xfrm>
          <a:off x="1047699" y="1690688"/>
          <a:ext cx="10306101" cy="37084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781655">
                  <a:extLst>
                    <a:ext uri="{9D8B030D-6E8A-4147-A177-3AD203B41FA5}">
                      <a16:colId xmlns:a16="http://schemas.microsoft.com/office/drawing/2014/main" val="2758299451"/>
                    </a:ext>
                  </a:extLst>
                </a:gridCol>
                <a:gridCol w="724650">
                  <a:extLst>
                    <a:ext uri="{9D8B030D-6E8A-4147-A177-3AD203B41FA5}">
                      <a16:colId xmlns:a16="http://schemas.microsoft.com/office/drawing/2014/main" val="308317790"/>
                    </a:ext>
                  </a:extLst>
                </a:gridCol>
                <a:gridCol w="4274025">
                  <a:extLst>
                    <a:ext uri="{9D8B030D-6E8A-4147-A177-3AD203B41FA5}">
                      <a16:colId xmlns:a16="http://schemas.microsoft.com/office/drawing/2014/main" val="348952505"/>
                    </a:ext>
                  </a:extLst>
                </a:gridCol>
                <a:gridCol w="4525771">
                  <a:extLst>
                    <a:ext uri="{9D8B030D-6E8A-4147-A177-3AD203B41FA5}">
                      <a16:colId xmlns:a16="http://schemas.microsoft.com/office/drawing/2014/main" val="2478483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#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日時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講義</a:t>
                      </a: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演習</a:t>
                      </a:r>
                      <a:r>
                        <a:rPr kumimoji="1" lang="en-US" altLang="ja-JP" sz="1600" dirty="0"/>
                        <a:t>)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宿題</a:t>
                      </a: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予習</a:t>
                      </a:r>
                      <a:r>
                        <a:rPr kumimoji="1" lang="en-US" altLang="ja-JP" sz="1600" dirty="0"/>
                        <a:t>)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39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1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4/16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ガイダンス＆</a:t>
                      </a:r>
                      <a:r>
                        <a:rPr kumimoji="1" lang="en-US" altLang="ja-JP" sz="1600" dirty="0"/>
                        <a:t>Google </a:t>
                      </a:r>
                      <a:r>
                        <a:rPr kumimoji="1" lang="en-US" altLang="ja-JP" sz="1600" dirty="0" err="1"/>
                        <a:t>Colab</a:t>
                      </a:r>
                      <a:r>
                        <a:rPr kumimoji="1" lang="ja-JP" altLang="en-US" sz="1600" dirty="0"/>
                        <a:t>に触ってみる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リテラル／データ構造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404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2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4/23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複雑なデータ構造作成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演算子／制御構文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878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4/30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辞書型データの検索・ソート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関数／ラムダ式／オブジェクト指向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28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5/07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600" dirty="0"/>
                        <a:t>継承と差分プログラミング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数値処理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023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5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5/14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前回成果のお披露目会と可視化</a:t>
                      </a: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ノック</a:t>
                      </a:r>
                      <a:r>
                        <a:rPr kumimoji="1" lang="en-US" altLang="ja-JP" sz="1600" dirty="0"/>
                        <a:t>)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＜お休み＞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608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6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5/21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数値処理と可視化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機械学習の様々なアルゴリズム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132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7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5/28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機械学習・深層学習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r>
                        <a:rPr kumimoji="1" lang="ja-JP" altLang="en-US" sz="1600" dirty="0">
                          <a:solidFill>
                            <a:schemeClr val="accent1"/>
                          </a:solidFill>
                        </a:rPr>
                        <a:t>＋最終レポート出題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＜お休み＞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750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6/04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物体認識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en-US" altLang="ja-JP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solidFill>
                            <a:schemeClr val="accent1"/>
                          </a:solidFill>
                        </a:rPr>
                        <a:t>最終レポート</a:t>
                      </a:r>
                      <a:endParaRPr kumimoji="1" lang="en-US" altLang="ja-JP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770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9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6/18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生成</a:t>
                      </a:r>
                      <a:r>
                        <a:rPr kumimoji="1" lang="en-US" altLang="ja-JP" sz="1600" dirty="0"/>
                        <a:t>AI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r>
                        <a:rPr kumimoji="1" lang="en-US" altLang="ja-JP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solidFill>
                            <a:schemeClr val="accent1"/>
                          </a:solidFill>
                        </a:rPr>
                        <a:t>最終レポート</a:t>
                      </a: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期限</a:t>
                      </a:r>
                      <a:r>
                        <a:rPr kumimoji="1" lang="en-US" altLang="ja-JP" sz="1600" dirty="0"/>
                        <a:t>6</a:t>
                      </a:r>
                      <a:r>
                        <a:rPr kumimoji="1" lang="ja-JP" altLang="en-US" sz="1600" dirty="0"/>
                        <a:t>月末</a:t>
                      </a:r>
                      <a:r>
                        <a:rPr kumimoji="1" lang="en-US" altLang="ja-JP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971788"/>
                  </a:ext>
                </a:extLst>
              </a:tr>
            </a:tbl>
          </a:graphicData>
        </a:graphic>
      </p:graphicFrame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C8C59E9-E7E3-48FF-903C-F87318E42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Day8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22205E-8A53-4437-90B8-E8B58C218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9953FC1-7C30-4DA7-BCEC-C1E2ECA25E08}"/>
              </a:ext>
            </a:extLst>
          </p:cNvPr>
          <p:cNvSpPr txBox="1"/>
          <p:nvPr/>
        </p:nvSpPr>
        <p:spPr>
          <a:xfrm>
            <a:off x="1047699" y="5661878"/>
            <a:ext cx="10781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ja-JP" altLang="en-US" sz="2400" dirty="0"/>
              <a:t>内容は進捗に応じて適宜変更する。</a:t>
            </a:r>
            <a:endParaRPr lang="en-US" altLang="ja-JP" sz="2400" dirty="0"/>
          </a:p>
          <a:p>
            <a:pPr marL="285750" indent="-285750"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ja-JP" altLang="en-US" sz="2400" dirty="0"/>
              <a:t>本講義は演習を織り交ぜて行うので</a:t>
            </a:r>
            <a:r>
              <a:rPr lang="en-US" altLang="ja-JP" sz="2400" dirty="0"/>
              <a:t>PC</a:t>
            </a:r>
            <a:r>
              <a:rPr lang="ja-JP" altLang="en-US" sz="2400" dirty="0"/>
              <a:t>を持ってくること。</a:t>
            </a:r>
          </a:p>
        </p:txBody>
      </p:sp>
    </p:spTree>
    <p:extLst>
      <p:ext uri="{BB962C8B-B14F-4D97-AF65-F5344CB8AC3E}">
        <p14:creationId xmlns:p14="http://schemas.microsoft.com/office/powerpoint/2010/main" val="217422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6511F-53A8-396C-6862-814FA6BEE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A6E4985F-84D3-D7A0-592C-CBD4DE20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情報科学Ｃ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48FF1D5-1A9A-5434-D395-7F717BD21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最終課題　データサイエンス演習</a:t>
            </a:r>
            <a:endParaRPr kumimoji="1" lang="ja-JP" altLang="en-US" sz="2400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F6FC058-ADD1-6E62-5D13-97AFAED19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F6F0C91-6E35-6487-68E0-EF73E7D42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ja-JP"/>
              <a:t>p.</a:t>
            </a:r>
            <a:fld id="{71584EDF-536B-41D0-946E-780F35A2C473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84E3664-693C-6D9A-312E-B70646684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Day8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48064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527F9A-E697-CB8C-B808-5485063DA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B0807257-1995-5A86-37D4-459A0766F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最終課題：データサイエンス演習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92343428-E599-A96E-80DB-14A7F046F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5269" y="1825625"/>
            <a:ext cx="10169193" cy="4351338"/>
          </a:xfrm>
        </p:spPr>
        <p:txBody>
          <a:bodyPr>
            <a:normAutofit lnSpcReduction="10000"/>
          </a:bodyPr>
          <a:lstStyle/>
          <a:p>
            <a:r>
              <a:rPr lang="ja-JP" altLang="en-US" dirty="0"/>
              <a:t>期限：</a:t>
            </a:r>
            <a:r>
              <a:rPr lang="en-US" altLang="ja-JP" dirty="0"/>
              <a:t>6</a:t>
            </a:r>
            <a:r>
              <a:rPr lang="ja-JP" altLang="en-US" dirty="0"/>
              <a:t>月末日　</a:t>
            </a:r>
            <a:r>
              <a:rPr lang="en-US" altLang="ja-JP" dirty="0"/>
              <a:t>Classroom</a:t>
            </a:r>
            <a:r>
              <a:rPr lang="ja-JP" altLang="en-US" dirty="0"/>
              <a:t>経由で提出</a:t>
            </a:r>
            <a:endParaRPr lang="en-US" altLang="ja-JP" dirty="0"/>
          </a:p>
          <a:p>
            <a:r>
              <a:rPr lang="ja-JP" altLang="en-US" dirty="0"/>
              <a:t>実データに対して機械学習を使った上で結果を可視化する</a:t>
            </a:r>
          </a:p>
          <a:p>
            <a:pPr lvl="1"/>
            <a:r>
              <a:rPr lang="ja-JP" altLang="en-US" dirty="0"/>
              <a:t>実データは統計データでも身の回りのデータでも構いません</a:t>
            </a:r>
          </a:p>
          <a:p>
            <a:pPr lvl="1"/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でのデータは避けてください。</a:t>
            </a:r>
          </a:p>
          <a:p>
            <a:pPr lvl="1"/>
            <a:r>
              <a:rPr lang="ja-JP" altLang="en-US" dirty="0"/>
              <a:t>データをこねくり回すのではなく意味のある知見の発見をめざす</a:t>
            </a:r>
          </a:p>
          <a:p>
            <a:r>
              <a:rPr lang="ja-JP" altLang="en-US" dirty="0"/>
              <a:t>チェックリスト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en-US" altLang="ja-JP" dirty="0"/>
              <a:t>NumPy</a:t>
            </a:r>
            <a:r>
              <a:rPr lang="ja-JP" altLang="en-US" dirty="0"/>
              <a:t>をつかう</a:t>
            </a:r>
            <a:r>
              <a:rPr lang="en-US" altLang="ja-JP" dirty="0"/>
              <a:t>(</a:t>
            </a:r>
            <a:r>
              <a:rPr lang="ja-JP" altLang="en-US" dirty="0"/>
              <a:t>必須</a:t>
            </a:r>
            <a:r>
              <a:rPr lang="en-US" altLang="ja-JP" dirty="0"/>
              <a:t>)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en-US" altLang="ja-JP" dirty="0"/>
              <a:t>Pandas</a:t>
            </a:r>
            <a:r>
              <a:rPr lang="ja-JP" altLang="en-US" dirty="0"/>
              <a:t>をつかう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en-US" altLang="ja-JP" dirty="0"/>
              <a:t>Matplotlib</a:t>
            </a:r>
            <a:r>
              <a:rPr lang="ja-JP" altLang="en-US" dirty="0"/>
              <a:t>あるいはそれより高度な可視化ライブラリを使う</a:t>
            </a:r>
            <a:r>
              <a:rPr lang="en-US" altLang="ja-JP" dirty="0"/>
              <a:t>(</a:t>
            </a:r>
            <a:r>
              <a:rPr lang="ja-JP" altLang="en-US" dirty="0"/>
              <a:t>必須</a:t>
            </a:r>
            <a:r>
              <a:rPr lang="en-US" altLang="ja-JP" dirty="0"/>
              <a:t>)</a:t>
            </a:r>
            <a:endParaRPr lang="ja-JP" altLang="en-US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ja-JP" altLang="en-US" dirty="0"/>
              <a:t>機械学習を使う</a:t>
            </a:r>
            <a:r>
              <a:rPr lang="en-US" altLang="ja-JP" dirty="0"/>
              <a:t>(</a:t>
            </a:r>
            <a:r>
              <a:rPr lang="ja-JP" altLang="en-US" dirty="0"/>
              <a:t>優・秀をめざすなら必須</a:t>
            </a:r>
            <a:r>
              <a:rPr lang="en-US" altLang="ja-JP" dirty="0"/>
              <a:t>)</a:t>
            </a:r>
            <a:endParaRPr lang="ja-JP" altLang="en-US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ja-JP" altLang="en-US" dirty="0"/>
              <a:t>プラスアルファがある</a:t>
            </a:r>
            <a:r>
              <a:rPr lang="en-US" altLang="ja-JP" dirty="0"/>
              <a:t>(</a:t>
            </a:r>
            <a:r>
              <a:rPr lang="ja-JP" altLang="en-US" dirty="0"/>
              <a:t>優・秀をめざすなら必須</a:t>
            </a:r>
            <a:r>
              <a:rPr lang="en-US" altLang="ja-JP" dirty="0"/>
              <a:t>)</a:t>
            </a:r>
          </a:p>
          <a:p>
            <a:pPr lvl="1">
              <a:buFont typeface="Wingdings" panose="05000000000000000000" pitchFamily="2" charset="2"/>
              <a:buChar char="p"/>
            </a:pPr>
            <a:endParaRPr lang="ja-JP" altLang="en-US" dirty="0"/>
          </a:p>
          <a:p>
            <a:pPr lvl="1">
              <a:buFont typeface="Wingdings" panose="05000000000000000000" pitchFamily="2" charset="2"/>
              <a:buChar char="p"/>
            </a:pPr>
            <a:endParaRPr lang="ja-JP" altLang="en-US" dirty="0"/>
          </a:p>
          <a:p>
            <a:pPr lvl="1"/>
            <a:endParaRPr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CF2DAD-98E5-84F6-AA9E-22E930744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Day8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A41D80-B9B7-4A36-DD2F-01EEF8CAF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3220787-7019-24F6-369D-E5A7AE03399C}"/>
              </a:ext>
            </a:extLst>
          </p:cNvPr>
          <p:cNvSpPr txBox="1"/>
          <p:nvPr/>
        </p:nvSpPr>
        <p:spPr>
          <a:xfrm>
            <a:off x="9023598" y="-4207"/>
            <a:ext cx="3168402" cy="52322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2800" dirty="0">
                <a:solidFill>
                  <a:schemeClr val="bg2"/>
                </a:solidFill>
                <a:latin typeface="+mj-ea"/>
                <a:ea typeface="+mj-ea"/>
              </a:rPr>
              <a:t>再掲</a:t>
            </a:r>
          </a:p>
        </p:txBody>
      </p:sp>
    </p:spTree>
    <p:extLst>
      <p:ext uri="{BB962C8B-B14F-4D97-AF65-F5344CB8AC3E}">
        <p14:creationId xmlns:p14="http://schemas.microsoft.com/office/powerpoint/2010/main" val="1375068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1B88A-756A-8C27-B32F-01E683510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18B763-0475-78FE-A8A2-84DB99AFE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情報科学Ｃ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71643E4A-F817-C4F4-6376-C1A7E11C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第８回　画像物体認識</a:t>
            </a:r>
            <a:endParaRPr kumimoji="1" lang="ja-JP" altLang="en-US" sz="2400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DF7172A-BF2F-971C-4C78-E6AF45192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83C0C92-E4BC-74D9-F085-3343F4542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ja-JP"/>
              <a:t>p.</a:t>
            </a:r>
            <a:fld id="{71584EDF-536B-41D0-946E-780F35A2C473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A7D10DA-4F17-19BF-669E-FFACEE0CC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Day8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066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472CFE-8022-048A-6774-7F490739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376E2C70-6698-3B3F-DBCD-3806BB7C9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物体認識とは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42F82455-66E8-EB81-2F52-89642160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5270" y="1825625"/>
            <a:ext cx="10249828" cy="4351338"/>
          </a:xfrm>
        </p:spPr>
        <p:txBody>
          <a:bodyPr/>
          <a:lstStyle/>
          <a:p>
            <a:r>
              <a:rPr lang="ja-JP" altLang="en-US" dirty="0"/>
              <a:t>前回、画像中の</a:t>
            </a:r>
            <a:r>
              <a:rPr lang="en-US" altLang="ja-JP" dirty="0"/>
              <a:t>[</a:t>
            </a:r>
            <a:r>
              <a:rPr lang="ja-JP" altLang="en-US" dirty="0"/>
              <a:t>数字</a:t>
            </a:r>
            <a:r>
              <a:rPr lang="en-US" altLang="ja-JP" dirty="0"/>
              <a:t>]</a:t>
            </a:r>
            <a:r>
              <a:rPr lang="ja-JP" altLang="en-US" dirty="0"/>
              <a:t>を認識するコードを学んだ</a:t>
            </a:r>
          </a:p>
          <a:p>
            <a:r>
              <a:rPr lang="ja-JP" altLang="en-US" dirty="0"/>
              <a:t>数字だけでなく、写真に写る様々な物体を認識できないか？</a:t>
            </a:r>
            <a:endParaRPr lang="en-US" altLang="ja-JP" dirty="0"/>
          </a:p>
          <a:p>
            <a:pPr lvl="1"/>
            <a:r>
              <a:rPr lang="ja-JP" altLang="en-US" dirty="0"/>
              <a:t>人・くるま・家具などなど・・・・</a:t>
            </a:r>
          </a:p>
          <a:p>
            <a:pPr lvl="1"/>
            <a:endParaRPr lang="en-US" altLang="ja-JP" dirty="0"/>
          </a:p>
          <a:p>
            <a:r>
              <a:rPr lang="en-US" altLang="ja-JP" dirty="0"/>
              <a:t>YOLO </a:t>
            </a:r>
            <a:r>
              <a:rPr lang="ja-JP" altLang="en-US" dirty="0"/>
              <a:t>（</a:t>
            </a:r>
            <a:r>
              <a:rPr lang="en-US" altLang="ja-JP" dirty="0"/>
              <a:t>You Only Look Once</a:t>
            </a:r>
            <a:r>
              <a:rPr lang="ja-JP" altLang="en-US" dirty="0"/>
              <a:t>）</a:t>
            </a:r>
            <a:endParaRPr lang="en-US" altLang="ja-JP" dirty="0"/>
          </a:p>
          <a:p>
            <a:pPr lvl="1"/>
            <a:r>
              <a:rPr lang="ja-JP" altLang="en-US" dirty="0"/>
              <a:t>物体検出ライブラリ</a:t>
            </a:r>
          </a:p>
          <a:p>
            <a:pPr lvl="1"/>
            <a:r>
              <a:rPr lang="ja-JP" altLang="en-US" dirty="0"/>
              <a:t>画像中の複数の物体を一度に判定する事ができる</a:t>
            </a:r>
            <a:endParaRPr lang="en-US" altLang="ja-JP" dirty="0"/>
          </a:p>
          <a:p>
            <a:pPr lvl="1"/>
            <a:r>
              <a:rPr lang="ja-JP" altLang="en-US" dirty="0"/>
              <a:t>開発が盛ん（あっという間に新しいバージョンがリリースされる）</a:t>
            </a:r>
          </a:p>
          <a:p>
            <a:pPr lvl="1"/>
            <a:endParaRPr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6F7746-DE29-46E7-3936-9FC9178E4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Day8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DCFCC5-EA3A-2745-324B-09D510D95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lang="ja-JP" altLang="en-US" smtClean="0"/>
              <a:pPr/>
              <a:t>6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03092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E886D1-E4AA-933F-A8BC-2E3D3A7F3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6329AF7C-0C77-1E28-D623-E6BC3985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本日の教材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40A4A42C-5FC3-9B60-CBA2-558A655A4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[</a:t>
            </a:r>
            <a:r>
              <a:rPr kumimoji="1" lang="en-US" altLang="ja-JP" dirty="0">
                <a:solidFill>
                  <a:schemeClr val="accent1"/>
                </a:solidFill>
                <a:latin typeface="+mj-lt"/>
              </a:rPr>
              <a:t>27</a:t>
            </a:r>
            <a:r>
              <a:rPr kumimoji="1" lang="en-US" altLang="ja-JP" dirty="0">
                <a:latin typeface="+mj-lt"/>
              </a:rPr>
              <a:t>-day08</a:t>
            </a:r>
            <a:r>
              <a:rPr lang="en-US" altLang="ja-JP" dirty="0">
                <a:latin typeface="+mj-lt"/>
              </a:rPr>
              <a:t>tb</a:t>
            </a:r>
            <a:r>
              <a:rPr kumimoji="1" lang="en-US" altLang="ja-JP" dirty="0"/>
              <a:t>]</a:t>
            </a:r>
            <a:r>
              <a:rPr kumimoji="1" lang="ja-JP" altLang="en-US" dirty="0"/>
              <a:t>　物体認識の基本的なコード</a:t>
            </a:r>
          </a:p>
          <a:p>
            <a:pPr lvl="1"/>
            <a:r>
              <a:rPr lang="ja-JP" altLang="en-US" dirty="0"/>
              <a:t>画像をアップロードして物体認識を試そう</a:t>
            </a:r>
            <a:endParaRPr lang="en-US" altLang="ja-JP" dirty="0"/>
          </a:p>
          <a:p>
            <a:r>
              <a:rPr kumimoji="1" lang="ja-JP" altLang="en-US" dirty="0"/>
              <a:t>使い方</a:t>
            </a:r>
          </a:p>
          <a:p>
            <a:pPr lvl="1"/>
            <a:r>
              <a:rPr kumimoji="1" lang="en-US" altLang="ja-JP" dirty="0"/>
              <a:t>Upload</a:t>
            </a:r>
            <a:r>
              <a:rPr kumimoji="1" lang="ja-JP" altLang="en-US" dirty="0"/>
              <a:t>ボタンを押す</a:t>
            </a:r>
          </a:p>
          <a:p>
            <a:pPr lvl="1"/>
            <a:r>
              <a:rPr kumimoji="1" lang="ja-JP" altLang="en-US" dirty="0"/>
              <a:t>写真ファイルを選びアップロード</a:t>
            </a:r>
          </a:p>
          <a:p>
            <a:pPr lvl="1"/>
            <a:r>
              <a:rPr lang="ja-JP" altLang="en-US" dirty="0"/>
              <a:t>物体認識が実行される</a:t>
            </a:r>
          </a:p>
          <a:p>
            <a:pPr lvl="1"/>
            <a:r>
              <a:rPr kumimoji="1" lang="ja-JP" altLang="en-US" dirty="0"/>
              <a:t>結果が画面に表示される</a:t>
            </a:r>
          </a:p>
          <a:p>
            <a:r>
              <a:rPr lang="ja-JP" altLang="en-US" dirty="0"/>
              <a:t>コードの詳細解説はしませんが簡単なので見てみましょう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CEF451-3839-F987-5BB8-CCC15EFF1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Day8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999C95-B9DC-6968-0B45-10E8ED24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lang="ja-JP" altLang="en-US" smtClean="0"/>
              <a:pPr/>
              <a:t>7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93337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B7D49A0C-84F9-D098-1CF4-185AD8CD7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6997946-114C-D931-BB36-8333C3B53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講義内課題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1C6165-51BF-01AE-9666-CC156A988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>
                <a:latin typeface="+mj-ea"/>
                <a:ea typeface="+mj-ea"/>
              </a:rPr>
              <a:t>[</a:t>
            </a:r>
            <a:r>
              <a:rPr lang="en-US" altLang="ja-JP" dirty="0">
                <a:solidFill>
                  <a:schemeClr val="accent1"/>
                </a:solidFill>
                <a:latin typeface="+mj-ea"/>
                <a:ea typeface="+mj-ea"/>
              </a:rPr>
              <a:t>28</a:t>
            </a:r>
            <a:r>
              <a:rPr lang="en-US" altLang="ja-JP" dirty="0">
                <a:latin typeface="+mj-ea"/>
                <a:ea typeface="+mj-ea"/>
              </a:rPr>
              <a:t>-day08kk]</a:t>
            </a:r>
            <a:r>
              <a:rPr lang="ja-JP" altLang="en-US" dirty="0">
                <a:latin typeface="+mj-ea"/>
                <a:ea typeface="+mj-ea"/>
              </a:rPr>
              <a:t>　</a:t>
            </a:r>
            <a:r>
              <a:rPr lang="ja-JP" altLang="en-US" dirty="0"/>
              <a:t>ポーズ推定でお絵描き</a:t>
            </a:r>
          </a:p>
          <a:p>
            <a:pPr lvl="1"/>
            <a:r>
              <a:rPr kumimoji="1" lang="ja-JP" altLang="en-US" dirty="0"/>
              <a:t>画像アップロードしてポーズ推定するコードがある</a:t>
            </a:r>
          </a:p>
          <a:p>
            <a:pPr lvl="1"/>
            <a:r>
              <a:rPr lang="en-US" altLang="ja-JP" dirty="0"/>
              <a:t>Pillow(</a:t>
            </a:r>
            <a:r>
              <a:rPr lang="ja-JP" altLang="en-US" dirty="0"/>
              <a:t>講義でやったお絵描きライブラリ</a:t>
            </a:r>
            <a:r>
              <a:rPr lang="en-US" altLang="ja-JP" dirty="0"/>
              <a:t>)</a:t>
            </a:r>
            <a:r>
              <a:rPr lang="ja-JP" altLang="en-US" dirty="0"/>
              <a:t>を使って落書きしよう</a:t>
            </a:r>
          </a:p>
          <a:p>
            <a:pPr lvl="2"/>
            <a:r>
              <a:rPr kumimoji="1" lang="ja-JP" altLang="en-US" dirty="0"/>
              <a:t>右目と左目を黒い線で結んだら犯人写真の目隠し線みたいになる？</a:t>
            </a:r>
          </a:p>
          <a:p>
            <a:pPr lvl="2"/>
            <a:r>
              <a:rPr lang="ja-JP" altLang="en-US" dirty="0"/>
              <a:t>複数の人の手と手を赤い糸で結ぶ</a:t>
            </a:r>
          </a:p>
          <a:p>
            <a:pPr lvl="2"/>
            <a:r>
              <a:rPr kumimoji="1" lang="ja-JP" altLang="en-US" dirty="0"/>
              <a:t>サングラスをかける、帽子を被る・・・・</a:t>
            </a:r>
            <a:r>
              <a:rPr kumimoji="1" lang="en-US" altLang="ja-JP" dirty="0" err="1"/>
              <a:t>etc</a:t>
            </a:r>
            <a:endParaRPr kumimoji="1" lang="en-US" altLang="ja-JP" dirty="0"/>
          </a:p>
          <a:p>
            <a:r>
              <a:rPr kumimoji="1" lang="ja-JP" altLang="en-US" dirty="0"/>
              <a:t>提出物</a:t>
            </a:r>
          </a:p>
          <a:p>
            <a:pPr lvl="1"/>
            <a:r>
              <a:rPr kumimoji="1" lang="ja-JP" altLang="en-US" dirty="0"/>
              <a:t>ノート中のコードを使って画像の提出</a:t>
            </a:r>
            <a:r>
              <a:rPr kumimoji="1" lang="en-US" altLang="ja-JP" dirty="0"/>
              <a:t>(</a:t>
            </a:r>
            <a:r>
              <a:rPr kumimoji="1" lang="ja-JP" altLang="en-US" dirty="0"/>
              <a:t>こっちが重要</a:t>
            </a:r>
            <a:r>
              <a:rPr kumimoji="1" lang="en-US" altLang="ja-JP" dirty="0"/>
              <a:t>)</a:t>
            </a:r>
            <a:endParaRPr kumimoji="1" lang="ja-JP" altLang="en-US" dirty="0"/>
          </a:p>
          <a:p>
            <a:pPr lvl="1"/>
            <a:r>
              <a:rPr kumimoji="1" lang="ja-JP" altLang="en-US" dirty="0"/>
              <a:t>最後に一応</a:t>
            </a:r>
            <a:r>
              <a:rPr lang="en-US" altLang="ja-JP" dirty="0"/>
              <a:t>Classroom</a:t>
            </a:r>
            <a:r>
              <a:rPr lang="ja-JP" altLang="en-US" dirty="0"/>
              <a:t>上でもノートを提出してください</a:t>
            </a:r>
          </a:p>
          <a:p>
            <a:pPr lvl="2"/>
            <a:r>
              <a:rPr kumimoji="1" lang="ja-JP" altLang="en-US" dirty="0"/>
              <a:t>出席のメモ代わりにします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8666078-5E19-B70A-0003-B21ABBB30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Day8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0C99E1-8238-C7C1-F17B-9520CD506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2375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20445B-2D6D-0C3F-8CF9-454A512E4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0512572A-4C89-FD10-25DB-14EFD61DF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今日の予定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D6575E09-839C-EC0D-BBA0-C55BAE875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最初の</a:t>
            </a:r>
            <a:r>
              <a:rPr lang="en-US" altLang="ja-JP" dirty="0"/>
              <a:t>15</a:t>
            </a:r>
            <a:r>
              <a:rPr lang="ja-JP" altLang="en-US" dirty="0"/>
              <a:t>分～</a:t>
            </a:r>
            <a:r>
              <a:rPr lang="en-US" altLang="ja-JP" dirty="0"/>
              <a:t>30</a:t>
            </a:r>
            <a:r>
              <a:rPr lang="ja-JP" altLang="en-US" dirty="0"/>
              <a:t>分：画像認識の素材作り</a:t>
            </a:r>
          </a:p>
          <a:p>
            <a:pPr lvl="1"/>
            <a:r>
              <a:rPr lang="ja-JP" altLang="en-US" dirty="0"/>
              <a:t>キャンパス内で写真を撮ってきてください</a:t>
            </a:r>
          </a:p>
          <a:p>
            <a:pPr lvl="1"/>
            <a:r>
              <a:rPr lang="ja-JP" altLang="en-US" dirty="0"/>
              <a:t>物体認識できそうなものを移す</a:t>
            </a:r>
          </a:p>
          <a:p>
            <a:pPr lvl="1"/>
            <a:r>
              <a:rPr lang="ja-JP" altLang="en-US" dirty="0"/>
              <a:t>何らかのポーズをとった写真（一人、複数人）</a:t>
            </a:r>
          </a:p>
          <a:p>
            <a:r>
              <a:rPr lang="ja-JP" altLang="en-US" dirty="0"/>
              <a:t>物体認識</a:t>
            </a:r>
            <a:r>
              <a:rPr lang="en-US" altLang="ja-JP" dirty="0">
                <a:latin typeface="+mj-ea"/>
                <a:ea typeface="+mj-ea"/>
              </a:rPr>
              <a:t>[</a:t>
            </a:r>
            <a:r>
              <a:rPr lang="en-US" altLang="ja-JP" dirty="0">
                <a:solidFill>
                  <a:schemeClr val="accent1"/>
                </a:solidFill>
                <a:latin typeface="+mj-ea"/>
                <a:ea typeface="+mj-ea"/>
              </a:rPr>
              <a:t>27</a:t>
            </a:r>
            <a:r>
              <a:rPr lang="en-US" altLang="ja-JP" dirty="0">
                <a:latin typeface="+mj-ea"/>
                <a:ea typeface="+mj-ea"/>
              </a:rPr>
              <a:t>-day08tb]</a:t>
            </a:r>
            <a:r>
              <a:rPr lang="ja-JP" altLang="en-US" dirty="0"/>
              <a:t>できちんと認識するか試す</a:t>
            </a:r>
          </a:p>
          <a:p>
            <a:r>
              <a:rPr lang="ja-JP" altLang="en-US" dirty="0"/>
              <a:t>ポーズ推定</a:t>
            </a:r>
            <a:r>
              <a:rPr lang="en-US" altLang="ja-JP" dirty="0">
                <a:latin typeface="+mj-ea"/>
              </a:rPr>
              <a:t>[</a:t>
            </a:r>
            <a:r>
              <a:rPr lang="en-US" altLang="ja-JP" dirty="0">
                <a:solidFill>
                  <a:schemeClr val="accent1"/>
                </a:solidFill>
                <a:latin typeface="+mj-ea"/>
              </a:rPr>
              <a:t>28</a:t>
            </a:r>
            <a:r>
              <a:rPr lang="en-US" altLang="ja-JP" dirty="0">
                <a:latin typeface="+mj-ea"/>
              </a:rPr>
              <a:t>-day08kk]</a:t>
            </a:r>
            <a:r>
              <a:rPr lang="ja-JP" altLang="en-US" dirty="0">
                <a:latin typeface="+mj-ea"/>
              </a:rPr>
              <a:t>を使って画像にお絵描き</a:t>
            </a:r>
          </a:p>
          <a:p>
            <a:r>
              <a:rPr lang="ja-JP" altLang="en-US" dirty="0">
                <a:latin typeface="+mj-ea"/>
              </a:rPr>
              <a:t>提出＆披露</a:t>
            </a:r>
            <a:endParaRPr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E2CCDF-27FA-98D3-0945-9BD53426D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Day8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A03719-7F7F-AB4C-2B00-6A8933B86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lang="ja-JP" altLang="en-US" smtClean="0"/>
              <a:pPr/>
              <a:t>9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83563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1ACACB11-2637-2EAD-6375-C6567BDD8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Homework</a:t>
            </a:r>
            <a:endParaRPr lang="ja-JP" alt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DB7A490D-E625-8DBF-66AE-B1B7095A6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Day08</a:t>
            </a:r>
            <a:r>
              <a:rPr lang="ja-JP" altLang="en-US" dirty="0"/>
              <a:t>→</a:t>
            </a:r>
            <a:r>
              <a:rPr lang="en-US" altLang="ja-JP" dirty="0"/>
              <a:t>Day09</a:t>
            </a:r>
            <a:endParaRPr lang="ja-JP" altLang="en-US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58D229-46FC-433B-FA5B-4B8ACC13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Day8</a:t>
            </a:r>
            <a:endParaRPr kumimoji="1" lang="ja-JP" altLang="en-US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60993854-A861-7ED5-26C4-60455F5A6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968422-74D5-EB25-AB13-5C87B4FE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263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B9D854-164E-A00E-A631-31F0D0BC6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ED2CCED9-2F33-44C1-AAEB-D6C682462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93CA0A70-64B3-AA43-5B7E-CBA9FE0A8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F4254A-A588-429A-7829-055AA2E84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Day8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98AB56-0DEB-93CF-F1CE-EBB6697F5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lang="ja-JP" altLang="en-US" smtClean="0"/>
              <a:pPr/>
              <a:t>11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1641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情報論理学">
  <a:themeElements>
    <a:clrScheme name="津田塾大学情報科学">
      <a:dk1>
        <a:srgbClr val="353941"/>
      </a:dk1>
      <a:lt1>
        <a:srgbClr val="FFFFFF"/>
      </a:lt1>
      <a:dk2>
        <a:srgbClr val="263F41"/>
      </a:dk2>
      <a:lt2>
        <a:srgbClr val="E0E804"/>
      </a:lt2>
      <a:accent1>
        <a:srgbClr val="CE276C"/>
      </a:accent1>
      <a:accent2>
        <a:srgbClr val="D85514"/>
      </a:accent2>
      <a:accent3>
        <a:srgbClr val="95B00D"/>
      </a:accent3>
      <a:accent4>
        <a:srgbClr val="56B833"/>
      </a:accent4>
      <a:accent5>
        <a:srgbClr val="034AA1"/>
      </a:accent5>
      <a:accent6>
        <a:srgbClr val="510296"/>
      </a:accent6>
      <a:hlink>
        <a:srgbClr val="0563C1"/>
      </a:hlink>
      <a:folHlink>
        <a:srgbClr val="954F72"/>
      </a:folHlink>
    </a:clrScheme>
    <a:fontScheme name="都立大講義">
      <a:majorFont>
        <a:latin typeface="VDL Ｖ７ゴシック EB"/>
        <a:ea typeface="VDL Ｖ７ゴシック EB"/>
        <a:cs typeface=""/>
      </a:majorFont>
      <a:minorFont>
        <a:latin typeface="TBちび丸ゴシックPlusK Pro R"/>
        <a:ea typeface="TBちび丸ゴシックPlusK Pro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情報論理学" id="{9D04152A-154A-442E-A643-BF86048DE20D}" vid="{8058DE17-911C-49AC-A2EB-3BD0BB04877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1">
    <wetp:webextensionref xmlns:r="http://schemas.openxmlformats.org/officeDocument/2006/relationships" r:id="rId1"/>
  </wetp:taskpane>
  <wetp:taskpane dockstate="right" visibility="0" width="525" row="1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64C3975-57B6-47A0-85FF-E5F62F7E67C8}">
  <we:reference id="a19c72e1-6786-40f7-b977-f44d74d31275" version="2.1.0.0" store="EXCatalog" storeType="EXCatalog"/>
  <we:alternateReferences>
    <we:reference id="WA104379279" version="2.1.0.0" store="ja-JP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BBB6DD3-8407-4865-923C-51624D4BD5C4}">
  <we:reference id="2d5ec7a8-3235-439f-acf6-ad88ee2f7e85" version="1.0.0.0" store="EXCatalog" storeType="EXCatalog"/>
  <we:alternateReferences>
    <we:reference id="WA104006972" version="1.0.0.0" store="ja-JP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9570</TotalTime>
  <Words>659</Words>
  <Application>Microsoft Office PowerPoint</Application>
  <PresentationFormat>ワイド画面</PresentationFormat>
  <Paragraphs>138</Paragraphs>
  <Slides>11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7" baseType="lpstr">
      <vt:lpstr>TBちび丸ゴシックPlusK Pro R</vt:lpstr>
      <vt:lpstr>VDL Ｖ７ゴシック EB</vt:lpstr>
      <vt:lpstr>游ゴシック</vt:lpstr>
      <vt:lpstr>Arial</vt:lpstr>
      <vt:lpstr>Wingdings</vt:lpstr>
      <vt:lpstr>情報論理学</vt:lpstr>
      <vt:lpstr>情報 科学Ｃ</vt:lpstr>
      <vt:lpstr>2025年度 講義日程</vt:lpstr>
      <vt:lpstr>情報科学Ｃ</vt:lpstr>
      <vt:lpstr>最終課題：データサイエンス演習</vt:lpstr>
      <vt:lpstr>情報科学Ｃ</vt:lpstr>
      <vt:lpstr>物体認識とは</vt:lpstr>
      <vt:lpstr>本日の教材</vt:lpstr>
      <vt:lpstr>講義内課題</vt:lpstr>
      <vt:lpstr>今日の予定</vt:lpstr>
      <vt:lpstr>Homework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横山昌平</dc:creator>
  <cp:lastModifiedBy>横山　昌平</cp:lastModifiedBy>
  <cp:revision>138</cp:revision>
  <dcterms:created xsi:type="dcterms:W3CDTF">2020-04-20T04:18:00Z</dcterms:created>
  <dcterms:modified xsi:type="dcterms:W3CDTF">2025-06-04T06:21:41Z</dcterms:modified>
</cp:coreProperties>
</file>