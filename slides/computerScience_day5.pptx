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9" r:id="rId4"/>
    <p:sldId id="313" r:id="rId5"/>
    <p:sldId id="312" r:id="rId6"/>
    <p:sldId id="314" r:id="rId7"/>
    <p:sldId id="311" r:id="rId8"/>
    <p:sldId id="306" r:id="rId9"/>
    <p:sldId id="31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804"/>
    <a:srgbClr val="F4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8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04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43A7E-303A-4EAA-864C-611EED392E65}" type="datetimeFigureOut">
              <a:rPr kumimoji="1" lang="ja-JP" altLang="en-US" smtClean="0"/>
              <a:t>2025/5/14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39EA8-FF6E-487D-8017-26A51A4403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35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197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50D6-A680-315A-BE1D-BC9172A2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FEA44C-8C15-E719-49F6-1365B7233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08E053-7330-0B4C-2807-8C0B858E7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F3B921-5587-19BC-3E02-07109B72C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568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0B036A8-3716-4984-BEA1-BFA05709FBD0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グラフィックス 11" descr="月毎カレンダー">
            <a:extLst>
              <a:ext uri="{FF2B5EF4-FFF2-40B4-BE49-F238E27FC236}">
                <a16:creationId xmlns:a16="http://schemas.microsoft.com/office/drawing/2014/main" id="{16A5C23C-AC82-4AF1-ABCF-5DCF31229C8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3" name="グラフィックス 12" descr="時計">
            <a:extLst>
              <a:ext uri="{FF2B5EF4-FFF2-40B4-BE49-F238E27FC236}">
                <a16:creationId xmlns:a16="http://schemas.microsoft.com/office/drawing/2014/main" id="{B17CE49E-F1A4-4143-9EC2-B5F7EB71DDC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A7BEB9-F351-4CB4-AC09-6557D41A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B6A195E-2386-4B3E-8997-DB98D5D1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B90559-414D-440F-B60E-2E11609B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38EFE1-5047-4120-91D8-B38B928E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83690-B423-4AB6-B70A-42FDB82C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9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7BF5DC2-C09F-4ABA-8D58-1983792C8256}"/>
              </a:ext>
            </a:extLst>
          </p:cNvPr>
          <p:cNvSpPr/>
          <p:nvPr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3C4C8B1-2AF8-4AD4-9335-90DBF3E4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033B43-6246-4F8F-8EBC-97DFFE53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CDC6133-E775-4AC7-B0CB-06DA0590B50D}"/>
              </a:ext>
            </a:extLst>
          </p:cNvPr>
          <p:cNvCxnSpPr>
            <a:cxnSpLocks/>
          </p:cNvCxnSpPr>
          <p:nvPr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A11DAC5A-3295-4699-B780-85682452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4483" y="6380253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/>
              <a:t>Day5</a:t>
            </a:r>
            <a:endParaRPr lang="ja-JP" altLang="en-US" dirty="0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96B9B820-4BF8-4E49-AE82-B3E19219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811" y="6380253"/>
            <a:ext cx="10324672" cy="477747"/>
          </a:xfrm>
          <a:noFill/>
        </p:spPr>
        <p:txBody>
          <a:bodyPr vert="horz"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2971BC73-1BC4-492F-9655-EE928B53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378961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E2209A-34C2-442B-8860-AD934E3A55A7}"/>
              </a:ext>
            </a:extLst>
          </p:cNvPr>
          <p:cNvSpPr/>
          <p:nvPr userDrawn="1"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A23B75A-ECFC-445D-BF95-D1227263344A}"/>
              </a:ext>
            </a:extLst>
          </p:cNvPr>
          <p:cNvCxnSpPr>
            <a:cxnSpLocks/>
          </p:cNvCxnSpPr>
          <p:nvPr userDrawn="1"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3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ABC7CE-F688-4A8F-BAF4-FE8FF46C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91292F-7D3C-4B8B-8049-878DE3F8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E0AD08-B9D5-4686-AE1E-5008D7F45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42FC32-2173-41D7-A238-5C31D06F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3C2DE7-212B-49F8-8F87-F24BBC55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A0B284-F90B-4A8D-B496-EE9CCD66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24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BA9B40-5515-453E-A67A-F1B4D4E1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8302A9B-D2C1-4740-A595-87B27EA2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96EF2C-0AF8-4483-8381-18D47F489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D45F41-0A50-4141-B1FB-85C417B3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5319A25-B3C7-4A4C-9DBF-D8EEA0238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B0157E-EEB7-4D33-8037-E7E286F77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8037F7-7442-42BB-BB8C-C310F6EE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473174-C29E-4FF4-B05C-9F45D1DD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88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9323D3-D052-407A-AE0F-D8C2F688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9D8392C-15E6-4570-AB43-D6B5BF72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9DEACB-116C-4736-97EF-3B57F3E2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4D71C1-D913-4D0E-82AD-25C6F594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29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94BA8F-8DBE-475F-87FE-8ACFAF52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BFF62E-96EE-4231-B1C9-D6576271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5E5E13-27C9-46C8-9CFD-7A34CEE8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2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440D56-CEEA-4384-A1F8-D367844F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E818FD-EA9B-4E48-99A9-10D41BF27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5E8A80-BFAB-4C55-BB0E-3B1D036B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BB79B4-7E3C-49BA-9702-8601BF27D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25AD8E-F37B-488E-8604-699084B3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955EC4-1391-42FE-9B3D-F421AD42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9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5C4C1-2FE9-4245-91D9-0138ABDB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81DB02F-0ACD-4339-A75B-8603B0E0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05EE95-5C39-4306-BCE1-DEC15EF1B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79E88F-F032-4489-B1F6-D566D7067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384769-9FFF-4ABB-A0C9-9BB2275A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9AC5CA-ADF8-4B9A-A407-0A3FC6B5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17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E9B60-6531-4AE1-87CF-F0CE6851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ABC920-F3A4-4B0A-8A1D-8D79027E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B12F9F-2130-47A7-A03E-1928F4E4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3A3FBC-7F96-4247-B1F2-82C0093C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5CFDA1-7F5E-4F67-9B7F-AC642ECD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18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ED7633-53D5-4CD9-B1F6-6F6F676E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20FCA0-11BB-42EE-BB70-BEC254BB0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2533B9-976C-4790-A744-E491A4D80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344A12-C401-4D53-85D8-3F870823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00D075-5891-480B-83A9-24F20CD1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9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204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4DF46-83CA-4961-801C-3A24B88A3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tx2"/>
          </a:solidFill>
        </p:spPr>
        <p:txBody>
          <a:bodyPr vert="eaVert" lIns="91440" tIns="45720" rIns="91440" bIns="45720" rtlCol="0" anchor="ctr" anchorCtr="1"/>
          <a:lstStyle>
            <a:lvl1pPr algn="ctr">
              <a:defRPr sz="48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023398-9735-40FB-A1FF-7FF9FE1B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270" y="365125"/>
            <a:ext cx="99985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2B6D4-B4E5-4551-8273-E9016348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5270" y="1825625"/>
            <a:ext cx="99985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5E206F-13E2-416D-8551-770892109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811838"/>
            <a:ext cx="838200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 anchorCtr="1"/>
          <a:lstStyle>
            <a:lvl1pPr algn="l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ja-JP"/>
              <a:t>Day5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7E8EED-E703-4D93-9948-8F9A5AACE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6963"/>
            <a:ext cx="838200" cy="681037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r">
              <a:defRPr sz="20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838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DFE74A-92E8-4E4E-AF1C-A28EB01DD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情報</a:t>
            </a:r>
            <a:br>
              <a:rPr kumimoji="1" lang="ja-JP" altLang="en-US" dirty="0"/>
            </a:br>
            <a:r>
              <a:rPr kumimoji="1" lang="ja-JP" altLang="en-US" dirty="0"/>
              <a:t>科学Ｃ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FF62C0-83E8-4BAB-B39E-0A7A68E39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300" dirty="0"/>
              <a:t>横山昌平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E7356E-CCD3-482D-B0A7-45E57E7C8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ja-JP" sz="1550" dirty="0"/>
              <a:t>Computer Science C</a:t>
            </a:r>
            <a:endParaRPr kumimoji="1" lang="ja-JP" altLang="en-US" sz="155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EFD8162-4AA4-485E-A91A-6B1886208A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ts val="1600"/>
              </a:lnSpc>
            </a:pPr>
            <a:r>
              <a:rPr kumimoji="1" lang="en-US" altLang="ja-JP" dirty="0"/>
              <a:t>LG080A01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B8957ED-CA55-49F7-84D2-0D8EE491D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第１ターム</a:t>
            </a:r>
            <a:r>
              <a:rPr kumimoji="1" lang="ja-JP" altLang="en-US" dirty="0"/>
              <a:t>・水曜日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0E9AF57-5F2F-46AF-BC5E-4847C5465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kumimoji="1" lang="ja-JP" altLang="en-US" dirty="0"/>
              <a:t>五時限目</a:t>
            </a:r>
          </a:p>
        </p:txBody>
      </p:sp>
    </p:spTree>
    <p:extLst>
      <p:ext uri="{BB962C8B-B14F-4D97-AF65-F5344CB8AC3E}">
        <p14:creationId xmlns:p14="http://schemas.microsoft.com/office/powerpoint/2010/main" val="261439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28875D5-3151-4F32-B162-8E5885CC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DDAA8EA-7FBB-4F2E-91EB-63E6329C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 dirty="0"/>
              <a:t>年度 講義日程</a:t>
            </a:r>
            <a:endParaRPr kumimoji="1" lang="ja-JP" altLang="en-US" dirty="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B9D9CDA9-57A4-4499-80A3-E4FDBFD7F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772027"/>
              </p:ext>
            </p:extLst>
          </p:nvPr>
        </p:nvGraphicFramePr>
        <p:xfrm>
          <a:off x="1047699" y="1690688"/>
          <a:ext cx="10306101" cy="37084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781655">
                  <a:extLst>
                    <a:ext uri="{9D8B030D-6E8A-4147-A177-3AD203B41FA5}">
                      <a16:colId xmlns:a16="http://schemas.microsoft.com/office/drawing/2014/main" val="2758299451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308317790"/>
                    </a:ext>
                  </a:extLst>
                </a:gridCol>
                <a:gridCol w="4274025">
                  <a:extLst>
                    <a:ext uri="{9D8B030D-6E8A-4147-A177-3AD203B41FA5}">
                      <a16:colId xmlns:a16="http://schemas.microsoft.com/office/drawing/2014/main" val="348952505"/>
                    </a:ext>
                  </a:extLst>
                </a:gridCol>
                <a:gridCol w="4525771">
                  <a:extLst>
                    <a:ext uri="{9D8B030D-6E8A-4147-A177-3AD203B41FA5}">
                      <a16:colId xmlns:a16="http://schemas.microsoft.com/office/drawing/2014/main" val="247848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#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日時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講義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演習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宿題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予習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9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4/16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ガイダンス＆</a:t>
                      </a:r>
                      <a:r>
                        <a:rPr kumimoji="1" lang="en-US" altLang="ja-JP" sz="1600" dirty="0"/>
                        <a:t>Google </a:t>
                      </a:r>
                      <a:r>
                        <a:rPr kumimoji="1" lang="en-US" altLang="ja-JP" sz="1600" dirty="0" err="1"/>
                        <a:t>Colab</a:t>
                      </a:r>
                      <a:r>
                        <a:rPr kumimoji="1" lang="ja-JP" altLang="en-US" sz="1600" dirty="0"/>
                        <a:t>に触ってみる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リテラル／データ構造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0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4/23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複雑なデータ構造作成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演算子／制御構文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87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4/30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辞書型データの検索・ソート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関数／ラムダ式／オブジェクト指向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2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5/07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dirty="0"/>
                        <a:t>継承と差分プログラミング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数値処理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2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5/14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前回成果のお披露目会と可視化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ノック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・・・・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60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数値処理と可視化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機械学習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3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機械学習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ディープラーニング</a:t>
                      </a:r>
                      <a:endParaRPr kumimoji="1" lang="en-US" altLang="ja-JP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5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6/04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ディープラーニング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en-US" altLang="ja-JP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770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6/18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最終レポート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期限</a:t>
                      </a:r>
                      <a:r>
                        <a:rPr kumimoji="1" lang="en-US" altLang="ja-JP" sz="1600" dirty="0"/>
                        <a:t>6</a:t>
                      </a:r>
                      <a:r>
                        <a:rPr kumimoji="1" lang="ja-JP" altLang="en-US" sz="1600" dirty="0"/>
                        <a:t>月末</a:t>
                      </a:r>
                      <a:r>
                        <a:rPr kumimoji="1" lang="en-US" altLang="ja-JP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971788"/>
                  </a:ext>
                </a:extLst>
              </a:tr>
            </a:tbl>
          </a:graphicData>
        </a:graphic>
      </p:graphicFrame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8C59E9-E7E3-48FF-903C-F87318E4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2205E-8A53-4437-90B8-E8B58C21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9953FC1-7C30-4DA7-BCEC-C1E2ECA25E08}"/>
              </a:ext>
            </a:extLst>
          </p:cNvPr>
          <p:cNvSpPr txBox="1"/>
          <p:nvPr/>
        </p:nvSpPr>
        <p:spPr>
          <a:xfrm>
            <a:off x="1047699" y="5661878"/>
            <a:ext cx="10781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内容は進捗に応じて適宜変更する。</a:t>
            </a:r>
            <a:endParaRPr lang="en-US" altLang="ja-JP" sz="2400" dirty="0"/>
          </a:p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本講義は演習を織り交ぜて行うので</a:t>
            </a:r>
            <a:r>
              <a:rPr lang="en-US" altLang="ja-JP" sz="2400" dirty="0"/>
              <a:t>PC</a:t>
            </a:r>
            <a:r>
              <a:rPr lang="ja-JP" altLang="en-US" sz="2400" dirty="0"/>
              <a:t>を持ってくること。</a:t>
            </a:r>
          </a:p>
        </p:txBody>
      </p:sp>
    </p:spTree>
    <p:extLst>
      <p:ext uri="{BB962C8B-B14F-4D97-AF65-F5344CB8AC3E}">
        <p14:creationId xmlns:p14="http://schemas.microsoft.com/office/powerpoint/2010/main" val="217422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2400" dirty="0"/>
              <a:t>Day04</a:t>
            </a:r>
            <a:r>
              <a:rPr kumimoji="1" lang="ja-JP" altLang="en-US" sz="2400" dirty="0"/>
              <a:t>→</a:t>
            </a:r>
            <a:r>
              <a:rPr kumimoji="1" lang="en-US" altLang="ja-JP" sz="2400" dirty="0"/>
              <a:t>Day05 Homework</a:t>
            </a:r>
            <a:r>
              <a:rPr kumimoji="1" lang="ja-JP" altLang="en-US" sz="2400" dirty="0"/>
              <a:t>振り返り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617532-72A8-4D77-B75C-DB0447AE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Day5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83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BAFCEC-8A6E-AA99-A7DD-8CE3C747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情報科学ｃ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8819AB71-0721-4414-265D-70A1C519A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予習テキストで学んだ事と本日の課題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02A59D4F-CCF2-27D9-CEF2-CD414083A3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NumPy</a:t>
            </a:r>
          </a:p>
          <a:p>
            <a:endParaRPr lang="ja-JP" altLang="en-US" b="0" i="0" dirty="0">
              <a:effectLst/>
              <a:latin typeface="system-ui"/>
            </a:endParaRP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F1EF0F1-51EC-3148-5BB4-A9555422C2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Pandas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0906CB-64DC-B653-3209-0F53F1D5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Day5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8E9A5A-087C-397D-9D0C-6A1F49A8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F80EE86-B3EA-CE77-D969-E24F8301163C}"/>
              </a:ext>
            </a:extLst>
          </p:cNvPr>
          <p:cNvSpPr/>
          <p:nvPr/>
        </p:nvSpPr>
        <p:spPr>
          <a:xfrm>
            <a:off x="1242951" y="2382982"/>
            <a:ext cx="4381994" cy="16665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ja-JP" altLang="en-US" dirty="0"/>
              <a:t>数値計算、特に行列計算のためのライブラリで、</a:t>
            </a:r>
            <a:r>
              <a:rPr lang="en-US" altLang="ja-JP" dirty="0"/>
              <a:t>Python</a:t>
            </a:r>
            <a:r>
              <a:rPr lang="ja-JP" altLang="en-US" dirty="0"/>
              <a:t>のデフォルトの機能と比べて、配列などの値の処理が格段にやりやすくなるライブラリ。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8B06063-D261-E94E-8E78-FB1C72689AFC}"/>
              </a:ext>
            </a:extLst>
          </p:cNvPr>
          <p:cNvSpPr/>
          <p:nvPr/>
        </p:nvSpPr>
        <p:spPr>
          <a:xfrm>
            <a:off x="6444344" y="2382982"/>
            <a:ext cx="4381994" cy="166650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ja-JP" altLang="en-US" dirty="0"/>
              <a:t>単なる数値データ</a:t>
            </a:r>
            <a:r>
              <a:rPr kumimoji="1" lang="en-US" altLang="ja-JP" dirty="0"/>
              <a:t>(</a:t>
            </a:r>
            <a:r>
              <a:rPr kumimoji="1" lang="ja-JP" altLang="en-US" dirty="0"/>
              <a:t>配列・行列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を超えて、エクセルや関係データベースで管理するような複雑なデータの保持と処理を得意とするライブラリ。</a:t>
            </a:r>
          </a:p>
        </p:txBody>
      </p:sp>
      <p:sp>
        <p:nvSpPr>
          <p:cNvPr id="11" name="コンテンツ プレースホルダー 7">
            <a:extLst>
              <a:ext uri="{FF2B5EF4-FFF2-40B4-BE49-F238E27FC236}">
                <a16:creationId xmlns:a16="http://schemas.microsoft.com/office/drawing/2014/main" id="{9C9A734A-0E7F-8830-B27F-148363B16440}"/>
              </a:ext>
            </a:extLst>
          </p:cNvPr>
          <p:cNvSpPr txBox="1">
            <a:spLocks/>
          </p:cNvSpPr>
          <p:nvPr/>
        </p:nvSpPr>
        <p:spPr>
          <a:xfrm>
            <a:off x="5160818" y="450906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Matplotlib</a:t>
            </a:r>
          </a:p>
          <a:p>
            <a:endParaRPr lang="ja-JP" altLang="en-US" dirty="0">
              <a:latin typeface="system-ui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D2E653B-323D-5FA2-276A-6C68E3D7B2D1}"/>
              </a:ext>
            </a:extLst>
          </p:cNvPr>
          <p:cNvSpPr/>
          <p:nvPr/>
        </p:nvSpPr>
        <p:spPr>
          <a:xfrm>
            <a:off x="3981203" y="5066425"/>
            <a:ext cx="4381994" cy="166650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dirty="0"/>
              <a:t>NumPy</a:t>
            </a:r>
            <a:r>
              <a:rPr kumimoji="1" lang="ja-JP" altLang="en-US" dirty="0"/>
              <a:t>ゃ</a:t>
            </a:r>
            <a:r>
              <a:rPr kumimoji="1" lang="en-US" altLang="ja-JP" dirty="0"/>
              <a:t>Pandas(</a:t>
            </a:r>
            <a:r>
              <a:rPr kumimoji="1" lang="en-US" altLang="ja-JP" dirty="0" err="1"/>
              <a:t>DataFrame</a:t>
            </a:r>
            <a:r>
              <a:rPr kumimoji="1" lang="en-US" altLang="ja-JP" dirty="0"/>
              <a:t>)</a:t>
            </a:r>
            <a:r>
              <a:rPr kumimoji="1" lang="ja-JP" altLang="en-US" dirty="0"/>
              <a:t>で表現されたデータをグラフとして可視化するためのライブラリ。おおよそ私達が考えつく様々なグラフ形式に対応。</a:t>
            </a:r>
          </a:p>
        </p:txBody>
      </p:sp>
      <p:sp>
        <p:nvSpPr>
          <p:cNvPr id="13" name="矢印: 下 12">
            <a:extLst>
              <a:ext uri="{FF2B5EF4-FFF2-40B4-BE49-F238E27FC236}">
                <a16:creationId xmlns:a16="http://schemas.microsoft.com/office/drawing/2014/main" id="{A5EA5EEA-38DA-0EE7-089F-EBD40D992157}"/>
              </a:ext>
            </a:extLst>
          </p:cNvPr>
          <p:cNvSpPr/>
          <p:nvPr/>
        </p:nvSpPr>
        <p:spPr>
          <a:xfrm>
            <a:off x="5622966" y="4230111"/>
            <a:ext cx="946068" cy="310553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17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B88A-756A-8C27-B32F-01E68351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18B763-0475-78FE-A8A2-84DB99AF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1643E4A-F817-C4F4-6376-C1A7E11C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第５回　</a:t>
            </a:r>
            <a:r>
              <a:rPr kumimoji="1" lang="ja-JP" altLang="en-US" sz="2400" dirty="0"/>
              <a:t>可視化</a:t>
            </a:r>
            <a:r>
              <a:rPr kumimoji="1" lang="en-US" altLang="ja-JP" sz="2400" dirty="0"/>
              <a:t>(16</a:t>
            </a:r>
            <a:r>
              <a:rPr kumimoji="1" lang="ja-JP" altLang="en-US" sz="2400" dirty="0"/>
              <a:t>本ノック</a:t>
            </a:r>
            <a:r>
              <a:rPr kumimoji="1" lang="en-US" altLang="ja-JP" sz="2400" dirty="0"/>
              <a:t>)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F7172A-BF2F-971C-4C78-E6AF4519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3C0C92-E4BC-74D9-F085-3343F454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7D10DA-4F17-19BF-669E-FFACEE0C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Day5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066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886D1-E4AA-933F-A8BC-2E3D3A7F3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6329AF7C-0C77-1E28-D623-E6BC3985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本日の内容に入る前に・・・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40A4A42C-5FC3-9B60-CBA2-558A655A4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似顔絵の振り返りをしましょう。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CEF451-3839-F987-5BB8-CCC15EFF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Day5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999C95-B9DC-6968-0B45-10E8ED24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9333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3DF0-2AD1-7696-259C-7B8580FC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7FAFD9B-4C0B-9EF1-5FFA-1FF6B189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1611AAF-3D0D-8B64-C9FF-CB319AFE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800" dirty="0"/>
              <a:t>[</a:t>
            </a:r>
            <a:r>
              <a:rPr kumimoji="1" lang="en-US" altLang="ja-JP" sz="2800" dirty="0">
                <a:solidFill>
                  <a:schemeClr val="accent1"/>
                </a:solidFill>
              </a:rPr>
              <a:t>18</a:t>
            </a:r>
            <a:r>
              <a:rPr kumimoji="1" lang="en-US" altLang="ja-JP" sz="2800" dirty="0"/>
              <a:t>-day05kk] </a:t>
            </a:r>
            <a:br>
              <a:rPr kumimoji="1" lang="ja-JP" altLang="en-US" dirty="0"/>
            </a:br>
            <a:r>
              <a:rPr kumimoji="1" lang="en-US" altLang="ja-JP" dirty="0"/>
              <a:t>Matplotlib 16</a:t>
            </a:r>
            <a:r>
              <a:rPr kumimoji="1" lang="ja-JP" altLang="en-US" dirty="0"/>
              <a:t>本ノック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A2E979-0E7F-5B1C-1282-C07F86B7E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お題</a:t>
            </a:r>
          </a:p>
          <a:p>
            <a:pPr lvl="1"/>
            <a:r>
              <a:rPr kumimoji="1" lang="ja-JP" altLang="en-US" dirty="0"/>
              <a:t>講義課題として提出してもらいますが解答付き</a:t>
            </a:r>
            <a:r>
              <a:rPr kumimoji="1" lang="en-US" altLang="ja-JP" dirty="0"/>
              <a:t>N</a:t>
            </a:r>
            <a:r>
              <a:rPr kumimoji="1" lang="ja-JP" altLang="en-US" dirty="0"/>
              <a:t>本ノックです</a:t>
            </a:r>
          </a:p>
          <a:p>
            <a:pPr lvl="1"/>
            <a:r>
              <a:rPr lang="ja-JP" altLang="en-US" dirty="0"/>
              <a:t>順に解説しながら進めます</a:t>
            </a:r>
          </a:p>
          <a:p>
            <a:pPr lvl="1"/>
            <a:r>
              <a:rPr kumimoji="1" lang="ja-JP" altLang="en-US" dirty="0"/>
              <a:t>ソースコードを改変したりして理解を深めてください</a:t>
            </a:r>
          </a:p>
          <a:p>
            <a:pPr lvl="1"/>
            <a:r>
              <a:rPr kumimoji="1" lang="ja-JP" altLang="en-US" dirty="0"/>
              <a:t>ノート最下部に自由課題コーナーがあるので、コードを改変して面白いものができたら、そこに追記してください。</a:t>
            </a:r>
          </a:p>
          <a:p>
            <a:r>
              <a:rPr lang="ja-JP" altLang="en-US" dirty="0"/>
              <a:t>発表：前へ出ての発表は無し</a:t>
            </a:r>
            <a:endParaRPr lang="en-US" altLang="ja-JP" dirty="0"/>
          </a:p>
          <a:p>
            <a:pPr lvl="1"/>
            <a:r>
              <a:rPr lang="ja-JP" altLang="en-US" dirty="0"/>
              <a:t>時間的に許せば、皆さんの作ったグラフを画像提出。</a:t>
            </a:r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6EC982-1A89-389F-C924-7ED8328A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1DE181-3A7C-2141-F754-2D466590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69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1ACACB11-2637-2EAD-6375-C6567BDD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Homework</a:t>
            </a:r>
            <a:endParaRPr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B7A490D-E625-8DBF-66AE-B1B7095A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Day05</a:t>
            </a:r>
            <a:r>
              <a:rPr lang="ja-JP" altLang="en-US" dirty="0"/>
              <a:t>→</a:t>
            </a:r>
            <a:r>
              <a:rPr lang="en-US" altLang="ja-JP" dirty="0"/>
              <a:t>Day06</a:t>
            </a:r>
            <a:endParaRPr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58D229-46FC-433B-FA5B-4B8ACC13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Day5</a:t>
            </a:r>
            <a:endParaRPr kumimoji="1" lang="ja-JP" altLang="en-US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0993854-A861-7ED5-26C4-60455F5A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968422-74D5-EB25-AB13-5C87B4FE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F363E8-B8D3-6423-61BF-3C656B6B09BD}"/>
              </a:ext>
            </a:extLst>
          </p:cNvPr>
          <p:cNvSpPr txBox="1"/>
          <p:nvPr/>
        </p:nvSpPr>
        <p:spPr>
          <a:xfrm>
            <a:off x="6941975" y="2614144"/>
            <a:ext cx="596226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9900" dirty="0"/>
              <a:t>なし</a:t>
            </a:r>
            <a:endParaRPr kumimoji="1" lang="ja-JP" altLang="en-US" sz="199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E90F35-E408-B2FC-BB16-8522AFBEF49C}"/>
              </a:ext>
            </a:extLst>
          </p:cNvPr>
          <p:cNvSpPr txBox="1"/>
          <p:nvPr/>
        </p:nvSpPr>
        <p:spPr>
          <a:xfrm>
            <a:off x="7507705" y="5506453"/>
            <a:ext cx="4499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3600" dirty="0"/>
              <a:t>ですが・・・・</a:t>
            </a:r>
          </a:p>
        </p:txBody>
      </p:sp>
    </p:spTree>
    <p:extLst>
      <p:ext uri="{BB962C8B-B14F-4D97-AF65-F5344CB8AC3E}">
        <p14:creationId xmlns:p14="http://schemas.microsoft.com/office/powerpoint/2010/main" val="90263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9D4DA3-B08B-1F83-1C43-C8714162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EAA3361-FF3A-3FA4-9483-B889A3DC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来週までに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0924782C-4763-16A6-B987-B784E344F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来週：講義内で</a:t>
            </a:r>
            <a:r>
              <a:rPr lang="en-US" altLang="ja-JP" dirty="0"/>
              <a:t>NumPy</a:t>
            </a:r>
            <a:r>
              <a:rPr lang="ja-JP" altLang="en-US" dirty="0"/>
              <a:t>、</a:t>
            </a:r>
            <a:r>
              <a:rPr lang="en-US" altLang="ja-JP" dirty="0"/>
              <a:t>Pandas</a:t>
            </a:r>
            <a:r>
              <a:rPr lang="ja-JP" altLang="en-US" dirty="0"/>
              <a:t>、</a:t>
            </a:r>
            <a:r>
              <a:rPr lang="en-US" altLang="ja-JP" dirty="0"/>
              <a:t>matplotlib</a:t>
            </a:r>
            <a:r>
              <a:rPr lang="ja-JP" altLang="en-US" dirty="0"/>
              <a:t>を使った演習</a:t>
            </a:r>
          </a:p>
          <a:p>
            <a:pPr lvl="1"/>
            <a:r>
              <a:rPr lang="ja-JP" altLang="en-US" dirty="0"/>
              <a:t>その題材になりそうなデータを探しておいてください。</a:t>
            </a:r>
          </a:p>
          <a:p>
            <a:pPr lvl="2"/>
            <a:r>
              <a:rPr lang="en-US" altLang="ja-JP" dirty="0"/>
              <a:t>E-stat: </a:t>
            </a:r>
            <a:r>
              <a:rPr lang="ja-JP" altLang="en-US" dirty="0"/>
              <a:t>政府統計</a:t>
            </a:r>
          </a:p>
          <a:p>
            <a:pPr lvl="2"/>
            <a:r>
              <a:rPr lang="en-US" altLang="ja-JP" dirty="0"/>
              <a:t>E-gov</a:t>
            </a:r>
            <a:r>
              <a:rPr lang="ja-JP" altLang="en-US" dirty="0"/>
              <a:t> データポータル</a:t>
            </a:r>
          </a:p>
          <a:p>
            <a:pPr lvl="2"/>
            <a:r>
              <a:rPr lang="ja-JP" altLang="en-US" dirty="0"/>
              <a:t>東京都オープンデータカタログ</a:t>
            </a:r>
          </a:p>
          <a:p>
            <a:pPr lvl="3"/>
            <a:r>
              <a:rPr lang="ja-JP" altLang="en-US" dirty="0"/>
              <a:t>他の地方自治体も積極的にデータをオープンにしています。</a:t>
            </a:r>
          </a:p>
          <a:p>
            <a:pPr lvl="2"/>
            <a:r>
              <a:rPr lang="ja-JP" altLang="en-US" dirty="0"/>
              <a:t>「オープンデータ　</a:t>
            </a:r>
            <a:r>
              <a:rPr lang="en-US" altLang="ja-JP" dirty="0"/>
              <a:t>pandas</a:t>
            </a:r>
            <a:r>
              <a:rPr lang="ja-JP" altLang="en-US" dirty="0"/>
              <a:t>」でググると色々とアイデアが出てきます</a:t>
            </a:r>
          </a:p>
          <a:p>
            <a:r>
              <a:rPr lang="ja-JP" altLang="en-US"/>
              <a:t>提出物はありませんが、ネタ探しはしておいてください。</a:t>
            </a:r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1ADF60-2B12-25F8-BD9F-CA41E68C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Day5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CEF3A9-963C-4EEA-A2D0-ECC9ECEC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7087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情報論理学">
  <a:themeElements>
    <a:clrScheme name="津田塾大学情報科学">
      <a:dk1>
        <a:srgbClr val="353941"/>
      </a:dk1>
      <a:lt1>
        <a:srgbClr val="FFFFFF"/>
      </a:lt1>
      <a:dk2>
        <a:srgbClr val="263F41"/>
      </a:dk2>
      <a:lt2>
        <a:srgbClr val="E0E804"/>
      </a:lt2>
      <a:accent1>
        <a:srgbClr val="CE276C"/>
      </a:accent1>
      <a:accent2>
        <a:srgbClr val="D85514"/>
      </a:accent2>
      <a:accent3>
        <a:srgbClr val="95B00D"/>
      </a:accent3>
      <a:accent4>
        <a:srgbClr val="56B833"/>
      </a:accent4>
      <a:accent5>
        <a:srgbClr val="034AA1"/>
      </a:accent5>
      <a:accent6>
        <a:srgbClr val="510296"/>
      </a:accent6>
      <a:hlink>
        <a:srgbClr val="0563C1"/>
      </a:hlink>
      <a:folHlink>
        <a:srgbClr val="954F72"/>
      </a:folHlink>
    </a:clrScheme>
    <a:fontScheme name="都立大講義">
      <a:majorFont>
        <a:latin typeface="VDL Ｖ７ゴシック EB"/>
        <a:ea typeface="VDL Ｖ７ゴシック EB"/>
        <a:cs typeface=""/>
      </a:majorFont>
      <a:minorFont>
        <a:latin typeface="TBちび丸ゴシックPlusK Pro R"/>
        <a:ea typeface="TBちび丸ゴシックPlusK Pro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情報論理学" id="{9D04152A-154A-442E-A643-BF86048DE20D}" vid="{8058DE17-911C-49AC-A2EB-3BD0BB04877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1">
    <wetp:webextensionref xmlns:r="http://schemas.openxmlformats.org/officeDocument/2006/relationships" r:id="rId1"/>
  </wetp:taskpane>
  <wetp:taskpane dockstate="right" visibility="0" width="525" row="1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64C3975-57B6-47A0-85FF-E5F62F7E67C8}">
  <we:reference id="a19c72e1-6786-40f7-b977-f44d74d31275" version="2.1.0.0" store="EXCatalog" storeType="EXCatalog"/>
  <we:alternateReferences>
    <we:reference id="WA104379279" version="2.1.0.0" store="ja-JP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BB6DD3-8407-4865-923C-51624D4BD5C4}">
  <we:reference id="2d5ec7a8-3235-439f-acf6-ad88ee2f7e85" version="1.0.0.0" store="EXCatalog" storeType="EXCatalog"/>
  <we:alternateReferences>
    <we:reference id="WA104006972" version="1.0.0.0" store="ja-JP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9206</TotalTime>
  <Words>518</Words>
  <Application>Microsoft Office PowerPoint</Application>
  <PresentationFormat>ワイド画面</PresentationFormat>
  <Paragraphs>109</Paragraphs>
  <Slides>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system-ui</vt:lpstr>
      <vt:lpstr>TBちび丸ゴシックPlusK Pro R</vt:lpstr>
      <vt:lpstr>VDL Ｖ７ゴシック EB</vt:lpstr>
      <vt:lpstr>游ゴシック</vt:lpstr>
      <vt:lpstr>Arial</vt:lpstr>
      <vt:lpstr>情報論理学</vt:lpstr>
      <vt:lpstr>情報 科学Ｃ</vt:lpstr>
      <vt:lpstr>2025年度 講義日程</vt:lpstr>
      <vt:lpstr>情報科学Ｃ</vt:lpstr>
      <vt:lpstr>予習テキストで学んだ事と本日の課題</vt:lpstr>
      <vt:lpstr>情報科学Ｃ</vt:lpstr>
      <vt:lpstr>本日の内容に入る前に・・・</vt:lpstr>
      <vt:lpstr>[18-day05kk]  Matplotlib 16本ノック</vt:lpstr>
      <vt:lpstr>Homework</vt:lpstr>
      <vt:lpstr>来週までに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横山昌平</dc:creator>
  <cp:lastModifiedBy>横山昌平</cp:lastModifiedBy>
  <cp:revision>121</cp:revision>
  <dcterms:created xsi:type="dcterms:W3CDTF">2020-04-20T04:18:00Z</dcterms:created>
  <dcterms:modified xsi:type="dcterms:W3CDTF">2025-05-14T05:11:42Z</dcterms:modified>
</cp:coreProperties>
</file>